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0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04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5.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21.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jpe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0.jpe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3.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Roshanisingh01/PRODIGY_WD_02" TargetMode="External"/><Relationship Id="rId3" Type="http://schemas.openxmlformats.org/officeDocument/2006/relationships/image" Target="../media/image24.png"/><Relationship Id="rId7" Type="http://schemas.openxmlformats.org/officeDocument/2006/relationships/hyperlink" Target="https://github.com/Roshanisingh01/PRODIGY_WD_01"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hyperlink" Target="https://github.com/Roshanisingh01/PRODIGY_WD_5" TargetMode="External"/><Relationship Id="rId5" Type="http://schemas.openxmlformats.org/officeDocument/2006/relationships/image" Target="../media/image20.png"/><Relationship Id="rId10" Type="http://schemas.openxmlformats.org/officeDocument/2006/relationships/hyperlink" Target="https://github.com/Roshanisingh01/PRODIGY-WD-4" TargetMode="External"/><Relationship Id="rId4" Type="http://schemas.openxmlformats.org/officeDocument/2006/relationships/image" Target="../media/image19.png"/><Relationship Id="rId9" Type="http://schemas.openxmlformats.org/officeDocument/2006/relationships/hyperlink" Target="https://github.com/Roshanisingh01/PRODIGY_WD_03"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6.png"/><Relationship Id="rId12"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14.png"/><Relationship Id="rId1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A45"/>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F3A5F">
              <a:alpha val="60000"/>
            </a:srgbClr>
          </a:solidFill>
          <a:ln/>
        </p:spPr>
      </p:sp>
      <p:sp>
        <p:nvSpPr>
          <p:cNvPr id="3" name="Shape 1"/>
          <p:cNvSpPr/>
          <p:nvPr/>
        </p:nvSpPr>
        <p:spPr>
          <a:xfrm>
            <a:off x="-2286000" y="4389120"/>
            <a:ext cx="4572000" cy="4572000"/>
          </a:xfrm>
          <a:prstGeom prst="ellipse">
            <a:avLst/>
          </a:prstGeom>
          <a:solidFill>
            <a:srgbClr val="8B1E3F">
              <a:alpha val="22000"/>
            </a:srgbClr>
          </a:solidFill>
          <a:ln/>
        </p:spPr>
      </p:sp>
      <p:pic>
        <p:nvPicPr>
          <p:cNvPr id="4" name="Image 0" descr="/home/claude/pptx_build/logo.png"/>
          <p:cNvPicPr>
            <a:picLocks noChangeAspect="1"/>
          </p:cNvPicPr>
          <p:nvPr/>
        </p:nvPicPr>
        <p:blipFill>
          <a:blip r:embed="rId3"/>
          <a:stretch>
            <a:fillRect/>
          </a:stretch>
        </p:blipFill>
        <p:spPr>
          <a:xfrm>
            <a:off x="5592928" y="502920"/>
            <a:ext cx="1005840" cy="969264"/>
          </a:xfrm>
          <a:prstGeom prst="rect">
            <a:avLst/>
          </a:prstGeom>
        </p:spPr>
      </p:pic>
      <p:sp>
        <p:nvSpPr>
          <p:cNvPr id="5" name="Text 2"/>
          <p:cNvSpPr txBox="1"/>
          <p:nvPr/>
        </p:nvSpPr>
        <p:spPr>
          <a:xfrm>
            <a:off x="0" y="1691640"/>
            <a:ext cx="12191695" cy="365760"/>
          </a:xfrm>
          <a:prstGeom prst="rect">
            <a:avLst/>
          </a:prstGeom>
          <a:noFill/>
          <a:ln/>
        </p:spPr>
        <p:txBody>
          <a:bodyPr wrap="square" lIns="0" tIns="0" rIns="0" bIns="0" rtlCol="0" anchor="ctr"/>
          <a:lstStyle/>
          <a:p>
            <a:pPr marL="0" indent="0" algn="ctr">
              <a:buNone/>
            </a:pPr>
            <a:r>
              <a:rPr lang="en-US" sz="1500" b="1" kern="0" spc="300" dirty="0">
                <a:solidFill>
                  <a:srgbClr val="C9D3E3"/>
                </a:solidFill>
                <a:latin typeface="Calibri" pitchFamily="34" charset="0"/>
                <a:ea typeface="Calibri" pitchFamily="34" charset="-122"/>
                <a:cs typeface="Calibri" pitchFamily="34" charset="-120"/>
              </a:rPr>
              <a:t>INTERNSHIP PRESENTATION</a:t>
            </a:r>
            <a:endParaRPr lang="en-US" sz="1500" dirty="0"/>
          </a:p>
        </p:txBody>
      </p:sp>
      <p:sp>
        <p:nvSpPr>
          <p:cNvPr id="6" name="Text 3"/>
          <p:cNvSpPr txBox="1"/>
          <p:nvPr/>
        </p:nvSpPr>
        <p:spPr>
          <a:xfrm>
            <a:off x="731520" y="2084832"/>
            <a:ext cx="10728655"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Web Development Internship</a:t>
            </a:r>
            <a:endParaRPr lang="en-US" sz="4000" dirty="0"/>
          </a:p>
        </p:txBody>
      </p:sp>
      <p:sp>
        <p:nvSpPr>
          <p:cNvPr id="7" name="Text 4"/>
          <p:cNvSpPr txBox="1"/>
          <p:nvPr/>
        </p:nvSpPr>
        <p:spPr>
          <a:xfrm>
            <a:off x="1280160" y="2852928"/>
            <a:ext cx="9631375" cy="457200"/>
          </a:xfrm>
          <a:prstGeom prst="rect">
            <a:avLst/>
          </a:prstGeom>
          <a:noFill/>
          <a:ln/>
        </p:spPr>
        <p:txBody>
          <a:bodyPr wrap="square" lIns="0" tIns="0" rIns="0" bIns="0" rtlCol="0" anchor="ctr"/>
          <a:lstStyle/>
          <a:p>
            <a:pPr marL="0" indent="0" algn="ctr">
              <a:buNone/>
            </a:pPr>
            <a:r>
              <a:rPr lang="en-US" sz="1400" i="1" dirty="0">
                <a:solidFill>
                  <a:srgbClr val="C9D3E3"/>
                </a:solidFill>
                <a:latin typeface="Calibri" pitchFamily="34" charset="0"/>
                <a:ea typeface="Calibri" pitchFamily="34" charset="-122"/>
                <a:cs typeface="Calibri" pitchFamily="34" charset="-120"/>
              </a:rPr>
              <a:t>Submitted to the School of Computer Science and Engineering, IILM University, Greater Noida, U.P.</a:t>
            </a:r>
            <a:endParaRPr lang="en-US" sz="1400" dirty="0"/>
          </a:p>
        </p:txBody>
      </p:sp>
      <p:sp>
        <p:nvSpPr>
          <p:cNvPr id="8" name="Shape 5"/>
          <p:cNvSpPr/>
          <p:nvPr/>
        </p:nvSpPr>
        <p:spPr>
          <a:xfrm>
            <a:off x="815188" y="3703320"/>
            <a:ext cx="2468880" cy="868680"/>
          </a:xfrm>
          <a:prstGeom prst="roundRect">
            <a:avLst>
              <a:gd name="adj" fmla="val 7368"/>
            </a:avLst>
          </a:prstGeom>
          <a:solidFill>
            <a:srgbClr val="1F3A5F">
              <a:alpha val="80000"/>
            </a:srgbClr>
          </a:solidFill>
          <a:ln w="12700">
            <a:solidFill>
              <a:srgbClr val="3C4E6B"/>
            </a:solidFill>
            <a:prstDash val="solid"/>
          </a:ln>
        </p:spPr>
      </p:sp>
      <p:sp>
        <p:nvSpPr>
          <p:cNvPr id="9" name="Text 6"/>
          <p:cNvSpPr txBox="1"/>
          <p:nvPr/>
        </p:nvSpPr>
        <p:spPr>
          <a:xfrm>
            <a:off x="924916" y="3794760"/>
            <a:ext cx="2249424" cy="256032"/>
          </a:xfrm>
          <a:prstGeom prst="rect">
            <a:avLst/>
          </a:prstGeom>
          <a:noFill/>
          <a:ln/>
        </p:spPr>
        <p:txBody>
          <a:bodyPr wrap="square" lIns="0" tIns="0" rIns="0" bIns="0" rtlCol="0" anchor="ctr"/>
          <a:lstStyle/>
          <a:p>
            <a:pPr marL="0" indent="0" algn="ctr">
              <a:buNone/>
            </a:pPr>
            <a:r>
              <a:rPr lang="en-US" sz="1000" b="1" kern="0" spc="100" dirty="0">
                <a:solidFill>
                  <a:srgbClr val="9FB0CC"/>
                </a:solidFill>
                <a:latin typeface="Calibri" pitchFamily="34" charset="0"/>
                <a:ea typeface="Calibri" pitchFamily="34" charset="-122"/>
                <a:cs typeface="Calibri" pitchFamily="34" charset="-120"/>
              </a:rPr>
              <a:t>BY</a:t>
            </a:r>
            <a:endParaRPr lang="en-US" sz="1000" dirty="0"/>
          </a:p>
        </p:txBody>
      </p:sp>
      <p:sp>
        <p:nvSpPr>
          <p:cNvPr id="10" name="Text 7"/>
          <p:cNvSpPr txBox="1"/>
          <p:nvPr/>
        </p:nvSpPr>
        <p:spPr>
          <a:xfrm>
            <a:off x="924916" y="4069080"/>
            <a:ext cx="2249424"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Roshani Singh</a:t>
            </a:r>
            <a:endParaRPr lang="en-US" sz="1600" dirty="0"/>
          </a:p>
        </p:txBody>
      </p:sp>
      <p:sp>
        <p:nvSpPr>
          <p:cNvPr id="11" name="Shape 8"/>
          <p:cNvSpPr/>
          <p:nvPr/>
        </p:nvSpPr>
        <p:spPr>
          <a:xfrm>
            <a:off x="3512668" y="3703320"/>
            <a:ext cx="2468880" cy="868680"/>
          </a:xfrm>
          <a:prstGeom prst="roundRect">
            <a:avLst>
              <a:gd name="adj" fmla="val 7368"/>
            </a:avLst>
          </a:prstGeom>
          <a:solidFill>
            <a:srgbClr val="1F3A5F">
              <a:alpha val="80000"/>
            </a:srgbClr>
          </a:solidFill>
          <a:ln w="12700">
            <a:solidFill>
              <a:srgbClr val="3C4E6B"/>
            </a:solidFill>
            <a:prstDash val="solid"/>
          </a:ln>
        </p:spPr>
      </p:sp>
      <p:sp>
        <p:nvSpPr>
          <p:cNvPr id="12" name="Text 9"/>
          <p:cNvSpPr txBox="1"/>
          <p:nvPr/>
        </p:nvSpPr>
        <p:spPr>
          <a:xfrm>
            <a:off x="3622396" y="3794760"/>
            <a:ext cx="2249424" cy="256032"/>
          </a:xfrm>
          <a:prstGeom prst="rect">
            <a:avLst/>
          </a:prstGeom>
          <a:noFill/>
          <a:ln/>
        </p:spPr>
        <p:txBody>
          <a:bodyPr wrap="square" lIns="0" tIns="0" rIns="0" bIns="0" rtlCol="0" anchor="ctr"/>
          <a:lstStyle/>
          <a:p>
            <a:pPr marL="0" indent="0" algn="ctr">
              <a:buNone/>
            </a:pPr>
            <a:r>
              <a:rPr lang="en-US" sz="1000" b="1" kern="0" spc="100" dirty="0">
                <a:solidFill>
                  <a:srgbClr val="9FB0CC"/>
                </a:solidFill>
                <a:latin typeface="Calibri" pitchFamily="34" charset="0"/>
                <a:ea typeface="Calibri" pitchFamily="34" charset="-122"/>
                <a:cs typeface="Calibri" pitchFamily="34" charset="-120"/>
              </a:rPr>
              <a:t>ROLL NO.</a:t>
            </a:r>
            <a:endParaRPr lang="en-US" sz="1000" dirty="0"/>
          </a:p>
        </p:txBody>
      </p:sp>
      <p:sp>
        <p:nvSpPr>
          <p:cNvPr id="13" name="Text 10"/>
          <p:cNvSpPr txBox="1"/>
          <p:nvPr/>
        </p:nvSpPr>
        <p:spPr>
          <a:xfrm>
            <a:off x="3622396" y="4069080"/>
            <a:ext cx="2249424"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2410030802</a:t>
            </a:r>
            <a:endParaRPr lang="en-US" sz="1600" dirty="0"/>
          </a:p>
        </p:txBody>
      </p:sp>
      <p:sp>
        <p:nvSpPr>
          <p:cNvPr id="14" name="Shape 11"/>
          <p:cNvSpPr/>
          <p:nvPr/>
        </p:nvSpPr>
        <p:spPr>
          <a:xfrm>
            <a:off x="6210148" y="3703320"/>
            <a:ext cx="2468880" cy="868680"/>
          </a:xfrm>
          <a:prstGeom prst="roundRect">
            <a:avLst>
              <a:gd name="adj" fmla="val 7368"/>
            </a:avLst>
          </a:prstGeom>
          <a:solidFill>
            <a:srgbClr val="1F3A5F">
              <a:alpha val="80000"/>
            </a:srgbClr>
          </a:solidFill>
          <a:ln w="12700">
            <a:solidFill>
              <a:srgbClr val="3C4E6B"/>
            </a:solidFill>
            <a:prstDash val="solid"/>
          </a:ln>
        </p:spPr>
      </p:sp>
      <p:sp>
        <p:nvSpPr>
          <p:cNvPr id="15" name="Text 12"/>
          <p:cNvSpPr txBox="1"/>
          <p:nvPr/>
        </p:nvSpPr>
        <p:spPr>
          <a:xfrm>
            <a:off x="6319876" y="3794760"/>
            <a:ext cx="2249424" cy="256032"/>
          </a:xfrm>
          <a:prstGeom prst="rect">
            <a:avLst/>
          </a:prstGeom>
          <a:noFill/>
          <a:ln/>
        </p:spPr>
        <p:txBody>
          <a:bodyPr wrap="square" lIns="0" tIns="0" rIns="0" bIns="0" rtlCol="0" anchor="ctr"/>
          <a:lstStyle/>
          <a:p>
            <a:pPr marL="0" indent="0" algn="ctr">
              <a:buNone/>
            </a:pPr>
            <a:r>
              <a:rPr lang="en-US" sz="1000" b="1" kern="0" spc="100" dirty="0">
                <a:solidFill>
                  <a:srgbClr val="9FB0CC"/>
                </a:solidFill>
                <a:latin typeface="Calibri" pitchFamily="34" charset="0"/>
                <a:ea typeface="Calibri" pitchFamily="34" charset="-122"/>
                <a:cs typeface="Calibri" pitchFamily="34" charset="-120"/>
              </a:rPr>
              <a:t>CLASS</a:t>
            </a:r>
            <a:endParaRPr lang="en-US" sz="1000" dirty="0"/>
          </a:p>
        </p:txBody>
      </p:sp>
      <p:sp>
        <p:nvSpPr>
          <p:cNvPr id="16" name="Text 13"/>
          <p:cNvSpPr txBox="1"/>
          <p:nvPr/>
        </p:nvSpPr>
        <p:spPr>
          <a:xfrm>
            <a:off x="6319876" y="4069080"/>
            <a:ext cx="2249424"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 CSE 5</a:t>
            </a:r>
            <a:endParaRPr lang="en-US" sz="1600" dirty="0"/>
          </a:p>
        </p:txBody>
      </p:sp>
      <p:sp>
        <p:nvSpPr>
          <p:cNvPr id="17" name="Shape 14"/>
          <p:cNvSpPr/>
          <p:nvPr/>
        </p:nvSpPr>
        <p:spPr>
          <a:xfrm>
            <a:off x="8907628" y="3703320"/>
            <a:ext cx="2468880" cy="868680"/>
          </a:xfrm>
          <a:prstGeom prst="roundRect">
            <a:avLst>
              <a:gd name="adj" fmla="val 7368"/>
            </a:avLst>
          </a:prstGeom>
          <a:solidFill>
            <a:srgbClr val="1F3A5F">
              <a:alpha val="80000"/>
            </a:srgbClr>
          </a:solidFill>
          <a:ln w="12700">
            <a:solidFill>
              <a:srgbClr val="3C4E6B"/>
            </a:solidFill>
            <a:prstDash val="solid"/>
          </a:ln>
        </p:spPr>
      </p:sp>
      <p:sp>
        <p:nvSpPr>
          <p:cNvPr id="18" name="Text 15"/>
          <p:cNvSpPr txBox="1"/>
          <p:nvPr/>
        </p:nvSpPr>
        <p:spPr>
          <a:xfrm>
            <a:off x="9017356" y="3794760"/>
            <a:ext cx="2249424" cy="256032"/>
          </a:xfrm>
          <a:prstGeom prst="rect">
            <a:avLst/>
          </a:prstGeom>
          <a:noFill/>
          <a:ln/>
        </p:spPr>
        <p:txBody>
          <a:bodyPr wrap="square" lIns="0" tIns="0" rIns="0" bIns="0" rtlCol="0" anchor="ctr"/>
          <a:lstStyle/>
          <a:p>
            <a:pPr marL="0" indent="0" algn="ctr">
              <a:buNone/>
            </a:pPr>
            <a:r>
              <a:rPr lang="en-US" sz="1000" b="1" kern="0" spc="100" dirty="0">
                <a:solidFill>
                  <a:srgbClr val="9FB0CC"/>
                </a:solidFill>
                <a:latin typeface="Calibri" pitchFamily="34" charset="0"/>
                <a:ea typeface="Calibri" pitchFamily="34" charset="-122"/>
                <a:cs typeface="Calibri" pitchFamily="34" charset="-120"/>
              </a:rPr>
              <a:t>BATCH</a:t>
            </a:r>
            <a:endParaRPr lang="en-US" sz="1000" dirty="0"/>
          </a:p>
        </p:txBody>
      </p:sp>
      <p:sp>
        <p:nvSpPr>
          <p:cNvPr id="19" name="Text 16"/>
          <p:cNvSpPr txBox="1"/>
          <p:nvPr/>
        </p:nvSpPr>
        <p:spPr>
          <a:xfrm>
            <a:off x="9017356" y="4069080"/>
            <a:ext cx="2249424"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2026–27</a:t>
            </a:r>
            <a:endParaRPr lang="en-US" sz="1600" dirty="0"/>
          </a:p>
        </p:txBody>
      </p:sp>
      <p:sp>
        <p:nvSpPr>
          <p:cNvPr id="20" name="Shape 17"/>
          <p:cNvSpPr/>
          <p:nvPr/>
        </p:nvSpPr>
        <p:spPr>
          <a:xfrm>
            <a:off x="929488" y="4800600"/>
            <a:ext cx="3291840" cy="868680"/>
          </a:xfrm>
          <a:prstGeom prst="roundRect">
            <a:avLst>
              <a:gd name="adj" fmla="val 7368"/>
            </a:avLst>
          </a:prstGeom>
          <a:solidFill>
            <a:srgbClr val="8B1E3F">
              <a:alpha val="38000"/>
            </a:srgbClr>
          </a:solidFill>
          <a:ln w="12700">
            <a:solidFill>
              <a:srgbClr val="6E4356"/>
            </a:solidFill>
            <a:prstDash val="solid"/>
          </a:ln>
        </p:spPr>
      </p:sp>
      <p:sp>
        <p:nvSpPr>
          <p:cNvPr id="21" name="Text 18"/>
          <p:cNvSpPr txBox="1"/>
          <p:nvPr/>
        </p:nvSpPr>
        <p:spPr>
          <a:xfrm>
            <a:off x="1039216" y="4892040"/>
            <a:ext cx="3072384" cy="256032"/>
          </a:xfrm>
          <a:prstGeom prst="rect">
            <a:avLst/>
          </a:prstGeom>
          <a:noFill/>
          <a:ln/>
        </p:spPr>
        <p:txBody>
          <a:bodyPr wrap="square" lIns="0" tIns="0" rIns="0" bIns="0" rtlCol="0" anchor="ctr"/>
          <a:lstStyle/>
          <a:p>
            <a:pPr marL="0" indent="0" algn="ctr">
              <a:buNone/>
            </a:pPr>
            <a:r>
              <a:rPr lang="en-US" sz="1000" b="1" kern="0" spc="100" dirty="0">
                <a:solidFill>
                  <a:srgbClr val="E8C9D2"/>
                </a:solidFill>
                <a:latin typeface="Calibri" pitchFamily="34" charset="0"/>
                <a:ea typeface="Calibri" pitchFamily="34" charset="-122"/>
                <a:cs typeface="Calibri" pitchFamily="34" charset="-120"/>
              </a:rPr>
              <a:t>ORGANIZATION</a:t>
            </a:r>
            <a:endParaRPr lang="en-US" sz="1000" dirty="0"/>
          </a:p>
        </p:txBody>
      </p:sp>
      <p:sp>
        <p:nvSpPr>
          <p:cNvPr id="22" name="Text 19"/>
          <p:cNvSpPr txBox="1"/>
          <p:nvPr/>
        </p:nvSpPr>
        <p:spPr>
          <a:xfrm>
            <a:off x="1039216" y="5166360"/>
            <a:ext cx="3072384"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Prodigy Infotech</a:t>
            </a:r>
            <a:endParaRPr lang="en-US" sz="1500" dirty="0"/>
          </a:p>
        </p:txBody>
      </p:sp>
      <p:sp>
        <p:nvSpPr>
          <p:cNvPr id="23" name="Shape 20"/>
          <p:cNvSpPr/>
          <p:nvPr/>
        </p:nvSpPr>
        <p:spPr>
          <a:xfrm>
            <a:off x="4449928" y="4800600"/>
            <a:ext cx="3291840" cy="868680"/>
          </a:xfrm>
          <a:prstGeom prst="roundRect">
            <a:avLst>
              <a:gd name="adj" fmla="val 7368"/>
            </a:avLst>
          </a:prstGeom>
          <a:solidFill>
            <a:srgbClr val="8B1E3F">
              <a:alpha val="38000"/>
            </a:srgbClr>
          </a:solidFill>
          <a:ln w="12700">
            <a:solidFill>
              <a:srgbClr val="6E4356"/>
            </a:solidFill>
            <a:prstDash val="solid"/>
          </a:ln>
        </p:spPr>
      </p:sp>
      <p:sp>
        <p:nvSpPr>
          <p:cNvPr id="24" name="Text 21"/>
          <p:cNvSpPr txBox="1"/>
          <p:nvPr/>
        </p:nvSpPr>
        <p:spPr>
          <a:xfrm>
            <a:off x="4559656" y="4892040"/>
            <a:ext cx="3072384" cy="256032"/>
          </a:xfrm>
          <a:prstGeom prst="rect">
            <a:avLst/>
          </a:prstGeom>
          <a:noFill/>
          <a:ln/>
        </p:spPr>
        <p:txBody>
          <a:bodyPr wrap="square" lIns="0" tIns="0" rIns="0" bIns="0" rtlCol="0" anchor="ctr"/>
          <a:lstStyle/>
          <a:p>
            <a:pPr marL="0" indent="0" algn="ctr">
              <a:buNone/>
            </a:pPr>
            <a:r>
              <a:rPr lang="en-US" sz="1000" b="1" kern="0" spc="100" dirty="0">
                <a:solidFill>
                  <a:srgbClr val="E8C9D2"/>
                </a:solidFill>
                <a:latin typeface="Calibri" pitchFamily="34" charset="0"/>
                <a:ea typeface="Calibri" pitchFamily="34" charset="-122"/>
                <a:cs typeface="Calibri" pitchFamily="34" charset="-120"/>
              </a:rPr>
              <a:t>ROLE</a:t>
            </a:r>
            <a:endParaRPr lang="en-US" sz="1000" dirty="0"/>
          </a:p>
        </p:txBody>
      </p:sp>
      <p:sp>
        <p:nvSpPr>
          <p:cNvPr id="25" name="Text 22"/>
          <p:cNvSpPr txBox="1"/>
          <p:nvPr/>
        </p:nvSpPr>
        <p:spPr>
          <a:xfrm>
            <a:off x="4559656" y="5166360"/>
            <a:ext cx="3072384"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Web Development Intern</a:t>
            </a:r>
            <a:endParaRPr lang="en-US" sz="1500" dirty="0"/>
          </a:p>
        </p:txBody>
      </p:sp>
      <p:sp>
        <p:nvSpPr>
          <p:cNvPr id="26" name="Shape 23"/>
          <p:cNvSpPr/>
          <p:nvPr/>
        </p:nvSpPr>
        <p:spPr>
          <a:xfrm>
            <a:off x="7970368" y="4800600"/>
            <a:ext cx="3291840" cy="868680"/>
          </a:xfrm>
          <a:prstGeom prst="roundRect">
            <a:avLst>
              <a:gd name="adj" fmla="val 7368"/>
            </a:avLst>
          </a:prstGeom>
          <a:solidFill>
            <a:srgbClr val="8B1E3F">
              <a:alpha val="38000"/>
            </a:srgbClr>
          </a:solidFill>
          <a:ln w="12700">
            <a:solidFill>
              <a:srgbClr val="6E4356"/>
            </a:solidFill>
            <a:prstDash val="solid"/>
          </a:ln>
        </p:spPr>
      </p:sp>
      <p:sp>
        <p:nvSpPr>
          <p:cNvPr id="27" name="Text 24"/>
          <p:cNvSpPr txBox="1"/>
          <p:nvPr/>
        </p:nvSpPr>
        <p:spPr>
          <a:xfrm>
            <a:off x="8080096" y="4892040"/>
            <a:ext cx="3072384" cy="256032"/>
          </a:xfrm>
          <a:prstGeom prst="rect">
            <a:avLst/>
          </a:prstGeom>
          <a:noFill/>
          <a:ln/>
        </p:spPr>
        <p:txBody>
          <a:bodyPr wrap="square" lIns="0" tIns="0" rIns="0" bIns="0" rtlCol="0" anchor="ctr"/>
          <a:lstStyle/>
          <a:p>
            <a:pPr marL="0" indent="0" algn="ctr">
              <a:buNone/>
            </a:pPr>
            <a:r>
              <a:rPr lang="en-US" sz="1000" b="1" kern="0" spc="100" dirty="0">
                <a:solidFill>
                  <a:srgbClr val="E8C9D2"/>
                </a:solidFill>
                <a:latin typeface="Calibri" pitchFamily="34" charset="0"/>
                <a:ea typeface="Calibri" pitchFamily="34" charset="-122"/>
                <a:cs typeface="Calibri" pitchFamily="34" charset="-120"/>
              </a:rPr>
              <a:t>DURATION</a:t>
            </a:r>
            <a:endParaRPr lang="en-US" sz="1000" dirty="0"/>
          </a:p>
        </p:txBody>
      </p:sp>
      <p:sp>
        <p:nvSpPr>
          <p:cNvPr id="28" name="Text 25"/>
          <p:cNvSpPr txBox="1"/>
          <p:nvPr/>
        </p:nvSpPr>
        <p:spPr>
          <a:xfrm>
            <a:off x="8080096" y="5166360"/>
            <a:ext cx="3072384"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 – 30 August 2026</a:t>
            </a:r>
            <a:endParaRPr lang="en-US" sz="1500" dirty="0"/>
          </a:p>
        </p:txBody>
      </p:sp>
      <p:sp>
        <p:nvSpPr>
          <p:cNvPr id="29" name="Text 26"/>
          <p:cNvSpPr txBox="1"/>
          <p:nvPr/>
        </p:nvSpPr>
        <p:spPr>
          <a:xfrm>
            <a:off x="0" y="6355080"/>
            <a:ext cx="12191695" cy="274320"/>
          </a:xfrm>
          <a:prstGeom prst="rect">
            <a:avLst/>
          </a:prstGeom>
          <a:noFill/>
          <a:ln/>
        </p:spPr>
        <p:txBody>
          <a:bodyPr wrap="square" lIns="0" tIns="0" rIns="0" bIns="0" rtlCol="0" anchor="ctr"/>
          <a:lstStyle/>
          <a:p>
            <a:pPr marL="0" indent="0" algn="ctr">
              <a:buNone/>
            </a:pPr>
            <a:r>
              <a:rPr lang="en-US" sz="1100" dirty="0">
                <a:solidFill>
                  <a:srgbClr val="8494B0"/>
                </a:solidFill>
                <a:latin typeface="Calibri" pitchFamily="34" charset="0"/>
                <a:ea typeface="Calibri" pitchFamily="34" charset="-122"/>
                <a:cs typeface="Calibri" pitchFamily="34" charset="-120"/>
              </a:rPr>
              <a:t>B.Tech CSE  •  IILM University, Greater Noida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INTERNSHIP OVERVIEW</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A Five-Task Web Development Internship</a:t>
            </a:r>
            <a:endParaRPr lang="en-US" sz="3000" dirty="0"/>
          </a:p>
        </p:txBody>
      </p:sp>
      <p:sp>
        <p:nvSpPr>
          <p:cNvPr id="4" name="Shape 2"/>
          <p:cNvSpPr/>
          <p:nvPr/>
        </p:nvSpPr>
        <p:spPr>
          <a:xfrm>
            <a:off x="586588" y="1417320"/>
            <a:ext cx="3520440" cy="960120"/>
          </a:xfrm>
          <a:prstGeom prst="roundRect">
            <a:avLst>
              <a:gd name="adj" fmla="val 8571"/>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870052" y="1609344"/>
            <a:ext cx="566928" cy="566928"/>
          </a:xfrm>
          <a:prstGeom prst="ellipse">
            <a:avLst/>
          </a:prstGeom>
          <a:solidFill>
            <a:srgbClr val="EAF0FB"/>
          </a:solidFill>
          <a:ln/>
        </p:spPr>
      </p:sp>
      <p:pic>
        <p:nvPicPr>
          <p:cNvPr id="6" name="Image 0" descr="/home/claude/pptx_build/icons/briefcase.png"/>
          <p:cNvPicPr>
            <a:picLocks noChangeAspect="1"/>
          </p:cNvPicPr>
          <p:nvPr/>
        </p:nvPicPr>
        <p:blipFill>
          <a:blip r:embed="rId3"/>
          <a:stretch>
            <a:fillRect/>
          </a:stretch>
        </p:blipFill>
        <p:spPr>
          <a:xfrm>
            <a:off x="994776" y="1734068"/>
            <a:ext cx="317480" cy="317480"/>
          </a:xfrm>
          <a:prstGeom prst="rect">
            <a:avLst/>
          </a:prstGeom>
        </p:spPr>
      </p:pic>
      <p:sp>
        <p:nvSpPr>
          <p:cNvPr id="7" name="Text 4"/>
          <p:cNvSpPr txBox="1"/>
          <p:nvPr/>
        </p:nvSpPr>
        <p:spPr>
          <a:xfrm>
            <a:off x="1546708" y="1563624"/>
            <a:ext cx="2423160" cy="256032"/>
          </a:xfrm>
          <a:prstGeom prst="rect">
            <a:avLst/>
          </a:prstGeom>
          <a:noFill/>
          <a:ln/>
        </p:spPr>
        <p:txBody>
          <a:bodyPr wrap="square" lIns="0" tIns="0" rIns="0" bIns="0" rtlCol="0" anchor="ctr"/>
          <a:lstStyle/>
          <a:p>
            <a:pPr marL="0" indent="0">
              <a:buNone/>
            </a:pPr>
            <a:r>
              <a:rPr lang="en-US" sz="1050" b="1" kern="0" spc="100" dirty="0">
                <a:solidFill>
                  <a:srgbClr val="667085"/>
                </a:solidFill>
                <a:latin typeface="Calibri" pitchFamily="34" charset="0"/>
                <a:ea typeface="Calibri" pitchFamily="34" charset="-122"/>
                <a:cs typeface="Calibri" pitchFamily="34" charset="-120"/>
              </a:rPr>
              <a:t>ORGANIZATION</a:t>
            </a:r>
            <a:endParaRPr lang="en-US" sz="1050" dirty="0"/>
          </a:p>
        </p:txBody>
      </p:sp>
      <p:sp>
        <p:nvSpPr>
          <p:cNvPr id="8" name="Text 5"/>
          <p:cNvSpPr txBox="1"/>
          <p:nvPr/>
        </p:nvSpPr>
        <p:spPr>
          <a:xfrm>
            <a:off x="1546708" y="1819656"/>
            <a:ext cx="2423160" cy="457200"/>
          </a:xfrm>
          <a:prstGeom prst="rect">
            <a:avLst/>
          </a:prstGeom>
          <a:noFill/>
          <a:ln/>
        </p:spPr>
        <p:txBody>
          <a:bodyPr wrap="square" lIns="0" tIns="0" rIns="0" bIns="0" rtlCol="0" anchor="ctr"/>
          <a:lstStyle/>
          <a:p>
            <a:pPr marL="0" indent="0">
              <a:buNone/>
            </a:pPr>
            <a:r>
              <a:rPr lang="en-US" sz="1550" b="1" dirty="0">
                <a:solidFill>
                  <a:srgbClr val="1F3A5F"/>
                </a:solidFill>
                <a:latin typeface="Cambria" pitchFamily="34" charset="0"/>
                <a:ea typeface="Cambria" pitchFamily="34" charset="-122"/>
                <a:cs typeface="Cambria" pitchFamily="34" charset="-120"/>
              </a:rPr>
              <a:t>Prodigy Infotech</a:t>
            </a:r>
            <a:endParaRPr lang="en-US" sz="1550" dirty="0"/>
          </a:p>
        </p:txBody>
      </p:sp>
      <p:sp>
        <p:nvSpPr>
          <p:cNvPr id="9" name="Shape 6"/>
          <p:cNvSpPr/>
          <p:nvPr/>
        </p:nvSpPr>
        <p:spPr>
          <a:xfrm>
            <a:off x="4335628" y="1417320"/>
            <a:ext cx="3520440" cy="960120"/>
          </a:xfrm>
          <a:prstGeom prst="roundRect">
            <a:avLst>
              <a:gd name="adj" fmla="val 8571"/>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0" name="Shape 7"/>
          <p:cNvSpPr/>
          <p:nvPr/>
        </p:nvSpPr>
        <p:spPr>
          <a:xfrm>
            <a:off x="4619092" y="1609344"/>
            <a:ext cx="566928" cy="566928"/>
          </a:xfrm>
          <a:prstGeom prst="ellipse">
            <a:avLst/>
          </a:prstGeom>
          <a:solidFill>
            <a:srgbClr val="EAF0FB"/>
          </a:solidFill>
          <a:ln/>
        </p:spPr>
      </p:sp>
      <p:pic>
        <p:nvPicPr>
          <p:cNvPr id="11" name="Image 1" descr="/home/claude/pptx_build/icons/users.png"/>
          <p:cNvPicPr>
            <a:picLocks noChangeAspect="1"/>
          </p:cNvPicPr>
          <p:nvPr/>
        </p:nvPicPr>
        <p:blipFill>
          <a:blip r:embed="rId4"/>
          <a:stretch>
            <a:fillRect/>
          </a:stretch>
        </p:blipFill>
        <p:spPr>
          <a:xfrm>
            <a:off x="4743816" y="1734068"/>
            <a:ext cx="317480" cy="317480"/>
          </a:xfrm>
          <a:prstGeom prst="rect">
            <a:avLst/>
          </a:prstGeom>
        </p:spPr>
      </p:pic>
      <p:sp>
        <p:nvSpPr>
          <p:cNvPr id="12" name="Text 8"/>
          <p:cNvSpPr txBox="1"/>
          <p:nvPr/>
        </p:nvSpPr>
        <p:spPr>
          <a:xfrm>
            <a:off x="5295748" y="1563624"/>
            <a:ext cx="2423160" cy="256032"/>
          </a:xfrm>
          <a:prstGeom prst="rect">
            <a:avLst/>
          </a:prstGeom>
          <a:noFill/>
          <a:ln/>
        </p:spPr>
        <p:txBody>
          <a:bodyPr wrap="square" lIns="0" tIns="0" rIns="0" bIns="0" rtlCol="0" anchor="ctr"/>
          <a:lstStyle/>
          <a:p>
            <a:pPr marL="0" indent="0">
              <a:buNone/>
            </a:pPr>
            <a:r>
              <a:rPr lang="en-US" sz="1050" b="1" kern="0" spc="100" dirty="0">
                <a:solidFill>
                  <a:srgbClr val="667085"/>
                </a:solidFill>
                <a:latin typeface="Calibri" pitchFamily="34" charset="0"/>
                <a:ea typeface="Calibri" pitchFamily="34" charset="-122"/>
                <a:cs typeface="Calibri" pitchFamily="34" charset="-120"/>
              </a:rPr>
              <a:t>ROLE</a:t>
            </a:r>
            <a:endParaRPr lang="en-US" sz="1050" dirty="0"/>
          </a:p>
        </p:txBody>
      </p:sp>
      <p:sp>
        <p:nvSpPr>
          <p:cNvPr id="13" name="Text 9"/>
          <p:cNvSpPr txBox="1"/>
          <p:nvPr/>
        </p:nvSpPr>
        <p:spPr>
          <a:xfrm>
            <a:off x="5295748" y="1819656"/>
            <a:ext cx="2423160" cy="457200"/>
          </a:xfrm>
          <a:prstGeom prst="rect">
            <a:avLst/>
          </a:prstGeom>
          <a:noFill/>
          <a:ln/>
        </p:spPr>
        <p:txBody>
          <a:bodyPr wrap="square" lIns="0" tIns="0" rIns="0" bIns="0" rtlCol="0" anchor="ctr"/>
          <a:lstStyle/>
          <a:p>
            <a:pPr marL="0" indent="0">
              <a:buNone/>
            </a:pPr>
            <a:r>
              <a:rPr lang="en-US" sz="1550" b="1" dirty="0">
                <a:solidFill>
                  <a:srgbClr val="1F3A5F"/>
                </a:solidFill>
                <a:latin typeface="Cambria" pitchFamily="34" charset="0"/>
                <a:ea typeface="Cambria" pitchFamily="34" charset="-122"/>
                <a:cs typeface="Cambria" pitchFamily="34" charset="-120"/>
              </a:rPr>
              <a:t>Web Development Intern</a:t>
            </a:r>
            <a:endParaRPr lang="en-US" sz="1550" dirty="0"/>
          </a:p>
        </p:txBody>
      </p:sp>
      <p:sp>
        <p:nvSpPr>
          <p:cNvPr id="14" name="Shape 10"/>
          <p:cNvSpPr/>
          <p:nvPr/>
        </p:nvSpPr>
        <p:spPr>
          <a:xfrm>
            <a:off x="8084668" y="1417320"/>
            <a:ext cx="3520440" cy="960120"/>
          </a:xfrm>
          <a:prstGeom prst="roundRect">
            <a:avLst>
              <a:gd name="adj" fmla="val 8571"/>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5" name="Shape 11"/>
          <p:cNvSpPr/>
          <p:nvPr/>
        </p:nvSpPr>
        <p:spPr>
          <a:xfrm>
            <a:off x="8368132" y="1609344"/>
            <a:ext cx="566928" cy="566928"/>
          </a:xfrm>
          <a:prstGeom prst="ellipse">
            <a:avLst/>
          </a:prstGeom>
          <a:solidFill>
            <a:srgbClr val="EAF0FB"/>
          </a:solidFill>
          <a:ln/>
        </p:spPr>
      </p:sp>
      <p:pic>
        <p:nvPicPr>
          <p:cNvPr id="16" name="Image 2" descr="/home/claude/pptx_build/icons/calendar.png"/>
          <p:cNvPicPr>
            <a:picLocks noChangeAspect="1"/>
          </p:cNvPicPr>
          <p:nvPr/>
        </p:nvPicPr>
        <p:blipFill>
          <a:blip r:embed="rId5"/>
          <a:stretch>
            <a:fillRect/>
          </a:stretch>
        </p:blipFill>
        <p:spPr>
          <a:xfrm>
            <a:off x="8492856" y="1734068"/>
            <a:ext cx="317480" cy="317480"/>
          </a:xfrm>
          <a:prstGeom prst="rect">
            <a:avLst/>
          </a:prstGeom>
        </p:spPr>
      </p:pic>
      <p:sp>
        <p:nvSpPr>
          <p:cNvPr id="17" name="Text 12"/>
          <p:cNvSpPr txBox="1"/>
          <p:nvPr/>
        </p:nvSpPr>
        <p:spPr>
          <a:xfrm>
            <a:off x="9044788" y="1563624"/>
            <a:ext cx="2423160" cy="256032"/>
          </a:xfrm>
          <a:prstGeom prst="rect">
            <a:avLst/>
          </a:prstGeom>
          <a:noFill/>
          <a:ln/>
        </p:spPr>
        <p:txBody>
          <a:bodyPr wrap="square" lIns="0" tIns="0" rIns="0" bIns="0" rtlCol="0" anchor="ctr"/>
          <a:lstStyle/>
          <a:p>
            <a:pPr marL="0" indent="0">
              <a:buNone/>
            </a:pPr>
            <a:r>
              <a:rPr lang="en-US" sz="1050" b="1" kern="0" spc="100" dirty="0">
                <a:solidFill>
                  <a:srgbClr val="667085"/>
                </a:solidFill>
                <a:latin typeface="Calibri" pitchFamily="34" charset="0"/>
                <a:ea typeface="Calibri" pitchFamily="34" charset="-122"/>
                <a:cs typeface="Calibri" pitchFamily="34" charset="-120"/>
              </a:rPr>
              <a:t>DURATION</a:t>
            </a:r>
            <a:endParaRPr lang="en-US" sz="1050" dirty="0"/>
          </a:p>
        </p:txBody>
      </p:sp>
      <p:sp>
        <p:nvSpPr>
          <p:cNvPr id="18" name="Text 13"/>
          <p:cNvSpPr txBox="1"/>
          <p:nvPr/>
        </p:nvSpPr>
        <p:spPr>
          <a:xfrm>
            <a:off x="9044788" y="1819656"/>
            <a:ext cx="2423160" cy="457200"/>
          </a:xfrm>
          <a:prstGeom prst="rect">
            <a:avLst/>
          </a:prstGeom>
          <a:noFill/>
          <a:ln/>
        </p:spPr>
        <p:txBody>
          <a:bodyPr wrap="square" lIns="0" tIns="0" rIns="0" bIns="0" rtlCol="0" anchor="ctr"/>
          <a:lstStyle/>
          <a:p>
            <a:pPr marL="0" indent="0">
              <a:buNone/>
            </a:pPr>
            <a:r>
              <a:rPr lang="en-US" sz="1550" b="1" dirty="0">
                <a:solidFill>
                  <a:srgbClr val="1F3A5F"/>
                </a:solidFill>
                <a:latin typeface="Cambria" pitchFamily="34" charset="0"/>
                <a:ea typeface="Cambria" pitchFamily="34" charset="-122"/>
                <a:cs typeface="Cambria" pitchFamily="34" charset="-120"/>
              </a:rPr>
              <a:t>01 – 30 August 2026</a:t>
            </a:r>
            <a:endParaRPr lang="en-US" sz="1550" dirty="0"/>
          </a:p>
        </p:txBody>
      </p:sp>
      <p:sp>
        <p:nvSpPr>
          <p:cNvPr id="19" name="Text 14"/>
          <p:cNvSpPr txBox="1"/>
          <p:nvPr/>
        </p:nvSpPr>
        <p:spPr>
          <a:xfrm>
            <a:off x="548640" y="2697480"/>
            <a:ext cx="1106424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Five Practical Applications — One Internship</a:t>
            </a:r>
            <a:endParaRPr lang="en-US" sz="1400" dirty="0"/>
          </a:p>
        </p:txBody>
      </p:sp>
      <p:sp>
        <p:nvSpPr>
          <p:cNvPr id="20" name="Shape 15"/>
          <p:cNvSpPr/>
          <p:nvPr/>
        </p:nvSpPr>
        <p:spPr>
          <a:xfrm>
            <a:off x="518008" y="3154680"/>
            <a:ext cx="2084832" cy="23317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1" name="Shape 16"/>
          <p:cNvSpPr/>
          <p:nvPr/>
        </p:nvSpPr>
        <p:spPr>
          <a:xfrm>
            <a:off x="1217524" y="3406140"/>
            <a:ext cx="685800" cy="685800"/>
          </a:xfrm>
          <a:prstGeom prst="ellipse">
            <a:avLst/>
          </a:prstGeom>
          <a:solidFill>
            <a:srgbClr val="EAF0FB"/>
          </a:solidFill>
          <a:ln/>
        </p:spPr>
      </p:sp>
      <p:pic>
        <p:nvPicPr>
          <p:cNvPr id="22" name="Image 3" descr="/home/claude/pptx_build/icons/responsive.png"/>
          <p:cNvPicPr>
            <a:picLocks noChangeAspect="1"/>
          </p:cNvPicPr>
          <p:nvPr/>
        </p:nvPicPr>
        <p:blipFill>
          <a:blip r:embed="rId6"/>
          <a:stretch>
            <a:fillRect/>
          </a:stretch>
        </p:blipFill>
        <p:spPr>
          <a:xfrm>
            <a:off x="1368400" y="3557016"/>
            <a:ext cx="384048" cy="384048"/>
          </a:xfrm>
          <a:prstGeom prst="rect">
            <a:avLst/>
          </a:prstGeom>
        </p:spPr>
      </p:pic>
      <p:sp>
        <p:nvSpPr>
          <p:cNvPr id="23" name="Text 17"/>
          <p:cNvSpPr txBox="1"/>
          <p:nvPr/>
        </p:nvSpPr>
        <p:spPr>
          <a:xfrm>
            <a:off x="627736" y="4206240"/>
            <a:ext cx="1865376" cy="228600"/>
          </a:xfrm>
          <a:prstGeom prst="rect">
            <a:avLst/>
          </a:prstGeom>
          <a:noFill/>
          <a:ln/>
        </p:spPr>
        <p:txBody>
          <a:bodyPr wrap="square" lIns="0" tIns="0" rIns="0" bIns="0" rtlCol="0" anchor="ctr"/>
          <a:lstStyle/>
          <a:p>
            <a:pPr marL="0" indent="0" algn="ctr">
              <a:buNone/>
            </a:pPr>
            <a:r>
              <a:rPr lang="en-US" sz="1000" b="1" kern="0" spc="100" dirty="0">
                <a:solidFill>
                  <a:srgbClr val="8B1E3F"/>
                </a:solidFill>
                <a:latin typeface="Calibri" pitchFamily="34" charset="0"/>
                <a:ea typeface="Calibri" pitchFamily="34" charset="-122"/>
                <a:cs typeface="Calibri" pitchFamily="34" charset="-120"/>
              </a:rPr>
              <a:t>TASK 01</a:t>
            </a:r>
            <a:endParaRPr lang="en-US" sz="1000" dirty="0"/>
          </a:p>
        </p:txBody>
      </p:sp>
      <p:sp>
        <p:nvSpPr>
          <p:cNvPr id="24" name="Text 18"/>
          <p:cNvSpPr txBox="1"/>
          <p:nvPr/>
        </p:nvSpPr>
        <p:spPr>
          <a:xfrm>
            <a:off x="627736" y="4453128"/>
            <a:ext cx="1865376" cy="868680"/>
          </a:xfrm>
          <a:prstGeom prst="rect">
            <a:avLst/>
          </a:prstGeom>
          <a:noFill/>
          <a:ln/>
        </p:spPr>
        <p:txBody>
          <a:bodyPr wrap="square" lIns="0" tIns="0" rIns="0" bIns="0" rtlCol="0" anchor="t"/>
          <a:lstStyle/>
          <a:p>
            <a:pPr marL="0" indent="0" algn="ctr">
              <a:buNone/>
            </a:pPr>
            <a:r>
              <a:rPr lang="en-US" sz="1350" b="1" dirty="0">
                <a:solidFill>
                  <a:srgbClr val="1F3A5F"/>
                </a:solidFill>
                <a:latin typeface="Cambria" pitchFamily="34" charset="0"/>
                <a:ea typeface="Cambria" pitchFamily="34" charset="-122"/>
                <a:cs typeface="Cambria" pitchFamily="34" charset="-120"/>
              </a:rPr>
              <a:t>Responsive Landing Page</a:t>
            </a:r>
            <a:endParaRPr lang="en-US" sz="1350" dirty="0"/>
          </a:p>
        </p:txBody>
      </p:sp>
      <p:sp>
        <p:nvSpPr>
          <p:cNvPr id="25" name="Shape 19"/>
          <p:cNvSpPr/>
          <p:nvPr/>
        </p:nvSpPr>
        <p:spPr>
          <a:xfrm>
            <a:off x="2785720" y="3154680"/>
            <a:ext cx="2084832" cy="23317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6" name="Shape 20"/>
          <p:cNvSpPr/>
          <p:nvPr/>
        </p:nvSpPr>
        <p:spPr>
          <a:xfrm>
            <a:off x="3485236" y="3406140"/>
            <a:ext cx="685800" cy="685800"/>
          </a:xfrm>
          <a:prstGeom prst="ellipse">
            <a:avLst/>
          </a:prstGeom>
          <a:solidFill>
            <a:srgbClr val="EAF0FB"/>
          </a:solidFill>
          <a:ln/>
        </p:spPr>
      </p:sp>
      <p:pic>
        <p:nvPicPr>
          <p:cNvPr id="27" name="Image 4" descr="/home/claude/pptx_build/icons/timer.png"/>
          <p:cNvPicPr>
            <a:picLocks noChangeAspect="1"/>
          </p:cNvPicPr>
          <p:nvPr/>
        </p:nvPicPr>
        <p:blipFill>
          <a:blip r:embed="rId7"/>
          <a:stretch>
            <a:fillRect/>
          </a:stretch>
        </p:blipFill>
        <p:spPr>
          <a:xfrm>
            <a:off x="3636112" y="3557016"/>
            <a:ext cx="384048" cy="384048"/>
          </a:xfrm>
          <a:prstGeom prst="rect">
            <a:avLst/>
          </a:prstGeom>
        </p:spPr>
      </p:pic>
      <p:sp>
        <p:nvSpPr>
          <p:cNvPr id="28" name="Text 21"/>
          <p:cNvSpPr txBox="1"/>
          <p:nvPr/>
        </p:nvSpPr>
        <p:spPr>
          <a:xfrm>
            <a:off x="2895448" y="4206240"/>
            <a:ext cx="1865376" cy="228600"/>
          </a:xfrm>
          <a:prstGeom prst="rect">
            <a:avLst/>
          </a:prstGeom>
          <a:noFill/>
          <a:ln/>
        </p:spPr>
        <p:txBody>
          <a:bodyPr wrap="square" lIns="0" tIns="0" rIns="0" bIns="0" rtlCol="0" anchor="ctr"/>
          <a:lstStyle/>
          <a:p>
            <a:pPr marL="0" indent="0" algn="ctr">
              <a:buNone/>
            </a:pPr>
            <a:r>
              <a:rPr lang="en-US" sz="1000" b="1" kern="0" spc="100" dirty="0">
                <a:solidFill>
                  <a:srgbClr val="8B1E3F"/>
                </a:solidFill>
                <a:latin typeface="Calibri" pitchFamily="34" charset="0"/>
                <a:ea typeface="Calibri" pitchFamily="34" charset="-122"/>
                <a:cs typeface="Calibri" pitchFamily="34" charset="-120"/>
              </a:rPr>
              <a:t>TASK 02</a:t>
            </a:r>
            <a:endParaRPr lang="en-US" sz="1000" dirty="0"/>
          </a:p>
        </p:txBody>
      </p:sp>
      <p:sp>
        <p:nvSpPr>
          <p:cNvPr id="29" name="Text 22"/>
          <p:cNvSpPr txBox="1"/>
          <p:nvPr/>
        </p:nvSpPr>
        <p:spPr>
          <a:xfrm>
            <a:off x="2895448" y="4453128"/>
            <a:ext cx="1865376" cy="868680"/>
          </a:xfrm>
          <a:prstGeom prst="rect">
            <a:avLst/>
          </a:prstGeom>
          <a:noFill/>
          <a:ln/>
        </p:spPr>
        <p:txBody>
          <a:bodyPr wrap="square" lIns="0" tIns="0" rIns="0" bIns="0" rtlCol="0" anchor="t"/>
          <a:lstStyle/>
          <a:p>
            <a:pPr marL="0" indent="0" algn="ctr">
              <a:buNone/>
            </a:pPr>
            <a:r>
              <a:rPr lang="en-US" sz="1350" b="1" dirty="0">
                <a:solidFill>
                  <a:srgbClr val="1F3A5F"/>
                </a:solidFill>
                <a:latin typeface="Cambria" pitchFamily="34" charset="0"/>
                <a:ea typeface="Cambria" pitchFamily="34" charset="-122"/>
                <a:cs typeface="Cambria" pitchFamily="34" charset="-120"/>
              </a:rPr>
              <a:t>Stopwatch Web App</a:t>
            </a:r>
            <a:endParaRPr lang="en-US" sz="1350" dirty="0"/>
          </a:p>
        </p:txBody>
      </p:sp>
      <p:sp>
        <p:nvSpPr>
          <p:cNvPr id="30" name="Shape 23"/>
          <p:cNvSpPr/>
          <p:nvPr/>
        </p:nvSpPr>
        <p:spPr>
          <a:xfrm>
            <a:off x="5053432" y="3154680"/>
            <a:ext cx="2084832" cy="23317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1" name="Shape 24"/>
          <p:cNvSpPr/>
          <p:nvPr/>
        </p:nvSpPr>
        <p:spPr>
          <a:xfrm>
            <a:off x="5752948" y="3406140"/>
            <a:ext cx="685800" cy="685800"/>
          </a:xfrm>
          <a:prstGeom prst="ellipse">
            <a:avLst/>
          </a:prstGeom>
          <a:solidFill>
            <a:srgbClr val="EAF0FB"/>
          </a:solidFill>
          <a:ln/>
        </p:spPr>
      </p:sp>
      <p:pic>
        <p:nvPicPr>
          <p:cNvPr id="32" name="Image 5" descr="/home/claude/pptx_build/icons/game.png"/>
          <p:cNvPicPr>
            <a:picLocks noChangeAspect="1"/>
          </p:cNvPicPr>
          <p:nvPr/>
        </p:nvPicPr>
        <p:blipFill>
          <a:blip r:embed="rId8"/>
          <a:stretch>
            <a:fillRect/>
          </a:stretch>
        </p:blipFill>
        <p:spPr>
          <a:xfrm>
            <a:off x="5903824" y="3557016"/>
            <a:ext cx="384048" cy="384048"/>
          </a:xfrm>
          <a:prstGeom prst="rect">
            <a:avLst/>
          </a:prstGeom>
        </p:spPr>
      </p:pic>
      <p:sp>
        <p:nvSpPr>
          <p:cNvPr id="33" name="Text 25"/>
          <p:cNvSpPr txBox="1"/>
          <p:nvPr/>
        </p:nvSpPr>
        <p:spPr>
          <a:xfrm>
            <a:off x="5163160" y="4206240"/>
            <a:ext cx="1865376" cy="228600"/>
          </a:xfrm>
          <a:prstGeom prst="rect">
            <a:avLst/>
          </a:prstGeom>
          <a:noFill/>
          <a:ln/>
        </p:spPr>
        <p:txBody>
          <a:bodyPr wrap="square" lIns="0" tIns="0" rIns="0" bIns="0" rtlCol="0" anchor="ctr"/>
          <a:lstStyle/>
          <a:p>
            <a:pPr marL="0" indent="0" algn="ctr">
              <a:buNone/>
            </a:pPr>
            <a:r>
              <a:rPr lang="en-US" sz="1000" b="1" kern="0" spc="100" dirty="0">
                <a:solidFill>
                  <a:srgbClr val="8B1E3F"/>
                </a:solidFill>
                <a:latin typeface="Calibri" pitchFamily="34" charset="0"/>
                <a:ea typeface="Calibri" pitchFamily="34" charset="-122"/>
                <a:cs typeface="Calibri" pitchFamily="34" charset="-120"/>
              </a:rPr>
              <a:t>TASK 03</a:t>
            </a:r>
            <a:endParaRPr lang="en-US" sz="1000" dirty="0"/>
          </a:p>
        </p:txBody>
      </p:sp>
      <p:sp>
        <p:nvSpPr>
          <p:cNvPr id="34" name="Text 26"/>
          <p:cNvSpPr txBox="1"/>
          <p:nvPr/>
        </p:nvSpPr>
        <p:spPr>
          <a:xfrm>
            <a:off x="5163160" y="4453128"/>
            <a:ext cx="1865376" cy="868680"/>
          </a:xfrm>
          <a:prstGeom prst="rect">
            <a:avLst/>
          </a:prstGeom>
          <a:noFill/>
          <a:ln/>
        </p:spPr>
        <p:txBody>
          <a:bodyPr wrap="square" lIns="0" tIns="0" rIns="0" bIns="0" rtlCol="0" anchor="t"/>
          <a:lstStyle/>
          <a:p>
            <a:pPr marL="0" indent="0" algn="ctr">
              <a:buNone/>
            </a:pPr>
            <a:r>
              <a:rPr lang="en-US" sz="1350" b="1" dirty="0">
                <a:solidFill>
                  <a:srgbClr val="1F3A5F"/>
                </a:solidFill>
                <a:latin typeface="Cambria" pitchFamily="34" charset="0"/>
                <a:ea typeface="Cambria" pitchFamily="34" charset="-122"/>
                <a:cs typeface="Cambria" pitchFamily="34" charset="-120"/>
              </a:rPr>
              <a:t>Tic-Tac-Toe Web App</a:t>
            </a:r>
            <a:endParaRPr lang="en-US" sz="1350" dirty="0"/>
          </a:p>
        </p:txBody>
      </p:sp>
      <p:sp>
        <p:nvSpPr>
          <p:cNvPr id="35" name="Shape 27"/>
          <p:cNvSpPr/>
          <p:nvPr/>
        </p:nvSpPr>
        <p:spPr>
          <a:xfrm>
            <a:off x="7321144" y="3154680"/>
            <a:ext cx="2084832" cy="23317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6" name="Shape 28"/>
          <p:cNvSpPr/>
          <p:nvPr/>
        </p:nvSpPr>
        <p:spPr>
          <a:xfrm>
            <a:off x="8020660" y="3406140"/>
            <a:ext cx="685800" cy="685800"/>
          </a:xfrm>
          <a:prstGeom prst="ellipse">
            <a:avLst/>
          </a:prstGeom>
          <a:solidFill>
            <a:srgbClr val="EAF0FB"/>
          </a:solidFill>
          <a:ln/>
        </p:spPr>
      </p:sp>
      <p:pic>
        <p:nvPicPr>
          <p:cNvPr id="37" name="Image 6" descr="/home/claude/pptx_build/icons/portfolio.png"/>
          <p:cNvPicPr>
            <a:picLocks noChangeAspect="1"/>
          </p:cNvPicPr>
          <p:nvPr/>
        </p:nvPicPr>
        <p:blipFill>
          <a:blip r:embed="rId9"/>
          <a:stretch>
            <a:fillRect/>
          </a:stretch>
        </p:blipFill>
        <p:spPr>
          <a:xfrm>
            <a:off x="8171536" y="3557016"/>
            <a:ext cx="384048" cy="384048"/>
          </a:xfrm>
          <a:prstGeom prst="rect">
            <a:avLst/>
          </a:prstGeom>
        </p:spPr>
      </p:pic>
      <p:sp>
        <p:nvSpPr>
          <p:cNvPr id="38" name="Text 29"/>
          <p:cNvSpPr txBox="1"/>
          <p:nvPr/>
        </p:nvSpPr>
        <p:spPr>
          <a:xfrm>
            <a:off x="7430872" y="4206240"/>
            <a:ext cx="1865376" cy="228600"/>
          </a:xfrm>
          <a:prstGeom prst="rect">
            <a:avLst/>
          </a:prstGeom>
          <a:noFill/>
          <a:ln/>
        </p:spPr>
        <p:txBody>
          <a:bodyPr wrap="square" lIns="0" tIns="0" rIns="0" bIns="0" rtlCol="0" anchor="ctr"/>
          <a:lstStyle/>
          <a:p>
            <a:pPr marL="0" indent="0" algn="ctr">
              <a:buNone/>
            </a:pPr>
            <a:r>
              <a:rPr lang="en-US" sz="1000" b="1" kern="0" spc="100" dirty="0">
                <a:solidFill>
                  <a:srgbClr val="8B1E3F"/>
                </a:solidFill>
                <a:latin typeface="Calibri" pitchFamily="34" charset="0"/>
                <a:ea typeface="Calibri" pitchFamily="34" charset="-122"/>
                <a:cs typeface="Calibri" pitchFamily="34" charset="-120"/>
              </a:rPr>
              <a:t>TASK 04</a:t>
            </a:r>
            <a:endParaRPr lang="en-US" sz="1000" dirty="0"/>
          </a:p>
        </p:txBody>
      </p:sp>
      <p:sp>
        <p:nvSpPr>
          <p:cNvPr id="39" name="Text 30"/>
          <p:cNvSpPr txBox="1"/>
          <p:nvPr/>
        </p:nvSpPr>
        <p:spPr>
          <a:xfrm>
            <a:off x="7430872" y="4453128"/>
            <a:ext cx="1865376" cy="868680"/>
          </a:xfrm>
          <a:prstGeom prst="rect">
            <a:avLst/>
          </a:prstGeom>
          <a:noFill/>
          <a:ln/>
        </p:spPr>
        <p:txBody>
          <a:bodyPr wrap="square" lIns="0" tIns="0" rIns="0" bIns="0" rtlCol="0" anchor="t"/>
          <a:lstStyle/>
          <a:p>
            <a:pPr marL="0" indent="0" algn="ctr">
              <a:buNone/>
            </a:pPr>
            <a:r>
              <a:rPr lang="en-US" sz="1350" b="1" dirty="0">
                <a:solidFill>
                  <a:srgbClr val="1F3A5F"/>
                </a:solidFill>
                <a:latin typeface="Cambria" pitchFamily="34" charset="0"/>
                <a:ea typeface="Cambria" pitchFamily="34" charset="-122"/>
                <a:cs typeface="Cambria" pitchFamily="34" charset="-120"/>
              </a:rPr>
              <a:t>Personal Portfolio</a:t>
            </a:r>
            <a:endParaRPr lang="en-US" sz="1350" dirty="0"/>
          </a:p>
        </p:txBody>
      </p:sp>
      <p:sp>
        <p:nvSpPr>
          <p:cNvPr id="40" name="Shape 31"/>
          <p:cNvSpPr/>
          <p:nvPr/>
        </p:nvSpPr>
        <p:spPr>
          <a:xfrm>
            <a:off x="9588856" y="3154680"/>
            <a:ext cx="2084832" cy="23317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1" name="Shape 32"/>
          <p:cNvSpPr/>
          <p:nvPr/>
        </p:nvSpPr>
        <p:spPr>
          <a:xfrm>
            <a:off x="10288372" y="3406140"/>
            <a:ext cx="685800" cy="685800"/>
          </a:xfrm>
          <a:prstGeom prst="ellipse">
            <a:avLst/>
          </a:prstGeom>
          <a:solidFill>
            <a:srgbClr val="EAF0FB"/>
          </a:solidFill>
          <a:ln/>
        </p:spPr>
      </p:sp>
      <p:pic>
        <p:nvPicPr>
          <p:cNvPr id="42" name="Image 7" descr="/home/claude/pptx_build/icons/weather.png"/>
          <p:cNvPicPr>
            <a:picLocks noChangeAspect="1"/>
          </p:cNvPicPr>
          <p:nvPr/>
        </p:nvPicPr>
        <p:blipFill>
          <a:blip r:embed="rId10"/>
          <a:stretch>
            <a:fillRect/>
          </a:stretch>
        </p:blipFill>
        <p:spPr>
          <a:xfrm>
            <a:off x="10439248" y="3557016"/>
            <a:ext cx="384048" cy="384048"/>
          </a:xfrm>
          <a:prstGeom prst="rect">
            <a:avLst/>
          </a:prstGeom>
        </p:spPr>
      </p:pic>
      <p:sp>
        <p:nvSpPr>
          <p:cNvPr id="43" name="Text 33"/>
          <p:cNvSpPr txBox="1"/>
          <p:nvPr/>
        </p:nvSpPr>
        <p:spPr>
          <a:xfrm>
            <a:off x="9698584" y="4206240"/>
            <a:ext cx="1865376" cy="228600"/>
          </a:xfrm>
          <a:prstGeom prst="rect">
            <a:avLst/>
          </a:prstGeom>
          <a:noFill/>
          <a:ln/>
        </p:spPr>
        <p:txBody>
          <a:bodyPr wrap="square" lIns="0" tIns="0" rIns="0" bIns="0" rtlCol="0" anchor="ctr"/>
          <a:lstStyle/>
          <a:p>
            <a:pPr marL="0" indent="0" algn="ctr">
              <a:buNone/>
            </a:pPr>
            <a:r>
              <a:rPr lang="en-US" sz="1000" b="1" kern="0" spc="100" dirty="0">
                <a:solidFill>
                  <a:srgbClr val="8B1E3F"/>
                </a:solidFill>
                <a:latin typeface="Calibri" pitchFamily="34" charset="0"/>
                <a:ea typeface="Calibri" pitchFamily="34" charset="-122"/>
                <a:cs typeface="Calibri" pitchFamily="34" charset="-120"/>
              </a:rPr>
              <a:t>TASK 05</a:t>
            </a:r>
            <a:endParaRPr lang="en-US" sz="1000" dirty="0"/>
          </a:p>
        </p:txBody>
      </p:sp>
      <p:sp>
        <p:nvSpPr>
          <p:cNvPr id="44" name="Text 34"/>
          <p:cNvSpPr txBox="1"/>
          <p:nvPr/>
        </p:nvSpPr>
        <p:spPr>
          <a:xfrm>
            <a:off x="9698584" y="4453128"/>
            <a:ext cx="1865376" cy="868680"/>
          </a:xfrm>
          <a:prstGeom prst="rect">
            <a:avLst/>
          </a:prstGeom>
          <a:noFill/>
          <a:ln/>
        </p:spPr>
        <p:txBody>
          <a:bodyPr wrap="square" lIns="0" tIns="0" rIns="0" bIns="0" rtlCol="0" anchor="t"/>
          <a:lstStyle/>
          <a:p>
            <a:pPr marL="0" indent="0" algn="ctr">
              <a:buNone/>
            </a:pPr>
            <a:r>
              <a:rPr lang="en-US" sz="1350" b="1" dirty="0">
                <a:solidFill>
                  <a:srgbClr val="1F3A5F"/>
                </a:solidFill>
                <a:latin typeface="Cambria" pitchFamily="34" charset="0"/>
                <a:ea typeface="Cambria" pitchFamily="34" charset="-122"/>
                <a:cs typeface="Cambria" pitchFamily="34" charset="-120"/>
              </a:rPr>
              <a:t>Weather Web App</a:t>
            </a:r>
            <a:endParaRPr lang="en-US" sz="1350" dirty="0"/>
          </a:p>
        </p:txBody>
      </p:sp>
      <p:sp>
        <p:nvSpPr>
          <p:cNvPr id="45" name="Text 35"/>
          <p:cNvSpPr txBox="1"/>
          <p:nvPr/>
        </p:nvSpPr>
        <p:spPr>
          <a:xfrm>
            <a:off x="731520" y="5715000"/>
            <a:ext cx="10698480" cy="457200"/>
          </a:xfrm>
          <a:prstGeom prst="rect">
            <a:avLst/>
          </a:prstGeom>
          <a:noFill/>
          <a:ln/>
        </p:spPr>
        <p:txBody>
          <a:bodyPr wrap="square" lIns="0" tIns="0" rIns="0" bIns="0" rtlCol="0" anchor="ctr"/>
          <a:lstStyle/>
          <a:p>
            <a:pPr marL="0" indent="0" algn="ctr">
              <a:buNone/>
            </a:pPr>
            <a:r>
              <a:rPr lang="en-US" sz="1250" i="1" dirty="0">
                <a:solidFill>
                  <a:srgbClr val="667085"/>
                </a:solidFill>
                <a:latin typeface="Calibri" pitchFamily="34" charset="0"/>
                <a:ea typeface="Calibri" pitchFamily="34" charset="-122"/>
                <a:cs typeface="Calibri" pitchFamily="34" charset="-120"/>
              </a:rPr>
              <a:t>All five applications were built using native HTML5, CSS3 and Vanilla JavaScript — no frameworks, no external UI libraries.</a:t>
            </a:r>
            <a:endParaRPr lang="en-US" sz="1250" dirty="0"/>
          </a:p>
        </p:txBody>
      </p:sp>
      <p:sp>
        <p:nvSpPr>
          <p:cNvPr id="46" name="Text 36"/>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47" name="Text 37"/>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ORGANIZATION PROFILE</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Prodigy Infotech</a:t>
            </a:r>
            <a:endParaRPr lang="en-US" sz="3000" dirty="0"/>
          </a:p>
        </p:txBody>
      </p:sp>
      <p:sp>
        <p:nvSpPr>
          <p:cNvPr id="4" name="Shape 2"/>
          <p:cNvSpPr/>
          <p:nvPr/>
        </p:nvSpPr>
        <p:spPr>
          <a:xfrm>
            <a:off x="548640" y="1417320"/>
            <a:ext cx="6400800" cy="4480560"/>
          </a:xfrm>
          <a:prstGeom prst="roundRect">
            <a:avLst>
              <a:gd name="adj" fmla="val 183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914400" y="1737360"/>
            <a:ext cx="640080" cy="640080"/>
          </a:xfrm>
          <a:prstGeom prst="ellipse">
            <a:avLst/>
          </a:prstGeom>
          <a:solidFill>
            <a:srgbClr val="EAF0FB"/>
          </a:solidFill>
          <a:ln/>
        </p:spPr>
      </p:sp>
      <p:pic>
        <p:nvPicPr>
          <p:cNvPr id="6" name="Image 0" descr="/home/claude/pptx_build/icons/briefcase.png"/>
          <p:cNvPicPr>
            <a:picLocks noChangeAspect="1"/>
          </p:cNvPicPr>
          <p:nvPr/>
        </p:nvPicPr>
        <p:blipFill>
          <a:blip r:embed="rId3"/>
          <a:stretch>
            <a:fillRect/>
          </a:stretch>
        </p:blipFill>
        <p:spPr>
          <a:xfrm>
            <a:off x="1055218" y="1878178"/>
            <a:ext cx="358445" cy="358445"/>
          </a:xfrm>
          <a:prstGeom prst="rect">
            <a:avLst/>
          </a:prstGeom>
        </p:spPr>
      </p:pic>
      <p:sp>
        <p:nvSpPr>
          <p:cNvPr id="7" name="Text 4"/>
          <p:cNvSpPr txBox="1"/>
          <p:nvPr/>
        </p:nvSpPr>
        <p:spPr>
          <a:xfrm>
            <a:off x="1691640" y="1783080"/>
            <a:ext cx="5029200" cy="548640"/>
          </a:xfrm>
          <a:prstGeom prst="rect">
            <a:avLst/>
          </a:prstGeom>
          <a:noFill/>
          <a:ln/>
        </p:spPr>
        <p:txBody>
          <a:bodyPr wrap="square" lIns="0" tIns="0" rIns="0" bIns="0" rtlCol="0" anchor="ctr"/>
          <a:lstStyle/>
          <a:p>
            <a:pPr marL="0" indent="0">
              <a:buNone/>
            </a:pPr>
            <a:r>
              <a:rPr lang="en-US" sz="1700" b="1" dirty="0">
                <a:solidFill>
                  <a:srgbClr val="1F3A5F"/>
                </a:solidFill>
                <a:latin typeface="Cambria" pitchFamily="34" charset="0"/>
                <a:ea typeface="Cambria" pitchFamily="34" charset="-122"/>
                <a:cs typeface="Cambria" pitchFamily="34" charset="-120"/>
              </a:rPr>
              <a:t>About the Internship Program</a:t>
            </a:r>
            <a:endParaRPr lang="en-US" sz="1700" dirty="0"/>
          </a:p>
        </p:txBody>
      </p:sp>
      <p:sp>
        <p:nvSpPr>
          <p:cNvPr id="8" name="Shape 5"/>
          <p:cNvSpPr/>
          <p:nvPr/>
        </p:nvSpPr>
        <p:spPr>
          <a:xfrm>
            <a:off x="868680" y="2596896"/>
            <a:ext cx="91440" cy="91440"/>
          </a:xfrm>
          <a:prstGeom prst="ellipse">
            <a:avLst/>
          </a:prstGeom>
          <a:solidFill>
            <a:srgbClr val="8B1E3F"/>
          </a:solidFill>
          <a:ln/>
        </p:spPr>
      </p:sp>
      <p:sp>
        <p:nvSpPr>
          <p:cNvPr id="9" name="Text 6"/>
          <p:cNvSpPr txBox="1"/>
          <p:nvPr/>
        </p:nvSpPr>
        <p:spPr>
          <a:xfrm>
            <a:off x="1097280" y="2441448"/>
            <a:ext cx="5669280" cy="777240"/>
          </a:xfrm>
          <a:prstGeom prst="rect">
            <a:avLst/>
          </a:prstGeom>
          <a:noFill/>
          <a:ln/>
        </p:spPr>
        <p:txBody>
          <a:bodyPr wrap="square" lIns="0" tIns="0" rIns="0" bIns="0" rtlCol="0" anchor="t"/>
          <a:lstStyle/>
          <a:p>
            <a:pPr marL="0" indent="0">
              <a:buNone/>
            </a:pPr>
            <a:r>
              <a:rPr lang="en-US" sz="1250" dirty="0">
                <a:solidFill>
                  <a:srgbClr val="222B3A"/>
                </a:solidFill>
                <a:latin typeface="Calibri" pitchFamily="34" charset="0"/>
                <a:ea typeface="Calibri" pitchFamily="34" charset="-122"/>
                <a:cs typeface="Calibri" pitchFamily="34" charset="-120"/>
              </a:rPr>
              <a:t>Prodigy Infotech offers structured, project-based internship programs in technology domains, including web development.</a:t>
            </a:r>
            <a:endParaRPr lang="en-US" sz="1250" dirty="0"/>
          </a:p>
        </p:txBody>
      </p:sp>
      <p:sp>
        <p:nvSpPr>
          <p:cNvPr id="10" name="Shape 7"/>
          <p:cNvSpPr/>
          <p:nvPr/>
        </p:nvSpPr>
        <p:spPr>
          <a:xfrm>
            <a:off x="868680" y="3465576"/>
            <a:ext cx="91440" cy="91440"/>
          </a:xfrm>
          <a:prstGeom prst="ellipse">
            <a:avLst/>
          </a:prstGeom>
          <a:solidFill>
            <a:srgbClr val="8B1E3F"/>
          </a:solidFill>
          <a:ln/>
        </p:spPr>
      </p:sp>
      <p:sp>
        <p:nvSpPr>
          <p:cNvPr id="11" name="Text 8"/>
          <p:cNvSpPr txBox="1"/>
          <p:nvPr/>
        </p:nvSpPr>
        <p:spPr>
          <a:xfrm>
            <a:off x="1097280" y="3310128"/>
            <a:ext cx="5669280" cy="777240"/>
          </a:xfrm>
          <a:prstGeom prst="rect">
            <a:avLst/>
          </a:prstGeom>
          <a:noFill/>
          <a:ln/>
        </p:spPr>
        <p:txBody>
          <a:bodyPr wrap="square" lIns="0" tIns="0" rIns="0" bIns="0" rtlCol="0" anchor="t"/>
          <a:lstStyle/>
          <a:p>
            <a:pPr marL="0" indent="0">
              <a:buNone/>
            </a:pPr>
            <a:r>
              <a:rPr lang="en-US" sz="1250" dirty="0">
                <a:solidFill>
                  <a:srgbClr val="222B3A"/>
                </a:solidFill>
                <a:latin typeface="Calibri" pitchFamily="34" charset="0"/>
                <a:ea typeface="Calibri" pitchFamily="34" charset="-122"/>
                <a:cs typeface="Calibri" pitchFamily="34" charset="-120"/>
              </a:rPr>
              <a:t>Its Web Development track is organised around a series of practical, task-based assignments rather than a single long-term project.</a:t>
            </a:r>
            <a:endParaRPr lang="en-US" sz="1250" dirty="0"/>
          </a:p>
        </p:txBody>
      </p:sp>
      <p:sp>
        <p:nvSpPr>
          <p:cNvPr id="12" name="Shape 9"/>
          <p:cNvSpPr/>
          <p:nvPr/>
        </p:nvSpPr>
        <p:spPr>
          <a:xfrm>
            <a:off x="868680" y="4334256"/>
            <a:ext cx="91440" cy="91440"/>
          </a:xfrm>
          <a:prstGeom prst="ellipse">
            <a:avLst/>
          </a:prstGeom>
          <a:solidFill>
            <a:srgbClr val="8B1E3F"/>
          </a:solidFill>
          <a:ln/>
        </p:spPr>
      </p:sp>
      <p:sp>
        <p:nvSpPr>
          <p:cNvPr id="13" name="Text 10"/>
          <p:cNvSpPr txBox="1"/>
          <p:nvPr/>
        </p:nvSpPr>
        <p:spPr>
          <a:xfrm>
            <a:off x="1097280" y="4178808"/>
            <a:ext cx="5669280" cy="777240"/>
          </a:xfrm>
          <a:prstGeom prst="rect">
            <a:avLst/>
          </a:prstGeom>
          <a:noFill/>
          <a:ln/>
        </p:spPr>
        <p:txBody>
          <a:bodyPr wrap="square" lIns="0" tIns="0" rIns="0" bIns="0" rtlCol="0" anchor="t"/>
          <a:lstStyle/>
          <a:p>
            <a:pPr marL="0" indent="0">
              <a:buNone/>
            </a:pPr>
            <a:r>
              <a:rPr lang="en-US" sz="1250" dirty="0">
                <a:solidFill>
                  <a:srgbClr val="222B3A"/>
                </a:solidFill>
                <a:latin typeface="Calibri" pitchFamily="34" charset="0"/>
                <a:ea typeface="Calibri" pitchFamily="34" charset="-122"/>
                <a:cs typeface="Calibri" pitchFamily="34" charset="-120"/>
              </a:rPr>
              <a:t>The internship was conducted remotely, with task briefs, evaluation criteria and submission requirements communicated through the program's standard task structure.</a:t>
            </a:r>
            <a:endParaRPr lang="en-US" sz="1250" dirty="0"/>
          </a:p>
        </p:txBody>
      </p:sp>
      <p:sp>
        <p:nvSpPr>
          <p:cNvPr id="14" name="Shape 11"/>
          <p:cNvSpPr/>
          <p:nvPr/>
        </p:nvSpPr>
        <p:spPr>
          <a:xfrm>
            <a:off x="868680" y="5202936"/>
            <a:ext cx="91440" cy="91440"/>
          </a:xfrm>
          <a:prstGeom prst="ellipse">
            <a:avLst/>
          </a:prstGeom>
          <a:solidFill>
            <a:srgbClr val="8B1E3F"/>
          </a:solidFill>
          <a:ln/>
        </p:spPr>
      </p:sp>
      <p:sp>
        <p:nvSpPr>
          <p:cNvPr id="15" name="Text 12"/>
          <p:cNvSpPr txBox="1"/>
          <p:nvPr/>
        </p:nvSpPr>
        <p:spPr>
          <a:xfrm>
            <a:off x="1097280" y="5047488"/>
            <a:ext cx="5669280" cy="777240"/>
          </a:xfrm>
          <a:prstGeom prst="rect">
            <a:avLst/>
          </a:prstGeom>
          <a:noFill/>
          <a:ln/>
        </p:spPr>
        <p:txBody>
          <a:bodyPr wrap="square" lIns="0" tIns="0" rIns="0" bIns="0" rtlCol="0" anchor="t"/>
          <a:lstStyle/>
          <a:p>
            <a:pPr marL="0" indent="0">
              <a:buNone/>
            </a:pPr>
            <a:r>
              <a:rPr lang="en-US" sz="1250" dirty="0">
                <a:solidFill>
                  <a:srgbClr val="222B3A"/>
                </a:solidFill>
                <a:latin typeface="Calibri" pitchFamily="34" charset="0"/>
                <a:ea typeface="Calibri" pitchFamily="34" charset="-122"/>
                <a:cs typeface="Calibri" pitchFamily="34" charset="-120"/>
              </a:rPr>
              <a:t>No individual company mentor or faculty supervisor was formally assigned; the five tasks were completed on a self-directed basis.</a:t>
            </a:r>
            <a:endParaRPr lang="en-US" sz="1250" dirty="0"/>
          </a:p>
        </p:txBody>
      </p:sp>
      <p:sp>
        <p:nvSpPr>
          <p:cNvPr id="16" name="Shape 13"/>
          <p:cNvSpPr/>
          <p:nvPr/>
        </p:nvSpPr>
        <p:spPr>
          <a:xfrm>
            <a:off x="7178040" y="1417320"/>
            <a:ext cx="4480560" cy="4480560"/>
          </a:xfrm>
          <a:prstGeom prst="roundRect">
            <a:avLst>
              <a:gd name="adj" fmla="val 1837"/>
            </a:avLst>
          </a:prstGeom>
          <a:solidFill>
            <a:srgbClr val="FCEFEF"/>
          </a:solidFill>
          <a:ln w="12700">
            <a:solidFill>
              <a:srgbClr val="E9C9D2"/>
            </a:solidFill>
            <a:prstDash val="solid"/>
          </a:ln>
          <a:effectLst>
            <a:outerShdw blurRad="101600" dist="25400" dir="5400000" algn="bl" rotWithShape="0">
              <a:srgbClr val="9AA5B5">
                <a:alpha val="28000"/>
              </a:srgbClr>
            </a:outerShdw>
          </a:effectLst>
        </p:spPr>
      </p:sp>
      <p:sp>
        <p:nvSpPr>
          <p:cNvPr id="17" name="Shape 14"/>
          <p:cNvSpPr/>
          <p:nvPr/>
        </p:nvSpPr>
        <p:spPr>
          <a:xfrm>
            <a:off x="7498080" y="1737360"/>
            <a:ext cx="640080" cy="640080"/>
          </a:xfrm>
          <a:prstGeom prst="ellipse">
            <a:avLst/>
          </a:prstGeom>
          <a:solidFill>
            <a:srgbClr val="F3E0E6"/>
          </a:solidFill>
          <a:ln/>
        </p:spPr>
      </p:sp>
      <p:pic>
        <p:nvPicPr>
          <p:cNvPr id="18" name="Image 1" descr="/home/claude/pptx_build/icons/shield.png"/>
          <p:cNvPicPr>
            <a:picLocks noChangeAspect="1"/>
          </p:cNvPicPr>
          <p:nvPr/>
        </p:nvPicPr>
        <p:blipFill>
          <a:blip r:embed="rId4"/>
          <a:stretch>
            <a:fillRect/>
          </a:stretch>
        </p:blipFill>
        <p:spPr>
          <a:xfrm>
            <a:off x="7638898" y="1878178"/>
            <a:ext cx="358445" cy="358445"/>
          </a:xfrm>
          <a:prstGeom prst="rect">
            <a:avLst/>
          </a:prstGeom>
        </p:spPr>
      </p:pic>
      <p:sp>
        <p:nvSpPr>
          <p:cNvPr id="19" name="Text 15"/>
          <p:cNvSpPr txBox="1"/>
          <p:nvPr/>
        </p:nvSpPr>
        <p:spPr>
          <a:xfrm>
            <a:off x="8275320" y="1783080"/>
            <a:ext cx="3200400" cy="548640"/>
          </a:xfrm>
          <a:prstGeom prst="rect">
            <a:avLst/>
          </a:prstGeom>
          <a:noFill/>
          <a:ln/>
        </p:spPr>
        <p:txBody>
          <a:bodyPr wrap="square" lIns="0" tIns="0" rIns="0" bIns="0" rtlCol="0" anchor="ctr"/>
          <a:lstStyle/>
          <a:p>
            <a:pPr marL="0" indent="0">
              <a:buNone/>
            </a:pPr>
            <a:r>
              <a:rPr lang="en-US" sz="1550" b="1" dirty="0">
                <a:solidFill>
                  <a:srgbClr val="8B1E3F"/>
                </a:solidFill>
                <a:latin typeface="Cambria" pitchFamily="34" charset="0"/>
                <a:ea typeface="Cambria" pitchFamily="34" charset="-122"/>
                <a:cs typeface="Cambria" pitchFamily="34" charset="-120"/>
              </a:rPr>
              <a:t>Scope of This Profile</a:t>
            </a:r>
            <a:endParaRPr lang="en-US" sz="1550" dirty="0"/>
          </a:p>
        </p:txBody>
      </p:sp>
      <p:sp>
        <p:nvSpPr>
          <p:cNvPr id="20" name="Text 16"/>
          <p:cNvSpPr txBox="1"/>
          <p:nvPr/>
        </p:nvSpPr>
        <p:spPr>
          <a:xfrm>
            <a:off x="7452360" y="2514600"/>
            <a:ext cx="3931920" cy="1828800"/>
          </a:xfrm>
          <a:prstGeom prst="rect">
            <a:avLst/>
          </a:prstGeom>
          <a:noFill/>
          <a:ln/>
        </p:spPr>
        <p:txBody>
          <a:bodyPr wrap="square" lIns="0" tIns="0" rIns="0" bIns="0" rtlCol="0" anchor="t"/>
          <a:lstStyle/>
          <a:p>
            <a:pPr marL="0" indent="0">
              <a:buNone/>
            </a:pPr>
            <a:r>
              <a:rPr lang="en-US" sz="1200" dirty="0">
                <a:solidFill>
                  <a:srgbClr val="222B3A"/>
                </a:solidFill>
                <a:latin typeface="Calibri" pitchFamily="34" charset="0"/>
                <a:ea typeface="Calibri" pitchFamily="34" charset="-122"/>
                <a:cs typeface="Calibri" pitchFamily="34" charset="-120"/>
              </a:rPr>
              <a:t>This profile is limited to information directly relevant to the internship experience. Details such as founding history, office locations, leadership, clients, awards or revenue are not established by the available internship material and are intentionally not included here.</a:t>
            </a:r>
            <a:endParaRPr lang="en-US" sz="1200" dirty="0"/>
          </a:p>
        </p:txBody>
      </p:sp>
      <p:sp>
        <p:nvSpPr>
          <p:cNvPr id="21" name="Shape 17"/>
          <p:cNvSpPr/>
          <p:nvPr/>
        </p:nvSpPr>
        <p:spPr>
          <a:xfrm>
            <a:off x="7452360" y="4526280"/>
            <a:ext cx="3931920" cy="0"/>
          </a:xfrm>
          <a:prstGeom prst="line">
            <a:avLst/>
          </a:prstGeom>
          <a:noFill/>
          <a:ln w="12700">
            <a:solidFill>
              <a:srgbClr val="E9C9D2"/>
            </a:solidFill>
            <a:prstDash val="solid"/>
          </a:ln>
        </p:spPr>
      </p:sp>
      <p:sp>
        <p:nvSpPr>
          <p:cNvPr id="22" name="Text 18"/>
          <p:cNvSpPr txBox="1"/>
          <p:nvPr/>
        </p:nvSpPr>
        <p:spPr>
          <a:xfrm>
            <a:off x="7452360" y="4663440"/>
            <a:ext cx="3931920" cy="1097280"/>
          </a:xfrm>
          <a:prstGeom prst="rect">
            <a:avLst/>
          </a:prstGeom>
          <a:noFill/>
          <a:ln/>
        </p:spPr>
        <p:txBody>
          <a:bodyPr wrap="square" lIns="0" tIns="0" rIns="0" bIns="0" rtlCol="0" anchor="t"/>
          <a:lstStyle/>
          <a:p>
            <a:pPr marL="0" indent="0">
              <a:buNone/>
            </a:pPr>
            <a:endParaRPr lang="en-US" sz="1150" dirty="0"/>
          </a:p>
        </p:txBody>
      </p:sp>
      <p:sp>
        <p:nvSpPr>
          <p:cNvPr id="23" name="Text 1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24" name="Text 2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INTERNSHIP OBJECTIVES</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What the Internship Aimed to Build</a:t>
            </a:r>
            <a:endParaRPr lang="en-US" sz="3000" dirty="0"/>
          </a:p>
        </p:txBody>
      </p:sp>
      <p:sp>
        <p:nvSpPr>
          <p:cNvPr id="4" name="Shape 2"/>
          <p:cNvSpPr/>
          <p:nvPr/>
        </p:nvSpPr>
        <p:spPr>
          <a:xfrm>
            <a:off x="548640" y="141732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740664" y="1695069"/>
            <a:ext cx="530352" cy="530352"/>
          </a:xfrm>
          <a:prstGeom prst="ellipse">
            <a:avLst/>
          </a:prstGeom>
          <a:solidFill>
            <a:srgbClr val="EAF0FB"/>
          </a:solidFill>
          <a:ln/>
        </p:spPr>
      </p:sp>
      <p:pic>
        <p:nvPicPr>
          <p:cNvPr id="6" name="Image 0" descr="/home/claude/pptx_build/icons/html5.png"/>
          <p:cNvPicPr>
            <a:picLocks noChangeAspect="1"/>
          </p:cNvPicPr>
          <p:nvPr/>
        </p:nvPicPr>
        <p:blipFill>
          <a:blip r:embed="rId3"/>
          <a:stretch>
            <a:fillRect/>
          </a:stretch>
        </p:blipFill>
        <p:spPr>
          <a:xfrm>
            <a:off x="857341" y="1811746"/>
            <a:ext cx="296997" cy="296997"/>
          </a:xfrm>
          <a:prstGeom prst="rect">
            <a:avLst/>
          </a:prstGeom>
        </p:spPr>
      </p:pic>
      <p:sp>
        <p:nvSpPr>
          <p:cNvPr id="7" name="Text 4"/>
          <p:cNvSpPr txBox="1"/>
          <p:nvPr/>
        </p:nvSpPr>
        <p:spPr>
          <a:xfrm>
            <a:off x="1353312" y="149047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Strengthen HTML5 &amp; CSS3 skills</a:t>
            </a:r>
            <a:endParaRPr lang="en-US" sz="1200" dirty="0"/>
          </a:p>
        </p:txBody>
      </p:sp>
      <p:sp>
        <p:nvSpPr>
          <p:cNvPr id="8" name="Shape 5"/>
          <p:cNvSpPr/>
          <p:nvPr/>
        </p:nvSpPr>
        <p:spPr>
          <a:xfrm>
            <a:off x="4312920" y="141732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9" name="Shape 6"/>
          <p:cNvSpPr/>
          <p:nvPr/>
        </p:nvSpPr>
        <p:spPr>
          <a:xfrm>
            <a:off x="4504944" y="1695069"/>
            <a:ext cx="530352" cy="530352"/>
          </a:xfrm>
          <a:prstGeom prst="ellipse">
            <a:avLst/>
          </a:prstGeom>
          <a:solidFill>
            <a:srgbClr val="EAF0FB"/>
          </a:solidFill>
          <a:ln/>
        </p:spPr>
      </p:sp>
      <p:pic>
        <p:nvPicPr>
          <p:cNvPr id="10" name="Image 1" descr="/home/claude/pptx_build/icons/js.png"/>
          <p:cNvPicPr>
            <a:picLocks noChangeAspect="1"/>
          </p:cNvPicPr>
          <p:nvPr/>
        </p:nvPicPr>
        <p:blipFill>
          <a:blip r:embed="rId4"/>
          <a:stretch>
            <a:fillRect/>
          </a:stretch>
        </p:blipFill>
        <p:spPr>
          <a:xfrm>
            <a:off x="4621621" y="1811746"/>
            <a:ext cx="296997" cy="296997"/>
          </a:xfrm>
          <a:prstGeom prst="rect">
            <a:avLst/>
          </a:prstGeom>
        </p:spPr>
      </p:pic>
      <p:sp>
        <p:nvSpPr>
          <p:cNvPr id="11" name="Text 7"/>
          <p:cNvSpPr txBox="1"/>
          <p:nvPr/>
        </p:nvSpPr>
        <p:spPr>
          <a:xfrm>
            <a:off x="5117592" y="149047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Build interactive UIs with Vanilla JavaScript</a:t>
            </a:r>
            <a:endParaRPr lang="en-US" sz="1200" dirty="0"/>
          </a:p>
        </p:txBody>
      </p:sp>
      <p:sp>
        <p:nvSpPr>
          <p:cNvPr id="12" name="Shape 8"/>
          <p:cNvSpPr/>
          <p:nvPr/>
        </p:nvSpPr>
        <p:spPr>
          <a:xfrm>
            <a:off x="8077200" y="141732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3" name="Shape 9"/>
          <p:cNvSpPr/>
          <p:nvPr/>
        </p:nvSpPr>
        <p:spPr>
          <a:xfrm>
            <a:off x="8269224" y="1695069"/>
            <a:ext cx="530352" cy="530352"/>
          </a:xfrm>
          <a:prstGeom prst="ellipse">
            <a:avLst/>
          </a:prstGeom>
          <a:solidFill>
            <a:srgbClr val="EAF0FB"/>
          </a:solidFill>
          <a:ln/>
        </p:spPr>
      </p:sp>
      <p:pic>
        <p:nvPicPr>
          <p:cNvPr id="14" name="Image 2" descr="/home/claude/pptx_build/icons/dom.png"/>
          <p:cNvPicPr>
            <a:picLocks noChangeAspect="1"/>
          </p:cNvPicPr>
          <p:nvPr/>
        </p:nvPicPr>
        <p:blipFill>
          <a:blip r:embed="rId5"/>
          <a:stretch>
            <a:fillRect/>
          </a:stretch>
        </p:blipFill>
        <p:spPr>
          <a:xfrm>
            <a:off x="8385901" y="1811746"/>
            <a:ext cx="296997" cy="296997"/>
          </a:xfrm>
          <a:prstGeom prst="rect">
            <a:avLst/>
          </a:prstGeom>
        </p:spPr>
      </p:pic>
      <p:sp>
        <p:nvSpPr>
          <p:cNvPr id="15" name="Text 10"/>
          <p:cNvSpPr txBox="1"/>
          <p:nvPr/>
        </p:nvSpPr>
        <p:spPr>
          <a:xfrm>
            <a:off x="8881872" y="149047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Understand DOM manipulation</a:t>
            </a:r>
            <a:endParaRPr lang="en-US" sz="1200" dirty="0"/>
          </a:p>
        </p:txBody>
      </p:sp>
      <p:sp>
        <p:nvSpPr>
          <p:cNvPr id="16" name="Shape 11"/>
          <p:cNvSpPr/>
          <p:nvPr/>
        </p:nvSpPr>
        <p:spPr>
          <a:xfrm>
            <a:off x="548640" y="268605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7" name="Shape 12"/>
          <p:cNvSpPr/>
          <p:nvPr/>
        </p:nvSpPr>
        <p:spPr>
          <a:xfrm>
            <a:off x="740664" y="2963799"/>
            <a:ext cx="530352" cy="530352"/>
          </a:xfrm>
          <a:prstGeom prst="ellipse">
            <a:avLst/>
          </a:prstGeom>
          <a:solidFill>
            <a:srgbClr val="EAF0FB"/>
          </a:solidFill>
          <a:ln/>
        </p:spPr>
      </p:sp>
      <p:pic>
        <p:nvPicPr>
          <p:cNvPr id="18" name="Image 3" descr="/home/claude/pptx_build/icons/responsive.png"/>
          <p:cNvPicPr>
            <a:picLocks noChangeAspect="1"/>
          </p:cNvPicPr>
          <p:nvPr/>
        </p:nvPicPr>
        <p:blipFill>
          <a:blip r:embed="rId6"/>
          <a:stretch>
            <a:fillRect/>
          </a:stretch>
        </p:blipFill>
        <p:spPr>
          <a:xfrm>
            <a:off x="857341" y="3080476"/>
            <a:ext cx="296997" cy="296997"/>
          </a:xfrm>
          <a:prstGeom prst="rect">
            <a:avLst/>
          </a:prstGeom>
        </p:spPr>
      </p:pic>
      <p:sp>
        <p:nvSpPr>
          <p:cNvPr id="19" name="Text 13"/>
          <p:cNvSpPr txBox="1"/>
          <p:nvPr/>
        </p:nvSpPr>
        <p:spPr>
          <a:xfrm>
            <a:off x="1353312" y="275920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Build responsive interfaces</a:t>
            </a:r>
            <a:endParaRPr lang="en-US" sz="1200" dirty="0"/>
          </a:p>
        </p:txBody>
      </p:sp>
      <p:sp>
        <p:nvSpPr>
          <p:cNvPr id="20" name="Shape 14"/>
          <p:cNvSpPr/>
          <p:nvPr/>
        </p:nvSpPr>
        <p:spPr>
          <a:xfrm>
            <a:off x="4312920" y="268605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1" name="Shape 15"/>
          <p:cNvSpPr/>
          <p:nvPr/>
        </p:nvSpPr>
        <p:spPr>
          <a:xfrm>
            <a:off x="4504944" y="2963799"/>
            <a:ext cx="530352" cy="530352"/>
          </a:xfrm>
          <a:prstGeom prst="ellipse">
            <a:avLst/>
          </a:prstGeom>
          <a:solidFill>
            <a:srgbClr val="EAF0FB"/>
          </a:solidFill>
          <a:ln/>
        </p:spPr>
      </p:sp>
      <p:pic>
        <p:nvPicPr>
          <p:cNvPr id="22" name="Image 4" descr="/home/claude/pptx_build/icons/accessibility.png"/>
          <p:cNvPicPr>
            <a:picLocks noChangeAspect="1"/>
          </p:cNvPicPr>
          <p:nvPr/>
        </p:nvPicPr>
        <p:blipFill>
          <a:blip r:embed="rId7"/>
          <a:stretch>
            <a:fillRect/>
          </a:stretch>
        </p:blipFill>
        <p:spPr>
          <a:xfrm>
            <a:off x="4621621" y="3080476"/>
            <a:ext cx="296997" cy="296997"/>
          </a:xfrm>
          <a:prstGeom prst="rect">
            <a:avLst/>
          </a:prstGeom>
        </p:spPr>
      </p:pic>
      <p:sp>
        <p:nvSpPr>
          <p:cNvPr id="23" name="Text 16"/>
          <p:cNvSpPr txBox="1"/>
          <p:nvPr/>
        </p:nvSpPr>
        <p:spPr>
          <a:xfrm>
            <a:off x="5117592" y="275920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Apply accessibility practices</a:t>
            </a:r>
            <a:endParaRPr lang="en-US" sz="1200" dirty="0"/>
          </a:p>
        </p:txBody>
      </p:sp>
      <p:sp>
        <p:nvSpPr>
          <p:cNvPr id="24" name="Shape 17"/>
          <p:cNvSpPr/>
          <p:nvPr/>
        </p:nvSpPr>
        <p:spPr>
          <a:xfrm>
            <a:off x="8077200" y="268605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5" name="Shape 18"/>
          <p:cNvSpPr/>
          <p:nvPr/>
        </p:nvSpPr>
        <p:spPr>
          <a:xfrm>
            <a:off x="8269224" y="2963799"/>
            <a:ext cx="530352" cy="530352"/>
          </a:xfrm>
          <a:prstGeom prst="ellipse">
            <a:avLst/>
          </a:prstGeom>
          <a:solidFill>
            <a:srgbClr val="EAF0FB"/>
          </a:solidFill>
          <a:ln/>
        </p:spPr>
      </p:sp>
      <p:pic>
        <p:nvPicPr>
          <p:cNvPr id="26" name="Image 5" descr="/home/claude/pptx_build/icons/api.png"/>
          <p:cNvPicPr>
            <a:picLocks noChangeAspect="1"/>
          </p:cNvPicPr>
          <p:nvPr/>
        </p:nvPicPr>
        <p:blipFill>
          <a:blip r:embed="rId8"/>
          <a:stretch>
            <a:fillRect/>
          </a:stretch>
        </p:blipFill>
        <p:spPr>
          <a:xfrm>
            <a:off x="8385901" y="3080476"/>
            <a:ext cx="296997" cy="296997"/>
          </a:xfrm>
          <a:prstGeom prst="rect">
            <a:avLst/>
          </a:prstGeom>
        </p:spPr>
      </p:pic>
      <p:sp>
        <p:nvSpPr>
          <p:cNvPr id="27" name="Text 19"/>
          <p:cNvSpPr txBox="1"/>
          <p:nvPr/>
        </p:nvSpPr>
        <p:spPr>
          <a:xfrm>
            <a:off x="8881872" y="275920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Implement &amp; integrate browser and external APIs</a:t>
            </a:r>
            <a:endParaRPr lang="en-US" sz="1200" dirty="0"/>
          </a:p>
        </p:txBody>
      </p:sp>
      <p:sp>
        <p:nvSpPr>
          <p:cNvPr id="28" name="Shape 20"/>
          <p:cNvSpPr/>
          <p:nvPr/>
        </p:nvSpPr>
        <p:spPr>
          <a:xfrm>
            <a:off x="548640" y="395478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9" name="Shape 21"/>
          <p:cNvSpPr/>
          <p:nvPr/>
        </p:nvSpPr>
        <p:spPr>
          <a:xfrm>
            <a:off x="740664" y="4232529"/>
            <a:ext cx="530352" cy="530352"/>
          </a:xfrm>
          <a:prstGeom prst="ellipse">
            <a:avLst/>
          </a:prstGeom>
          <a:solidFill>
            <a:srgbClr val="EAF0FB"/>
          </a:solidFill>
          <a:ln/>
        </p:spPr>
      </p:sp>
      <p:pic>
        <p:nvPicPr>
          <p:cNvPr id="30" name="Image 6" descr="/home/claude/pptx_build/icons/cpu.png"/>
          <p:cNvPicPr>
            <a:picLocks noChangeAspect="1"/>
          </p:cNvPicPr>
          <p:nvPr/>
        </p:nvPicPr>
        <p:blipFill>
          <a:blip r:embed="rId9"/>
          <a:stretch>
            <a:fillRect/>
          </a:stretch>
        </p:blipFill>
        <p:spPr>
          <a:xfrm>
            <a:off x="857341" y="4349206"/>
            <a:ext cx="296997" cy="296997"/>
          </a:xfrm>
          <a:prstGeom prst="rect">
            <a:avLst/>
          </a:prstGeom>
        </p:spPr>
      </p:pic>
      <p:sp>
        <p:nvSpPr>
          <p:cNvPr id="31" name="Text 22"/>
          <p:cNvSpPr txBox="1"/>
          <p:nvPr/>
        </p:nvSpPr>
        <p:spPr>
          <a:xfrm>
            <a:off x="1353312" y="402793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Practice JavaScript state management</a:t>
            </a:r>
            <a:endParaRPr lang="en-US" sz="1200" dirty="0"/>
          </a:p>
        </p:txBody>
      </p:sp>
      <p:sp>
        <p:nvSpPr>
          <p:cNvPr id="32" name="Shape 23"/>
          <p:cNvSpPr/>
          <p:nvPr/>
        </p:nvSpPr>
        <p:spPr>
          <a:xfrm>
            <a:off x="4312920" y="395478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3" name="Shape 24"/>
          <p:cNvSpPr/>
          <p:nvPr/>
        </p:nvSpPr>
        <p:spPr>
          <a:xfrm>
            <a:off x="4504944" y="4232529"/>
            <a:ext cx="530352" cy="530352"/>
          </a:xfrm>
          <a:prstGeom prst="ellipse">
            <a:avLst/>
          </a:prstGeom>
          <a:solidFill>
            <a:srgbClr val="EAF0FB"/>
          </a:solidFill>
          <a:ln/>
        </p:spPr>
      </p:sp>
      <p:pic>
        <p:nvPicPr>
          <p:cNvPr id="34" name="Image 7" descr="/home/claude/pptx_build/icons/puzzle.png"/>
          <p:cNvPicPr>
            <a:picLocks noChangeAspect="1"/>
          </p:cNvPicPr>
          <p:nvPr/>
        </p:nvPicPr>
        <p:blipFill>
          <a:blip r:embed="rId10"/>
          <a:stretch>
            <a:fillRect/>
          </a:stretch>
        </p:blipFill>
        <p:spPr>
          <a:xfrm>
            <a:off x="4621621" y="4349206"/>
            <a:ext cx="296997" cy="296997"/>
          </a:xfrm>
          <a:prstGeom prst="rect">
            <a:avLst/>
          </a:prstGeom>
        </p:spPr>
      </p:pic>
      <p:sp>
        <p:nvSpPr>
          <p:cNvPr id="35" name="Text 25"/>
          <p:cNvSpPr txBox="1"/>
          <p:nvPr/>
        </p:nvSpPr>
        <p:spPr>
          <a:xfrm>
            <a:off x="5117592" y="402793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Develop algorithmic problem-solving skills</a:t>
            </a:r>
            <a:endParaRPr lang="en-US" sz="1200" dirty="0"/>
          </a:p>
        </p:txBody>
      </p:sp>
      <p:sp>
        <p:nvSpPr>
          <p:cNvPr id="36" name="Shape 26"/>
          <p:cNvSpPr/>
          <p:nvPr/>
        </p:nvSpPr>
        <p:spPr>
          <a:xfrm>
            <a:off x="8077200" y="395478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7" name="Shape 27"/>
          <p:cNvSpPr/>
          <p:nvPr/>
        </p:nvSpPr>
        <p:spPr>
          <a:xfrm>
            <a:off x="8269224" y="4232529"/>
            <a:ext cx="530352" cy="530352"/>
          </a:xfrm>
          <a:prstGeom prst="ellipse">
            <a:avLst/>
          </a:prstGeom>
          <a:solidFill>
            <a:srgbClr val="EAF0FB"/>
          </a:solidFill>
          <a:ln/>
        </p:spPr>
      </p:sp>
      <p:pic>
        <p:nvPicPr>
          <p:cNvPr id="38" name="Image 8" descr="/home/claude/pptx_build/icons/bug.png"/>
          <p:cNvPicPr>
            <a:picLocks noChangeAspect="1"/>
          </p:cNvPicPr>
          <p:nvPr/>
        </p:nvPicPr>
        <p:blipFill>
          <a:blip r:embed="rId11"/>
          <a:stretch>
            <a:fillRect/>
          </a:stretch>
        </p:blipFill>
        <p:spPr>
          <a:xfrm>
            <a:off x="8385901" y="4349206"/>
            <a:ext cx="296997" cy="296997"/>
          </a:xfrm>
          <a:prstGeom prst="rect">
            <a:avLst/>
          </a:prstGeom>
        </p:spPr>
      </p:pic>
      <p:sp>
        <p:nvSpPr>
          <p:cNvPr id="39" name="Text 28"/>
          <p:cNvSpPr txBox="1"/>
          <p:nvPr/>
        </p:nvSpPr>
        <p:spPr>
          <a:xfrm>
            <a:off x="8881872" y="402793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Practice testing and debugging</a:t>
            </a:r>
            <a:endParaRPr lang="en-US" sz="1200" dirty="0"/>
          </a:p>
        </p:txBody>
      </p:sp>
      <p:sp>
        <p:nvSpPr>
          <p:cNvPr id="40" name="Shape 29"/>
          <p:cNvSpPr/>
          <p:nvPr/>
        </p:nvSpPr>
        <p:spPr>
          <a:xfrm>
            <a:off x="548640" y="522351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1" name="Shape 30"/>
          <p:cNvSpPr/>
          <p:nvPr/>
        </p:nvSpPr>
        <p:spPr>
          <a:xfrm>
            <a:off x="740664" y="5501259"/>
            <a:ext cx="530352" cy="530352"/>
          </a:xfrm>
          <a:prstGeom prst="ellipse">
            <a:avLst/>
          </a:prstGeom>
          <a:solidFill>
            <a:srgbClr val="EAF0FB"/>
          </a:solidFill>
          <a:ln/>
        </p:spPr>
      </p:sp>
      <p:pic>
        <p:nvPicPr>
          <p:cNvPr id="42" name="Image 9" descr="/home/claude/pptx_build/icons/git.png"/>
          <p:cNvPicPr>
            <a:picLocks noChangeAspect="1"/>
          </p:cNvPicPr>
          <p:nvPr/>
        </p:nvPicPr>
        <p:blipFill>
          <a:blip r:embed="rId12"/>
          <a:stretch>
            <a:fillRect/>
          </a:stretch>
        </p:blipFill>
        <p:spPr>
          <a:xfrm>
            <a:off x="857341" y="5617936"/>
            <a:ext cx="296997" cy="296997"/>
          </a:xfrm>
          <a:prstGeom prst="rect">
            <a:avLst/>
          </a:prstGeom>
        </p:spPr>
      </p:pic>
      <p:sp>
        <p:nvSpPr>
          <p:cNvPr id="43" name="Text 31"/>
          <p:cNvSpPr txBox="1"/>
          <p:nvPr/>
        </p:nvSpPr>
        <p:spPr>
          <a:xfrm>
            <a:off x="1353312" y="529666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Use Git &amp; GitHub for version control</a:t>
            </a:r>
            <a:endParaRPr lang="en-US" sz="1200" dirty="0"/>
          </a:p>
        </p:txBody>
      </p:sp>
      <p:sp>
        <p:nvSpPr>
          <p:cNvPr id="44" name="Shape 32"/>
          <p:cNvSpPr/>
          <p:nvPr/>
        </p:nvSpPr>
        <p:spPr>
          <a:xfrm>
            <a:off x="4312920" y="522351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5" name="Shape 33"/>
          <p:cNvSpPr/>
          <p:nvPr/>
        </p:nvSpPr>
        <p:spPr>
          <a:xfrm>
            <a:off x="4504944" y="5501259"/>
            <a:ext cx="530352" cy="530352"/>
          </a:xfrm>
          <a:prstGeom prst="ellipse">
            <a:avLst/>
          </a:prstGeom>
          <a:solidFill>
            <a:srgbClr val="EAF0FB"/>
          </a:solidFill>
          <a:ln/>
        </p:spPr>
      </p:sp>
      <p:pic>
        <p:nvPicPr>
          <p:cNvPr id="46" name="Image 10" descr="/home/claude/pptx_build/icons/filetext.png"/>
          <p:cNvPicPr>
            <a:picLocks noChangeAspect="1"/>
          </p:cNvPicPr>
          <p:nvPr/>
        </p:nvPicPr>
        <p:blipFill>
          <a:blip r:embed="rId13"/>
          <a:stretch>
            <a:fillRect/>
          </a:stretch>
        </p:blipFill>
        <p:spPr>
          <a:xfrm>
            <a:off x="4621621" y="5617936"/>
            <a:ext cx="296997" cy="296997"/>
          </a:xfrm>
          <a:prstGeom prst="rect">
            <a:avLst/>
          </a:prstGeom>
        </p:spPr>
      </p:pic>
      <p:sp>
        <p:nvSpPr>
          <p:cNvPr id="47" name="Text 34"/>
          <p:cNvSpPr txBox="1"/>
          <p:nvPr/>
        </p:nvSpPr>
        <p:spPr>
          <a:xfrm>
            <a:off x="5117592" y="529666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Improve technical documentation</a:t>
            </a:r>
            <a:endParaRPr lang="en-US" sz="1200" dirty="0"/>
          </a:p>
        </p:txBody>
      </p:sp>
      <p:sp>
        <p:nvSpPr>
          <p:cNvPr id="48" name="Shape 35"/>
          <p:cNvSpPr/>
          <p:nvPr/>
        </p:nvSpPr>
        <p:spPr>
          <a:xfrm>
            <a:off x="8077200" y="5223510"/>
            <a:ext cx="3535680" cy="1085850"/>
          </a:xfrm>
          <a:prstGeom prst="roundRect">
            <a:avLst>
              <a:gd name="adj" fmla="val 757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9" name="Shape 36"/>
          <p:cNvSpPr/>
          <p:nvPr/>
        </p:nvSpPr>
        <p:spPr>
          <a:xfrm>
            <a:off x="8269224" y="5501259"/>
            <a:ext cx="530352" cy="530352"/>
          </a:xfrm>
          <a:prstGeom prst="ellipse">
            <a:avLst/>
          </a:prstGeom>
          <a:solidFill>
            <a:srgbClr val="EAF0FB"/>
          </a:solidFill>
          <a:ln/>
        </p:spPr>
      </p:sp>
      <p:pic>
        <p:nvPicPr>
          <p:cNvPr id="50" name="Image 11" descr="/home/claude/pptx_build/icons/target.png"/>
          <p:cNvPicPr>
            <a:picLocks noChangeAspect="1"/>
          </p:cNvPicPr>
          <p:nvPr/>
        </p:nvPicPr>
        <p:blipFill>
          <a:blip r:embed="rId14"/>
          <a:stretch>
            <a:fillRect/>
          </a:stretch>
        </p:blipFill>
        <p:spPr>
          <a:xfrm>
            <a:off x="8385901" y="5617936"/>
            <a:ext cx="296997" cy="296997"/>
          </a:xfrm>
          <a:prstGeom prst="rect">
            <a:avLst/>
          </a:prstGeom>
        </p:spPr>
      </p:pic>
      <p:sp>
        <p:nvSpPr>
          <p:cNvPr id="51" name="Text 37"/>
          <p:cNvSpPr txBox="1"/>
          <p:nvPr/>
        </p:nvSpPr>
        <p:spPr>
          <a:xfrm>
            <a:off x="8881872" y="5296662"/>
            <a:ext cx="2621280" cy="939546"/>
          </a:xfrm>
          <a:prstGeom prst="rect">
            <a:avLst/>
          </a:prstGeom>
          <a:noFill/>
          <a:ln/>
        </p:spPr>
        <p:txBody>
          <a:bodyPr wrap="square" lIns="0" tIns="0" rIns="0" bIns="0" rtlCol="0" anchor="ctr"/>
          <a:lstStyle/>
          <a:p>
            <a:pPr marL="0" indent="0">
              <a:buNone/>
            </a:pPr>
            <a:r>
              <a:rPr lang="en-US" sz="1200" b="1" dirty="0">
                <a:solidFill>
                  <a:srgbClr val="222B3A"/>
                </a:solidFill>
                <a:latin typeface="Calibri" pitchFamily="34" charset="0"/>
                <a:ea typeface="Calibri" pitchFamily="34" charset="-122"/>
                <a:cs typeface="Calibri" pitchFamily="34" charset="-120"/>
              </a:rPr>
              <a:t>Deliver five complete, working applications</a:t>
            </a:r>
            <a:endParaRPr lang="en-US" sz="1200" dirty="0"/>
          </a:p>
        </p:txBody>
      </p:sp>
      <p:sp>
        <p:nvSpPr>
          <p:cNvPr id="52" name="Text 38"/>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53" name="Text 39"/>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TECHNOLOGY STACK</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Core Technologies Used Across All Five Tasks</a:t>
            </a:r>
            <a:endParaRPr lang="en-US" sz="3000" dirty="0"/>
          </a:p>
        </p:txBody>
      </p:sp>
      <p:sp>
        <p:nvSpPr>
          <p:cNvPr id="4" name="Shape 2"/>
          <p:cNvSpPr/>
          <p:nvPr/>
        </p:nvSpPr>
        <p:spPr>
          <a:xfrm>
            <a:off x="481432"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1084936" y="1600200"/>
            <a:ext cx="512064" cy="512064"/>
          </a:xfrm>
          <a:prstGeom prst="ellipse">
            <a:avLst/>
          </a:prstGeom>
          <a:solidFill>
            <a:srgbClr val="EAF0FB"/>
          </a:solidFill>
          <a:ln/>
        </p:spPr>
      </p:sp>
      <p:pic>
        <p:nvPicPr>
          <p:cNvPr id="6" name="Image 0" descr="/home/claude/pptx_build/icons/html5.png"/>
          <p:cNvPicPr>
            <a:picLocks noChangeAspect="1"/>
          </p:cNvPicPr>
          <p:nvPr/>
        </p:nvPicPr>
        <p:blipFill>
          <a:blip r:embed="rId3"/>
          <a:stretch>
            <a:fillRect/>
          </a:stretch>
        </p:blipFill>
        <p:spPr>
          <a:xfrm>
            <a:off x="1197590" y="1712854"/>
            <a:ext cx="286756" cy="286756"/>
          </a:xfrm>
          <a:prstGeom prst="rect">
            <a:avLst/>
          </a:prstGeom>
        </p:spPr>
      </p:pic>
      <p:sp>
        <p:nvSpPr>
          <p:cNvPr id="7" name="Text 4"/>
          <p:cNvSpPr txBox="1"/>
          <p:nvPr/>
        </p:nvSpPr>
        <p:spPr>
          <a:xfrm>
            <a:off x="527152"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HTML5</a:t>
            </a:r>
            <a:endParaRPr lang="en-US" sz="1150" dirty="0"/>
          </a:p>
        </p:txBody>
      </p:sp>
      <p:sp>
        <p:nvSpPr>
          <p:cNvPr id="8" name="Shape 5"/>
          <p:cNvSpPr/>
          <p:nvPr/>
        </p:nvSpPr>
        <p:spPr>
          <a:xfrm>
            <a:off x="2383384"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9" name="Shape 6"/>
          <p:cNvSpPr/>
          <p:nvPr/>
        </p:nvSpPr>
        <p:spPr>
          <a:xfrm>
            <a:off x="2986888" y="1600200"/>
            <a:ext cx="512064" cy="512064"/>
          </a:xfrm>
          <a:prstGeom prst="ellipse">
            <a:avLst/>
          </a:prstGeom>
          <a:solidFill>
            <a:srgbClr val="EAF0FB"/>
          </a:solidFill>
          <a:ln/>
        </p:spPr>
      </p:sp>
      <p:pic>
        <p:nvPicPr>
          <p:cNvPr id="10" name="Image 1" descr="/home/claude/pptx_build/icons/css3.png"/>
          <p:cNvPicPr>
            <a:picLocks noChangeAspect="1"/>
          </p:cNvPicPr>
          <p:nvPr/>
        </p:nvPicPr>
        <p:blipFill>
          <a:blip r:embed="rId4"/>
          <a:stretch>
            <a:fillRect/>
          </a:stretch>
        </p:blipFill>
        <p:spPr>
          <a:xfrm>
            <a:off x="3099542" y="1712854"/>
            <a:ext cx="286756" cy="286756"/>
          </a:xfrm>
          <a:prstGeom prst="rect">
            <a:avLst/>
          </a:prstGeom>
        </p:spPr>
      </p:pic>
      <p:sp>
        <p:nvSpPr>
          <p:cNvPr id="11" name="Text 7"/>
          <p:cNvSpPr txBox="1"/>
          <p:nvPr/>
        </p:nvSpPr>
        <p:spPr>
          <a:xfrm>
            <a:off x="2429104"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CSS3</a:t>
            </a:r>
            <a:endParaRPr lang="en-US" sz="1150" dirty="0"/>
          </a:p>
        </p:txBody>
      </p:sp>
      <p:sp>
        <p:nvSpPr>
          <p:cNvPr id="12" name="Shape 8"/>
          <p:cNvSpPr/>
          <p:nvPr/>
        </p:nvSpPr>
        <p:spPr>
          <a:xfrm>
            <a:off x="4285336"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3" name="Shape 9"/>
          <p:cNvSpPr/>
          <p:nvPr/>
        </p:nvSpPr>
        <p:spPr>
          <a:xfrm>
            <a:off x="4888840" y="1600200"/>
            <a:ext cx="512064" cy="512064"/>
          </a:xfrm>
          <a:prstGeom prst="ellipse">
            <a:avLst/>
          </a:prstGeom>
          <a:solidFill>
            <a:srgbClr val="EAF0FB"/>
          </a:solidFill>
          <a:ln/>
        </p:spPr>
      </p:sp>
      <p:pic>
        <p:nvPicPr>
          <p:cNvPr id="14" name="Image 2" descr="/home/claude/pptx_build/icons/js.png"/>
          <p:cNvPicPr>
            <a:picLocks noChangeAspect="1"/>
          </p:cNvPicPr>
          <p:nvPr/>
        </p:nvPicPr>
        <p:blipFill>
          <a:blip r:embed="rId5"/>
          <a:stretch>
            <a:fillRect/>
          </a:stretch>
        </p:blipFill>
        <p:spPr>
          <a:xfrm>
            <a:off x="5001494" y="1712854"/>
            <a:ext cx="286756" cy="286756"/>
          </a:xfrm>
          <a:prstGeom prst="rect">
            <a:avLst/>
          </a:prstGeom>
        </p:spPr>
      </p:pic>
      <p:sp>
        <p:nvSpPr>
          <p:cNvPr id="15" name="Text 10"/>
          <p:cNvSpPr txBox="1"/>
          <p:nvPr/>
        </p:nvSpPr>
        <p:spPr>
          <a:xfrm>
            <a:off x="4331056"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JavaScript ES6+</a:t>
            </a:r>
            <a:endParaRPr lang="en-US" sz="1150" dirty="0"/>
          </a:p>
        </p:txBody>
      </p:sp>
      <p:sp>
        <p:nvSpPr>
          <p:cNvPr id="16" name="Shape 11"/>
          <p:cNvSpPr/>
          <p:nvPr/>
        </p:nvSpPr>
        <p:spPr>
          <a:xfrm>
            <a:off x="6187288"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7" name="Shape 12"/>
          <p:cNvSpPr/>
          <p:nvPr/>
        </p:nvSpPr>
        <p:spPr>
          <a:xfrm>
            <a:off x="6790792" y="1600200"/>
            <a:ext cx="512064" cy="512064"/>
          </a:xfrm>
          <a:prstGeom prst="ellipse">
            <a:avLst/>
          </a:prstGeom>
          <a:solidFill>
            <a:srgbClr val="EAF0FB"/>
          </a:solidFill>
          <a:ln/>
        </p:spPr>
      </p:sp>
      <p:pic>
        <p:nvPicPr>
          <p:cNvPr id="18" name="Image 3" descr="/home/claude/pptx_build/icons/git.png"/>
          <p:cNvPicPr>
            <a:picLocks noChangeAspect="1"/>
          </p:cNvPicPr>
          <p:nvPr/>
        </p:nvPicPr>
        <p:blipFill>
          <a:blip r:embed="rId6"/>
          <a:stretch>
            <a:fillRect/>
          </a:stretch>
        </p:blipFill>
        <p:spPr>
          <a:xfrm>
            <a:off x="6903446" y="1712854"/>
            <a:ext cx="286756" cy="286756"/>
          </a:xfrm>
          <a:prstGeom prst="rect">
            <a:avLst/>
          </a:prstGeom>
        </p:spPr>
      </p:pic>
      <p:sp>
        <p:nvSpPr>
          <p:cNvPr id="19" name="Text 13"/>
          <p:cNvSpPr txBox="1"/>
          <p:nvPr/>
        </p:nvSpPr>
        <p:spPr>
          <a:xfrm>
            <a:off x="6233008"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Git</a:t>
            </a:r>
            <a:endParaRPr lang="en-US" sz="1150" dirty="0"/>
          </a:p>
        </p:txBody>
      </p:sp>
      <p:sp>
        <p:nvSpPr>
          <p:cNvPr id="20" name="Shape 14"/>
          <p:cNvSpPr/>
          <p:nvPr/>
        </p:nvSpPr>
        <p:spPr>
          <a:xfrm>
            <a:off x="8089240"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1" name="Shape 15"/>
          <p:cNvSpPr/>
          <p:nvPr/>
        </p:nvSpPr>
        <p:spPr>
          <a:xfrm>
            <a:off x="8692744" y="1600200"/>
            <a:ext cx="512064" cy="512064"/>
          </a:xfrm>
          <a:prstGeom prst="ellipse">
            <a:avLst/>
          </a:prstGeom>
          <a:solidFill>
            <a:srgbClr val="EAF0FB"/>
          </a:solidFill>
          <a:ln/>
        </p:spPr>
      </p:sp>
      <p:pic>
        <p:nvPicPr>
          <p:cNvPr id="22" name="Image 4" descr="/home/claude/pptx_build/icons/github.png"/>
          <p:cNvPicPr>
            <a:picLocks noChangeAspect="1"/>
          </p:cNvPicPr>
          <p:nvPr/>
        </p:nvPicPr>
        <p:blipFill>
          <a:blip r:embed="rId7"/>
          <a:stretch>
            <a:fillRect/>
          </a:stretch>
        </p:blipFill>
        <p:spPr>
          <a:xfrm>
            <a:off x="8805398" y="1712854"/>
            <a:ext cx="286756" cy="286756"/>
          </a:xfrm>
          <a:prstGeom prst="rect">
            <a:avLst/>
          </a:prstGeom>
        </p:spPr>
      </p:pic>
      <p:sp>
        <p:nvSpPr>
          <p:cNvPr id="23" name="Text 16"/>
          <p:cNvSpPr txBox="1"/>
          <p:nvPr/>
        </p:nvSpPr>
        <p:spPr>
          <a:xfrm>
            <a:off x="8134960"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GitHub</a:t>
            </a:r>
            <a:endParaRPr lang="en-US" sz="1150" dirty="0"/>
          </a:p>
        </p:txBody>
      </p:sp>
      <p:sp>
        <p:nvSpPr>
          <p:cNvPr id="24" name="Shape 17"/>
          <p:cNvSpPr/>
          <p:nvPr/>
        </p:nvSpPr>
        <p:spPr>
          <a:xfrm>
            <a:off x="9991192" y="1417320"/>
            <a:ext cx="1719072" cy="1234440"/>
          </a:xfrm>
          <a:prstGeom prst="roundRect">
            <a:avLst>
              <a:gd name="adj" fmla="val 666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5" name="Shape 18"/>
          <p:cNvSpPr/>
          <p:nvPr/>
        </p:nvSpPr>
        <p:spPr>
          <a:xfrm>
            <a:off x="10594696" y="1600200"/>
            <a:ext cx="512064" cy="512064"/>
          </a:xfrm>
          <a:prstGeom prst="ellipse">
            <a:avLst/>
          </a:prstGeom>
          <a:solidFill>
            <a:srgbClr val="EAF0FB"/>
          </a:solidFill>
          <a:ln/>
        </p:spPr>
      </p:sp>
      <p:pic>
        <p:nvPicPr>
          <p:cNvPr id="26" name="Image 5" descr="/home/claude/pptx_build/icons/vscode.png"/>
          <p:cNvPicPr>
            <a:picLocks noChangeAspect="1"/>
          </p:cNvPicPr>
          <p:nvPr/>
        </p:nvPicPr>
        <p:blipFill>
          <a:blip r:embed="rId8"/>
          <a:stretch>
            <a:fillRect/>
          </a:stretch>
        </p:blipFill>
        <p:spPr>
          <a:xfrm>
            <a:off x="10707350" y="1712854"/>
            <a:ext cx="286756" cy="286756"/>
          </a:xfrm>
          <a:prstGeom prst="rect">
            <a:avLst/>
          </a:prstGeom>
        </p:spPr>
      </p:pic>
      <p:sp>
        <p:nvSpPr>
          <p:cNvPr id="27" name="Text 19"/>
          <p:cNvSpPr txBox="1"/>
          <p:nvPr/>
        </p:nvSpPr>
        <p:spPr>
          <a:xfrm>
            <a:off x="10036912" y="2221992"/>
            <a:ext cx="1627632" cy="365760"/>
          </a:xfrm>
          <a:prstGeom prst="rect">
            <a:avLst/>
          </a:prstGeom>
          <a:noFill/>
          <a:ln/>
        </p:spPr>
        <p:txBody>
          <a:bodyPr wrap="square" lIns="0" tIns="0" rIns="0" bIns="0" rtlCol="0" anchor="ctr"/>
          <a:lstStyle/>
          <a:p>
            <a:pPr marL="0" indent="0" algn="ctr">
              <a:buNone/>
            </a:pPr>
            <a:r>
              <a:rPr lang="en-US" sz="1150" b="1" dirty="0">
                <a:solidFill>
                  <a:srgbClr val="1F3A5F"/>
                </a:solidFill>
                <a:latin typeface="Calibri" pitchFamily="34" charset="0"/>
                <a:ea typeface="Calibri" pitchFamily="34" charset="-122"/>
                <a:cs typeface="Calibri" pitchFamily="34" charset="-120"/>
              </a:rPr>
              <a:t>VS Code</a:t>
            </a:r>
            <a:endParaRPr lang="en-US" sz="1150" dirty="0"/>
          </a:p>
        </p:txBody>
      </p:sp>
      <p:sp>
        <p:nvSpPr>
          <p:cNvPr id="28" name="Text 20"/>
          <p:cNvSpPr txBox="1"/>
          <p:nvPr/>
        </p:nvSpPr>
        <p:spPr>
          <a:xfrm>
            <a:off x="548640" y="2880360"/>
            <a:ext cx="1106424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Task-Specific Technologies &amp; Browser APIs</a:t>
            </a:r>
            <a:endParaRPr lang="en-US" sz="1400" dirty="0"/>
          </a:p>
        </p:txBody>
      </p:sp>
      <p:sp>
        <p:nvSpPr>
          <p:cNvPr id="29" name="Shape 21"/>
          <p:cNvSpPr/>
          <p:nvPr/>
        </p:nvSpPr>
        <p:spPr>
          <a:xfrm>
            <a:off x="548640" y="3273552"/>
            <a:ext cx="11064240" cy="530352"/>
          </a:xfrm>
          <a:prstGeom prst="roundRect">
            <a:avLst>
              <a:gd name="adj" fmla="val 15517"/>
            </a:avLst>
          </a:prstGeom>
          <a:solidFill>
            <a:srgbClr val="FFFFFF"/>
          </a:solidFill>
          <a:ln w="12700">
            <a:solidFill>
              <a:srgbClr val="DCE3EE"/>
            </a:solidFill>
            <a:prstDash val="solid"/>
          </a:ln>
        </p:spPr>
      </p:sp>
      <p:sp>
        <p:nvSpPr>
          <p:cNvPr id="30" name="Shape 22"/>
          <p:cNvSpPr/>
          <p:nvPr/>
        </p:nvSpPr>
        <p:spPr>
          <a:xfrm>
            <a:off x="685800" y="3364992"/>
            <a:ext cx="1051560" cy="347472"/>
          </a:xfrm>
          <a:prstGeom prst="roundRect">
            <a:avLst>
              <a:gd name="adj" fmla="val 15789"/>
            </a:avLst>
          </a:prstGeom>
          <a:solidFill>
            <a:srgbClr val="1F3A5F"/>
          </a:solidFill>
          <a:ln/>
        </p:spPr>
      </p:sp>
      <p:sp>
        <p:nvSpPr>
          <p:cNvPr id="31" name="Text 23"/>
          <p:cNvSpPr txBox="1"/>
          <p:nvPr/>
        </p:nvSpPr>
        <p:spPr>
          <a:xfrm>
            <a:off x="685800" y="3364992"/>
            <a:ext cx="1051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01</a:t>
            </a:r>
            <a:endParaRPr lang="en-US" sz="1100" dirty="0"/>
          </a:p>
        </p:txBody>
      </p:sp>
      <p:sp>
        <p:nvSpPr>
          <p:cNvPr id="32" name="Text 24"/>
          <p:cNvSpPr txBox="1"/>
          <p:nvPr/>
        </p:nvSpPr>
        <p:spPr>
          <a:xfrm>
            <a:off x="1920240" y="3273552"/>
            <a:ext cx="9509760" cy="530352"/>
          </a:xfrm>
          <a:prstGeom prst="rect">
            <a:avLst/>
          </a:prstGeom>
          <a:noFill/>
          <a:ln/>
        </p:spPr>
        <p:txBody>
          <a:bodyPr wrap="square" lIns="0" tIns="0" rIns="0" bIns="0" rtlCol="0" anchor="ctr"/>
          <a:lstStyle/>
          <a:p>
            <a:pPr marL="0" indent="0">
              <a:buNone/>
            </a:pPr>
            <a:r>
              <a:rPr lang="en-US" sz="1200" dirty="0">
                <a:solidFill>
                  <a:srgbClr val="222B3A"/>
                </a:solidFill>
                <a:latin typeface="Calibri" pitchFamily="34" charset="0"/>
                <a:ea typeface="Calibri" pitchFamily="34" charset="-122"/>
                <a:cs typeface="Calibri" pitchFamily="34" charset="-120"/>
              </a:rPr>
              <a:t>IntersectionObserver • Responsive Media Queries • Google Fonts • Inline SVG</a:t>
            </a:r>
            <a:endParaRPr lang="en-US" sz="1200" dirty="0"/>
          </a:p>
        </p:txBody>
      </p:sp>
      <p:sp>
        <p:nvSpPr>
          <p:cNvPr id="33" name="Shape 25"/>
          <p:cNvSpPr/>
          <p:nvPr/>
        </p:nvSpPr>
        <p:spPr>
          <a:xfrm>
            <a:off x="548640" y="3881628"/>
            <a:ext cx="11064240" cy="530352"/>
          </a:xfrm>
          <a:prstGeom prst="roundRect">
            <a:avLst>
              <a:gd name="adj" fmla="val 15517"/>
            </a:avLst>
          </a:prstGeom>
          <a:solidFill>
            <a:srgbClr val="FFFFFF"/>
          </a:solidFill>
          <a:ln w="12700">
            <a:solidFill>
              <a:srgbClr val="DCE3EE"/>
            </a:solidFill>
            <a:prstDash val="solid"/>
          </a:ln>
        </p:spPr>
      </p:sp>
      <p:sp>
        <p:nvSpPr>
          <p:cNvPr id="34" name="Shape 26"/>
          <p:cNvSpPr/>
          <p:nvPr/>
        </p:nvSpPr>
        <p:spPr>
          <a:xfrm>
            <a:off x="685800" y="3973068"/>
            <a:ext cx="1051560" cy="347472"/>
          </a:xfrm>
          <a:prstGeom prst="roundRect">
            <a:avLst>
              <a:gd name="adj" fmla="val 15789"/>
            </a:avLst>
          </a:prstGeom>
          <a:solidFill>
            <a:srgbClr val="1F3A5F"/>
          </a:solidFill>
          <a:ln/>
        </p:spPr>
      </p:sp>
      <p:sp>
        <p:nvSpPr>
          <p:cNvPr id="35" name="Text 27"/>
          <p:cNvSpPr txBox="1"/>
          <p:nvPr/>
        </p:nvSpPr>
        <p:spPr>
          <a:xfrm>
            <a:off x="685800" y="3973068"/>
            <a:ext cx="1051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02</a:t>
            </a:r>
            <a:endParaRPr lang="en-US" sz="1100" dirty="0"/>
          </a:p>
        </p:txBody>
      </p:sp>
      <p:sp>
        <p:nvSpPr>
          <p:cNvPr id="36" name="Text 28"/>
          <p:cNvSpPr txBox="1"/>
          <p:nvPr/>
        </p:nvSpPr>
        <p:spPr>
          <a:xfrm>
            <a:off x="1920240" y="3881628"/>
            <a:ext cx="9509760" cy="530352"/>
          </a:xfrm>
          <a:prstGeom prst="rect">
            <a:avLst/>
          </a:prstGeom>
          <a:noFill/>
          <a:ln/>
        </p:spPr>
        <p:txBody>
          <a:bodyPr wrap="square" lIns="0" tIns="0" rIns="0" bIns="0" rtlCol="0" anchor="ctr"/>
          <a:lstStyle/>
          <a:p>
            <a:pPr marL="0" indent="0">
              <a:buNone/>
            </a:pPr>
            <a:r>
              <a:rPr lang="en-US" sz="1200" dirty="0">
                <a:solidFill>
                  <a:srgbClr val="222B3A"/>
                </a:solidFill>
                <a:latin typeface="Calibri" pitchFamily="34" charset="0"/>
                <a:ea typeface="Calibri" pitchFamily="34" charset="-122"/>
                <a:cs typeface="Calibri" pitchFamily="34" charset="-120"/>
              </a:rPr>
              <a:t>performance.now() • requestAnimationFrame() • SVG</a:t>
            </a:r>
            <a:endParaRPr lang="en-US" sz="1200" dirty="0"/>
          </a:p>
        </p:txBody>
      </p:sp>
      <p:sp>
        <p:nvSpPr>
          <p:cNvPr id="37" name="Shape 29"/>
          <p:cNvSpPr/>
          <p:nvPr/>
        </p:nvSpPr>
        <p:spPr>
          <a:xfrm>
            <a:off x="548640" y="4489704"/>
            <a:ext cx="11064240" cy="530352"/>
          </a:xfrm>
          <a:prstGeom prst="roundRect">
            <a:avLst>
              <a:gd name="adj" fmla="val 15517"/>
            </a:avLst>
          </a:prstGeom>
          <a:solidFill>
            <a:srgbClr val="FFFFFF"/>
          </a:solidFill>
          <a:ln w="12700">
            <a:solidFill>
              <a:srgbClr val="DCE3EE"/>
            </a:solidFill>
            <a:prstDash val="solid"/>
          </a:ln>
        </p:spPr>
      </p:sp>
      <p:sp>
        <p:nvSpPr>
          <p:cNvPr id="38" name="Shape 30"/>
          <p:cNvSpPr/>
          <p:nvPr/>
        </p:nvSpPr>
        <p:spPr>
          <a:xfrm>
            <a:off x="685800" y="4581144"/>
            <a:ext cx="1051560" cy="347472"/>
          </a:xfrm>
          <a:prstGeom prst="roundRect">
            <a:avLst>
              <a:gd name="adj" fmla="val 15789"/>
            </a:avLst>
          </a:prstGeom>
          <a:solidFill>
            <a:srgbClr val="1F3A5F"/>
          </a:solidFill>
          <a:ln/>
        </p:spPr>
      </p:sp>
      <p:sp>
        <p:nvSpPr>
          <p:cNvPr id="39" name="Text 31"/>
          <p:cNvSpPr txBox="1"/>
          <p:nvPr/>
        </p:nvSpPr>
        <p:spPr>
          <a:xfrm>
            <a:off x="685800" y="4581144"/>
            <a:ext cx="1051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03</a:t>
            </a:r>
            <a:endParaRPr lang="en-US" sz="1100" dirty="0"/>
          </a:p>
        </p:txBody>
      </p:sp>
      <p:sp>
        <p:nvSpPr>
          <p:cNvPr id="40" name="Text 32"/>
          <p:cNvSpPr txBox="1"/>
          <p:nvPr/>
        </p:nvSpPr>
        <p:spPr>
          <a:xfrm>
            <a:off x="1920240" y="4489704"/>
            <a:ext cx="9509760" cy="530352"/>
          </a:xfrm>
          <a:prstGeom prst="rect">
            <a:avLst/>
          </a:prstGeom>
          <a:noFill/>
          <a:ln/>
        </p:spPr>
        <p:txBody>
          <a:bodyPr wrap="square" lIns="0" tIns="0" rIns="0" bIns="0" rtlCol="0" anchor="ctr"/>
          <a:lstStyle/>
          <a:p>
            <a:pPr marL="0" indent="0">
              <a:buNone/>
            </a:pPr>
            <a:r>
              <a:rPr lang="en-US" sz="1200" dirty="0">
                <a:solidFill>
                  <a:srgbClr val="222B3A"/>
                </a:solidFill>
                <a:latin typeface="Calibri" pitchFamily="34" charset="0"/>
                <a:ea typeface="Calibri" pitchFamily="34" charset="-122"/>
                <a:cs typeface="Calibri" pitchFamily="34" charset="-120"/>
              </a:rPr>
              <a:t>Minimax Algorithm • WAI-ARIA • CSS Grid</a:t>
            </a:r>
            <a:endParaRPr lang="en-US" sz="1200" dirty="0"/>
          </a:p>
        </p:txBody>
      </p:sp>
      <p:sp>
        <p:nvSpPr>
          <p:cNvPr id="41" name="Shape 33"/>
          <p:cNvSpPr/>
          <p:nvPr/>
        </p:nvSpPr>
        <p:spPr>
          <a:xfrm>
            <a:off x="548640" y="5097780"/>
            <a:ext cx="11064240" cy="530352"/>
          </a:xfrm>
          <a:prstGeom prst="roundRect">
            <a:avLst>
              <a:gd name="adj" fmla="val 15517"/>
            </a:avLst>
          </a:prstGeom>
          <a:solidFill>
            <a:srgbClr val="FFFFFF"/>
          </a:solidFill>
          <a:ln w="12700">
            <a:solidFill>
              <a:srgbClr val="DCE3EE"/>
            </a:solidFill>
            <a:prstDash val="solid"/>
          </a:ln>
        </p:spPr>
      </p:sp>
      <p:sp>
        <p:nvSpPr>
          <p:cNvPr id="42" name="Shape 34"/>
          <p:cNvSpPr/>
          <p:nvPr/>
        </p:nvSpPr>
        <p:spPr>
          <a:xfrm>
            <a:off x="685800" y="5189220"/>
            <a:ext cx="1051560" cy="347472"/>
          </a:xfrm>
          <a:prstGeom prst="roundRect">
            <a:avLst>
              <a:gd name="adj" fmla="val 15789"/>
            </a:avLst>
          </a:prstGeom>
          <a:solidFill>
            <a:srgbClr val="1F3A5F"/>
          </a:solidFill>
          <a:ln/>
        </p:spPr>
      </p:sp>
      <p:sp>
        <p:nvSpPr>
          <p:cNvPr id="43" name="Text 35"/>
          <p:cNvSpPr txBox="1"/>
          <p:nvPr/>
        </p:nvSpPr>
        <p:spPr>
          <a:xfrm>
            <a:off x="685800" y="5189220"/>
            <a:ext cx="1051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04</a:t>
            </a:r>
            <a:endParaRPr lang="en-US" sz="1100" dirty="0"/>
          </a:p>
        </p:txBody>
      </p:sp>
      <p:sp>
        <p:nvSpPr>
          <p:cNvPr id="44" name="Text 36"/>
          <p:cNvSpPr txBox="1"/>
          <p:nvPr/>
        </p:nvSpPr>
        <p:spPr>
          <a:xfrm>
            <a:off x="1920240" y="5097780"/>
            <a:ext cx="9509760" cy="530352"/>
          </a:xfrm>
          <a:prstGeom prst="rect">
            <a:avLst/>
          </a:prstGeom>
          <a:noFill/>
          <a:ln/>
        </p:spPr>
        <p:txBody>
          <a:bodyPr wrap="square" lIns="0" tIns="0" rIns="0" bIns="0" rtlCol="0" anchor="ctr"/>
          <a:lstStyle/>
          <a:p>
            <a:pPr marL="0" indent="0">
              <a:buNone/>
            </a:pPr>
            <a:r>
              <a:rPr lang="en-US" sz="1200" dirty="0">
                <a:solidFill>
                  <a:srgbClr val="222B3A"/>
                </a:solidFill>
                <a:latin typeface="Calibri" pitchFamily="34" charset="0"/>
                <a:ea typeface="Calibri" pitchFamily="34" charset="-122"/>
                <a:cs typeface="Calibri" pitchFamily="34" charset="-120"/>
              </a:rPr>
              <a:t>HTML Canvas API • Google Fonts</a:t>
            </a:r>
            <a:endParaRPr lang="en-US" sz="1200" dirty="0"/>
          </a:p>
        </p:txBody>
      </p:sp>
      <p:sp>
        <p:nvSpPr>
          <p:cNvPr id="45" name="Shape 37"/>
          <p:cNvSpPr/>
          <p:nvPr/>
        </p:nvSpPr>
        <p:spPr>
          <a:xfrm>
            <a:off x="548640" y="5705856"/>
            <a:ext cx="11064240" cy="530352"/>
          </a:xfrm>
          <a:prstGeom prst="roundRect">
            <a:avLst>
              <a:gd name="adj" fmla="val 15517"/>
            </a:avLst>
          </a:prstGeom>
          <a:solidFill>
            <a:srgbClr val="FFFFFF"/>
          </a:solidFill>
          <a:ln w="12700">
            <a:solidFill>
              <a:srgbClr val="DCE3EE"/>
            </a:solidFill>
            <a:prstDash val="solid"/>
          </a:ln>
        </p:spPr>
      </p:sp>
      <p:sp>
        <p:nvSpPr>
          <p:cNvPr id="46" name="Shape 38"/>
          <p:cNvSpPr/>
          <p:nvPr/>
        </p:nvSpPr>
        <p:spPr>
          <a:xfrm>
            <a:off x="685800" y="5797296"/>
            <a:ext cx="1051560" cy="347472"/>
          </a:xfrm>
          <a:prstGeom prst="roundRect">
            <a:avLst>
              <a:gd name="adj" fmla="val 15789"/>
            </a:avLst>
          </a:prstGeom>
          <a:solidFill>
            <a:srgbClr val="1F3A5F"/>
          </a:solidFill>
          <a:ln/>
        </p:spPr>
      </p:sp>
      <p:sp>
        <p:nvSpPr>
          <p:cNvPr id="47" name="Text 39"/>
          <p:cNvSpPr txBox="1"/>
          <p:nvPr/>
        </p:nvSpPr>
        <p:spPr>
          <a:xfrm>
            <a:off x="685800" y="5797296"/>
            <a:ext cx="1051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05</a:t>
            </a:r>
            <a:endParaRPr lang="en-US" sz="1100" dirty="0"/>
          </a:p>
        </p:txBody>
      </p:sp>
      <p:sp>
        <p:nvSpPr>
          <p:cNvPr id="48" name="Text 40"/>
          <p:cNvSpPr txBox="1"/>
          <p:nvPr/>
        </p:nvSpPr>
        <p:spPr>
          <a:xfrm>
            <a:off x="1920240" y="5705856"/>
            <a:ext cx="9509760" cy="530352"/>
          </a:xfrm>
          <a:prstGeom prst="rect">
            <a:avLst/>
          </a:prstGeom>
          <a:noFill/>
          <a:ln/>
        </p:spPr>
        <p:txBody>
          <a:bodyPr wrap="square" lIns="0" tIns="0" rIns="0" bIns="0" rtlCol="0" anchor="ctr"/>
          <a:lstStyle/>
          <a:p>
            <a:pPr marL="0" indent="0">
              <a:buNone/>
            </a:pPr>
            <a:r>
              <a:rPr lang="en-US" sz="1200" dirty="0">
                <a:solidFill>
                  <a:srgbClr val="222B3A"/>
                </a:solidFill>
                <a:latin typeface="Calibri" pitchFamily="34" charset="0"/>
                <a:ea typeface="Calibri" pitchFamily="34" charset="-122"/>
                <a:cs typeface="Calibri" pitchFamily="34" charset="-120"/>
              </a:rPr>
              <a:t>Open-Meteo Geocoding API • Open-Meteo Forecast API • Geolocation API</a:t>
            </a:r>
            <a:endParaRPr lang="en-US" sz="1200" dirty="0"/>
          </a:p>
        </p:txBody>
      </p:sp>
      <p:sp>
        <p:nvSpPr>
          <p:cNvPr id="49" name="Text 41"/>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50" name="Text 42"/>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DEVELOPMENT METHODOLOGY</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A Consistent Web Development Workflow</a:t>
            </a:r>
            <a:endParaRPr lang="en-US" sz="3000" dirty="0"/>
          </a:p>
        </p:txBody>
      </p:sp>
      <p:sp>
        <p:nvSpPr>
          <p:cNvPr id="4" name="Text 2"/>
          <p:cNvSpPr txBox="1"/>
          <p:nvPr/>
        </p:nvSpPr>
        <p:spPr>
          <a:xfrm>
            <a:off x="640080" y="1417320"/>
            <a:ext cx="10881360" cy="640080"/>
          </a:xfrm>
          <a:prstGeom prst="rect">
            <a:avLst/>
          </a:prstGeom>
          <a:noFill/>
          <a:ln/>
        </p:spPr>
        <p:txBody>
          <a:bodyPr wrap="square" lIns="0" tIns="0" rIns="0" bIns="0" rtlCol="0" anchor="t"/>
          <a:lstStyle/>
          <a:p>
            <a:pPr marL="0" indent="0">
              <a:buNone/>
            </a:pPr>
            <a:r>
              <a:rPr lang="en-US" sz="1350" dirty="0">
                <a:solidFill>
                  <a:srgbClr val="222B3A"/>
                </a:solidFill>
                <a:latin typeface="Calibri" pitchFamily="34" charset="0"/>
                <a:ea typeface="Calibri" pitchFamily="34" charset="-122"/>
                <a:cs typeface="Calibri" pitchFamily="34" charset="-120"/>
              </a:rPr>
              <a:t>Rather than a formal methodology such as Agile or Scrum, each of the five tasks followed the same logical, progressive workflow — applied independently and with depth varying by task complexity.</a:t>
            </a:r>
            <a:endParaRPr lang="en-US" sz="1350" dirty="0"/>
          </a:p>
        </p:txBody>
      </p:sp>
      <p:pic>
        <p:nvPicPr>
          <p:cNvPr id="5" name="Image 0" descr="/home/claude/pptx_build/diagrams/workflow.png"/>
          <p:cNvPicPr>
            <a:picLocks noChangeAspect="1"/>
          </p:cNvPicPr>
          <p:nvPr/>
        </p:nvPicPr>
        <p:blipFill>
          <a:blip r:embed="rId3"/>
          <a:stretch>
            <a:fillRect/>
          </a:stretch>
        </p:blipFill>
        <p:spPr>
          <a:xfrm>
            <a:off x="792328" y="2331720"/>
            <a:ext cx="10607040" cy="679045"/>
          </a:xfrm>
          <a:prstGeom prst="rect">
            <a:avLst/>
          </a:prstGeom>
        </p:spPr>
      </p:pic>
      <p:sp>
        <p:nvSpPr>
          <p:cNvPr id="6" name="Shape 3"/>
          <p:cNvSpPr/>
          <p:nvPr/>
        </p:nvSpPr>
        <p:spPr>
          <a:xfrm>
            <a:off x="426568" y="3429000"/>
            <a:ext cx="1517904" cy="2606040"/>
          </a:xfrm>
          <a:prstGeom prst="roundRect">
            <a:avLst>
              <a:gd name="adj" fmla="val 5422"/>
            </a:avLst>
          </a:prstGeom>
          <a:solidFill>
            <a:srgbClr val="FFFFFF"/>
          </a:solidFill>
          <a:ln w="12700">
            <a:solidFill>
              <a:srgbClr val="DCE3EE"/>
            </a:solidFill>
            <a:prstDash val="solid"/>
          </a:ln>
        </p:spPr>
      </p:sp>
      <p:sp>
        <p:nvSpPr>
          <p:cNvPr id="7" name="Shape 4"/>
          <p:cNvSpPr/>
          <p:nvPr/>
        </p:nvSpPr>
        <p:spPr>
          <a:xfrm>
            <a:off x="929488" y="3630168"/>
            <a:ext cx="512064" cy="512064"/>
          </a:xfrm>
          <a:prstGeom prst="ellipse">
            <a:avLst/>
          </a:prstGeom>
          <a:solidFill>
            <a:srgbClr val="EAF0FB"/>
          </a:solidFill>
          <a:ln/>
        </p:spPr>
      </p:sp>
      <p:pic>
        <p:nvPicPr>
          <p:cNvPr id="8" name="Image 1" descr="/home/claude/pptx_build/icons/target.png"/>
          <p:cNvPicPr>
            <a:picLocks noChangeAspect="1"/>
          </p:cNvPicPr>
          <p:nvPr/>
        </p:nvPicPr>
        <p:blipFill>
          <a:blip r:embed="rId4"/>
          <a:stretch>
            <a:fillRect/>
          </a:stretch>
        </p:blipFill>
        <p:spPr>
          <a:xfrm>
            <a:off x="1042142" y="3742822"/>
            <a:ext cx="286756" cy="286756"/>
          </a:xfrm>
          <a:prstGeom prst="rect">
            <a:avLst/>
          </a:prstGeom>
        </p:spPr>
      </p:pic>
      <p:sp>
        <p:nvSpPr>
          <p:cNvPr id="9" name="Text 5"/>
          <p:cNvSpPr txBox="1"/>
          <p:nvPr/>
        </p:nvSpPr>
        <p:spPr>
          <a:xfrm>
            <a:off x="499720"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Requirement Understanding</a:t>
            </a:r>
            <a:endParaRPr lang="en-US" sz="1100" dirty="0"/>
          </a:p>
        </p:txBody>
      </p:sp>
      <p:sp>
        <p:nvSpPr>
          <p:cNvPr id="10" name="Text 6"/>
          <p:cNvSpPr txBox="1"/>
          <p:nvPr/>
        </p:nvSpPr>
        <p:spPr>
          <a:xfrm>
            <a:off x="518008"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Review the task brief and plan the page or application structure.</a:t>
            </a:r>
            <a:endParaRPr lang="en-US" sz="950" dirty="0"/>
          </a:p>
        </p:txBody>
      </p:sp>
      <p:sp>
        <p:nvSpPr>
          <p:cNvPr id="11" name="Shape 7"/>
          <p:cNvSpPr/>
          <p:nvPr/>
        </p:nvSpPr>
        <p:spPr>
          <a:xfrm>
            <a:off x="2063344" y="3429000"/>
            <a:ext cx="1517904" cy="2606040"/>
          </a:xfrm>
          <a:prstGeom prst="roundRect">
            <a:avLst>
              <a:gd name="adj" fmla="val 5422"/>
            </a:avLst>
          </a:prstGeom>
          <a:solidFill>
            <a:srgbClr val="FFFFFF"/>
          </a:solidFill>
          <a:ln w="12700">
            <a:solidFill>
              <a:srgbClr val="DCE3EE"/>
            </a:solidFill>
            <a:prstDash val="solid"/>
          </a:ln>
        </p:spPr>
      </p:sp>
      <p:sp>
        <p:nvSpPr>
          <p:cNvPr id="12" name="Shape 8"/>
          <p:cNvSpPr/>
          <p:nvPr/>
        </p:nvSpPr>
        <p:spPr>
          <a:xfrm>
            <a:off x="2566264" y="3630168"/>
            <a:ext cx="512064" cy="512064"/>
          </a:xfrm>
          <a:prstGeom prst="ellipse">
            <a:avLst/>
          </a:prstGeom>
          <a:solidFill>
            <a:srgbClr val="EAF0FB"/>
          </a:solidFill>
          <a:ln/>
        </p:spPr>
      </p:sp>
      <p:pic>
        <p:nvPicPr>
          <p:cNvPr id="13" name="Image 2" descr="/home/claude/pptx_build/icons/html5.png"/>
          <p:cNvPicPr>
            <a:picLocks noChangeAspect="1"/>
          </p:cNvPicPr>
          <p:nvPr/>
        </p:nvPicPr>
        <p:blipFill>
          <a:blip r:embed="rId5"/>
          <a:stretch>
            <a:fillRect/>
          </a:stretch>
        </p:blipFill>
        <p:spPr>
          <a:xfrm>
            <a:off x="2678918" y="3742822"/>
            <a:ext cx="286756" cy="286756"/>
          </a:xfrm>
          <a:prstGeom prst="rect">
            <a:avLst/>
          </a:prstGeom>
        </p:spPr>
      </p:pic>
      <p:sp>
        <p:nvSpPr>
          <p:cNvPr id="14" name="Text 9"/>
          <p:cNvSpPr txBox="1"/>
          <p:nvPr/>
        </p:nvSpPr>
        <p:spPr>
          <a:xfrm>
            <a:off x="2136496"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HTML Structure</a:t>
            </a:r>
            <a:endParaRPr lang="en-US" sz="1100" dirty="0"/>
          </a:p>
        </p:txBody>
      </p:sp>
      <p:sp>
        <p:nvSpPr>
          <p:cNvPr id="15" name="Text 10"/>
          <p:cNvSpPr txBox="1"/>
          <p:nvPr/>
        </p:nvSpPr>
        <p:spPr>
          <a:xfrm>
            <a:off x="2154784"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Build a semantic, accessible markup skeleton.</a:t>
            </a:r>
            <a:endParaRPr lang="en-US" sz="950" dirty="0"/>
          </a:p>
        </p:txBody>
      </p:sp>
      <p:sp>
        <p:nvSpPr>
          <p:cNvPr id="16" name="Shape 11"/>
          <p:cNvSpPr/>
          <p:nvPr/>
        </p:nvSpPr>
        <p:spPr>
          <a:xfrm>
            <a:off x="3700120" y="3429000"/>
            <a:ext cx="1517904" cy="2606040"/>
          </a:xfrm>
          <a:prstGeom prst="roundRect">
            <a:avLst>
              <a:gd name="adj" fmla="val 5422"/>
            </a:avLst>
          </a:prstGeom>
          <a:solidFill>
            <a:srgbClr val="FFFFFF"/>
          </a:solidFill>
          <a:ln w="12700">
            <a:solidFill>
              <a:srgbClr val="DCE3EE"/>
            </a:solidFill>
            <a:prstDash val="solid"/>
          </a:ln>
        </p:spPr>
      </p:sp>
      <p:sp>
        <p:nvSpPr>
          <p:cNvPr id="17" name="Shape 12"/>
          <p:cNvSpPr/>
          <p:nvPr/>
        </p:nvSpPr>
        <p:spPr>
          <a:xfrm>
            <a:off x="4203040" y="3630168"/>
            <a:ext cx="512064" cy="512064"/>
          </a:xfrm>
          <a:prstGeom prst="ellipse">
            <a:avLst/>
          </a:prstGeom>
          <a:solidFill>
            <a:srgbClr val="EAF0FB"/>
          </a:solidFill>
          <a:ln/>
        </p:spPr>
      </p:sp>
      <p:pic>
        <p:nvPicPr>
          <p:cNvPr id="18" name="Image 3" descr="/home/claude/pptx_build/icons/css3.png"/>
          <p:cNvPicPr>
            <a:picLocks noChangeAspect="1"/>
          </p:cNvPicPr>
          <p:nvPr/>
        </p:nvPicPr>
        <p:blipFill>
          <a:blip r:embed="rId6"/>
          <a:stretch>
            <a:fillRect/>
          </a:stretch>
        </p:blipFill>
        <p:spPr>
          <a:xfrm>
            <a:off x="4315694" y="3742822"/>
            <a:ext cx="286756" cy="286756"/>
          </a:xfrm>
          <a:prstGeom prst="rect">
            <a:avLst/>
          </a:prstGeom>
        </p:spPr>
      </p:pic>
      <p:sp>
        <p:nvSpPr>
          <p:cNvPr id="19" name="Text 13"/>
          <p:cNvSpPr txBox="1"/>
          <p:nvPr/>
        </p:nvSpPr>
        <p:spPr>
          <a:xfrm>
            <a:off x="3773272"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CSS Styling &amp; Layout</a:t>
            </a:r>
            <a:endParaRPr lang="en-US" sz="1100" dirty="0"/>
          </a:p>
        </p:txBody>
      </p:sp>
      <p:sp>
        <p:nvSpPr>
          <p:cNvPr id="20" name="Text 14"/>
          <p:cNvSpPr txBox="1"/>
          <p:nvPr/>
        </p:nvSpPr>
        <p:spPr>
          <a:xfrm>
            <a:off x="3791560"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Apply design tokens, Flexbox/Grid and responsive breakpoints.</a:t>
            </a:r>
            <a:endParaRPr lang="en-US" sz="950" dirty="0"/>
          </a:p>
        </p:txBody>
      </p:sp>
      <p:sp>
        <p:nvSpPr>
          <p:cNvPr id="21" name="Shape 15"/>
          <p:cNvSpPr/>
          <p:nvPr/>
        </p:nvSpPr>
        <p:spPr>
          <a:xfrm>
            <a:off x="5336896" y="3429000"/>
            <a:ext cx="1517904" cy="2606040"/>
          </a:xfrm>
          <a:prstGeom prst="roundRect">
            <a:avLst>
              <a:gd name="adj" fmla="val 5422"/>
            </a:avLst>
          </a:prstGeom>
          <a:solidFill>
            <a:srgbClr val="FFFFFF"/>
          </a:solidFill>
          <a:ln w="12700">
            <a:solidFill>
              <a:srgbClr val="DCE3EE"/>
            </a:solidFill>
            <a:prstDash val="solid"/>
          </a:ln>
        </p:spPr>
      </p:sp>
      <p:sp>
        <p:nvSpPr>
          <p:cNvPr id="22" name="Shape 16"/>
          <p:cNvSpPr/>
          <p:nvPr/>
        </p:nvSpPr>
        <p:spPr>
          <a:xfrm>
            <a:off x="5839816" y="3630168"/>
            <a:ext cx="512064" cy="512064"/>
          </a:xfrm>
          <a:prstGeom prst="ellipse">
            <a:avLst/>
          </a:prstGeom>
          <a:solidFill>
            <a:srgbClr val="EAF0FB"/>
          </a:solidFill>
          <a:ln/>
        </p:spPr>
      </p:sp>
      <p:pic>
        <p:nvPicPr>
          <p:cNvPr id="23" name="Image 4" descr="/home/claude/pptx_build/icons/js.png"/>
          <p:cNvPicPr>
            <a:picLocks noChangeAspect="1"/>
          </p:cNvPicPr>
          <p:nvPr/>
        </p:nvPicPr>
        <p:blipFill>
          <a:blip r:embed="rId7"/>
          <a:stretch>
            <a:fillRect/>
          </a:stretch>
        </p:blipFill>
        <p:spPr>
          <a:xfrm>
            <a:off x="5952470" y="3742822"/>
            <a:ext cx="286756" cy="286756"/>
          </a:xfrm>
          <a:prstGeom prst="rect">
            <a:avLst/>
          </a:prstGeom>
        </p:spPr>
      </p:pic>
      <p:sp>
        <p:nvSpPr>
          <p:cNvPr id="24" name="Text 17"/>
          <p:cNvSpPr txBox="1"/>
          <p:nvPr/>
        </p:nvSpPr>
        <p:spPr>
          <a:xfrm>
            <a:off x="5410048"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JS Interactivity</a:t>
            </a:r>
            <a:endParaRPr lang="en-US" sz="1100" dirty="0"/>
          </a:p>
        </p:txBody>
      </p:sp>
      <p:sp>
        <p:nvSpPr>
          <p:cNvPr id="25" name="Text 18"/>
          <p:cNvSpPr txBox="1"/>
          <p:nvPr/>
        </p:nvSpPr>
        <p:spPr>
          <a:xfrm>
            <a:off x="5428336"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Implement core application and state logic.</a:t>
            </a:r>
            <a:endParaRPr lang="en-US" sz="950" dirty="0"/>
          </a:p>
        </p:txBody>
      </p:sp>
      <p:sp>
        <p:nvSpPr>
          <p:cNvPr id="26" name="Shape 19"/>
          <p:cNvSpPr/>
          <p:nvPr/>
        </p:nvSpPr>
        <p:spPr>
          <a:xfrm>
            <a:off x="6973672" y="3429000"/>
            <a:ext cx="1517904" cy="2606040"/>
          </a:xfrm>
          <a:prstGeom prst="roundRect">
            <a:avLst>
              <a:gd name="adj" fmla="val 5422"/>
            </a:avLst>
          </a:prstGeom>
          <a:solidFill>
            <a:srgbClr val="FFFFFF"/>
          </a:solidFill>
          <a:ln w="12700">
            <a:solidFill>
              <a:srgbClr val="DCE3EE"/>
            </a:solidFill>
            <a:prstDash val="solid"/>
          </a:ln>
        </p:spPr>
      </p:sp>
      <p:sp>
        <p:nvSpPr>
          <p:cNvPr id="27" name="Shape 20"/>
          <p:cNvSpPr/>
          <p:nvPr/>
        </p:nvSpPr>
        <p:spPr>
          <a:xfrm>
            <a:off x="7476592" y="3630168"/>
            <a:ext cx="512064" cy="512064"/>
          </a:xfrm>
          <a:prstGeom prst="ellipse">
            <a:avLst/>
          </a:prstGeom>
          <a:solidFill>
            <a:srgbClr val="EAF0FB"/>
          </a:solidFill>
          <a:ln/>
        </p:spPr>
      </p:sp>
      <p:pic>
        <p:nvPicPr>
          <p:cNvPr id="28" name="Image 5" descr="/home/claude/pptx_build/icons/api.png"/>
          <p:cNvPicPr>
            <a:picLocks noChangeAspect="1"/>
          </p:cNvPicPr>
          <p:nvPr/>
        </p:nvPicPr>
        <p:blipFill>
          <a:blip r:embed="rId8"/>
          <a:stretch>
            <a:fillRect/>
          </a:stretch>
        </p:blipFill>
        <p:spPr>
          <a:xfrm>
            <a:off x="7589246" y="3742822"/>
            <a:ext cx="286756" cy="286756"/>
          </a:xfrm>
          <a:prstGeom prst="rect">
            <a:avLst/>
          </a:prstGeom>
        </p:spPr>
      </p:pic>
      <p:sp>
        <p:nvSpPr>
          <p:cNvPr id="29" name="Text 21"/>
          <p:cNvSpPr txBox="1"/>
          <p:nvPr/>
        </p:nvSpPr>
        <p:spPr>
          <a:xfrm>
            <a:off x="7046824"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Advanced / APIs</a:t>
            </a:r>
            <a:endParaRPr lang="en-US" sz="1100" dirty="0"/>
          </a:p>
        </p:txBody>
      </p:sp>
      <p:sp>
        <p:nvSpPr>
          <p:cNvPr id="30" name="Text 22"/>
          <p:cNvSpPr txBox="1"/>
          <p:nvPr/>
        </p:nvSpPr>
        <p:spPr>
          <a:xfrm>
            <a:off x="7065112"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Integrate browser and external APIs.</a:t>
            </a:r>
            <a:endParaRPr lang="en-US" sz="950" dirty="0"/>
          </a:p>
        </p:txBody>
      </p:sp>
      <p:sp>
        <p:nvSpPr>
          <p:cNvPr id="31" name="Shape 23"/>
          <p:cNvSpPr/>
          <p:nvPr/>
        </p:nvSpPr>
        <p:spPr>
          <a:xfrm>
            <a:off x="8610448" y="3429000"/>
            <a:ext cx="1517904" cy="2606040"/>
          </a:xfrm>
          <a:prstGeom prst="roundRect">
            <a:avLst>
              <a:gd name="adj" fmla="val 5422"/>
            </a:avLst>
          </a:prstGeom>
          <a:solidFill>
            <a:srgbClr val="FFFFFF"/>
          </a:solidFill>
          <a:ln w="12700">
            <a:solidFill>
              <a:srgbClr val="DCE3EE"/>
            </a:solidFill>
            <a:prstDash val="solid"/>
          </a:ln>
        </p:spPr>
      </p:sp>
      <p:sp>
        <p:nvSpPr>
          <p:cNvPr id="32" name="Shape 24"/>
          <p:cNvSpPr/>
          <p:nvPr/>
        </p:nvSpPr>
        <p:spPr>
          <a:xfrm>
            <a:off x="9113368" y="3630168"/>
            <a:ext cx="512064" cy="512064"/>
          </a:xfrm>
          <a:prstGeom prst="ellipse">
            <a:avLst/>
          </a:prstGeom>
          <a:solidFill>
            <a:srgbClr val="EAF0FB"/>
          </a:solidFill>
          <a:ln/>
        </p:spPr>
      </p:sp>
      <p:pic>
        <p:nvPicPr>
          <p:cNvPr id="33" name="Image 6" descr="/home/claude/pptx_build/icons/bug.png"/>
          <p:cNvPicPr>
            <a:picLocks noChangeAspect="1"/>
          </p:cNvPicPr>
          <p:nvPr/>
        </p:nvPicPr>
        <p:blipFill>
          <a:blip r:embed="rId9"/>
          <a:stretch>
            <a:fillRect/>
          </a:stretch>
        </p:blipFill>
        <p:spPr>
          <a:xfrm>
            <a:off x="9226022" y="3742822"/>
            <a:ext cx="286756" cy="286756"/>
          </a:xfrm>
          <a:prstGeom prst="rect">
            <a:avLst/>
          </a:prstGeom>
        </p:spPr>
      </p:pic>
      <p:sp>
        <p:nvSpPr>
          <p:cNvPr id="34" name="Text 25"/>
          <p:cNvSpPr txBox="1"/>
          <p:nvPr/>
        </p:nvSpPr>
        <p:spPr>
          <a:xfrm>
            <a:off x="8683600"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Testing &amp; Debugging</a:t>
            </a:r>
            <a:endParaRPr lang="en-US" sz="1100" dirty="0"/>
          </a:p>
        </p:txBody>
      </p:sp>
      <p:sp>
        <p:nvSpPr>
          <p:cNvPr id="35" name="Text 26"/>
          <p:cNvSpPr txBox="1"/>
          <p:nvPr/>
        </p:nvSpPr>
        <p:spPr>
          <a:xfrm>
            <a:off x="8701888"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Manual, browser-based verification.</a:t>
            </a:r>
            <a:endParaRPr lang="en-US" sz="950" dirty="0"/>
          </a:p>
        </p:txBody>
      </p:sp>
      <p:sp>
        <p:nvSpPr>
          <p:cNvPr id="36" name="Shape 27"/>
          <p:cNvSpPr/>
          <p:nvPr/>
        </p:nvSpPr>
        <p:spPr>
          <a:xfrm>
            <a:off x="10247224" y="3429000"/>
            <a:ext cx="1517904" cy="2606040"/>
          </a:xfrm>
          <a:prstGeom prst="roundRect">
            <a:avLst>
              <a:gd name="adj" fmla="val 5422"/>
            </a:avLst>
          </a:prstGeom>
          <a:solidFill>
            <a:srgbClr val="FFFFFF"/>
          </a:solidFill>
          <a:ln w="12700">
            <a:solidFill>
              <a:srgbClr val="DCE3EE"/>
            </a:solidFill>
            <a:prstDash val="solid"/>
          </a:ln>
        </p:spPr>
      </p:sp>
      <p:sp>
        <p:nvSpPr>
          <p:cNvPr id="37" name="Shape 28"/>
          <p:cNvSpPr/>
          <p:nvPr/>
        </p:nvSpPr>
        <p:spPr>
          <a:xfrm>
            <a:off x="10750144" y="3630168"/>
            <a:ext cx="512064" cy="512064"/>
          </a:xfrm>
          <a:prstGeom prst="ellipse">
            <a:avLst/>
          </a:prstGeom>
          <a:solidFill>
            <a:srgbClr val="EAF0FB"/>
          </a:solidFill>
          <a:ln/>
        </p:spPr>
      </p:sp>
      <p:pic>
        <p:nvPicPr>
          <p:cNvPr id="38" name="Image 7" descr="/home/claude/pptx_build/icons/git.png"/>
          <p:cNvPicPr>
            <a:picLocks noChangeAspect="1"/>
          </p:cNvPicPr>
          <p:nvPr/>
        </p:nvPicPr>
        <p:blipFill>
          <a:blip r:embed="rId10"/>
          <a:stretch>
            <a:fillRect/>
          </a:stretch>
        </p:blipFill>
        <p:spPr>
          <a:xfrm>
            <a:off x="10862798" y="3742822"/>
            <a:ext cx="286756" cy="286756"/>
          </a:xfrm>
          <a:prstGeom prst="rect">
            <a:avLst/>
          </a:prstGeom>
        </p:spPr>
      </p:pic>
      <p:sp>
        <p:nvSpPr>
          <p:cNvPr id="39" name="Text 29"/>
          <p:cNvSpPr txBox="1"/>
          <p:nvPr/>
        </p:nvSpPr>
        <p:spPr>
          <a:xfrm>
            <a:off x="10320376" y="4270248"/>
            <a:ext cx="1371600" cy="594360"/>
          </a:xfrm>
          <a:prstGeom prst="rect">
            <a:avLst/>
          </a:prstGeom>
          <a:noFill/>
          <a:ln/>
        </p:spPr>
        <p:txBody>
          <a:bodyPr wrap="square" lIns="0" tIns="0" rIns="0" bIns="0" rtlCol="0" anchor="t"/>
          <a:lstStyle/>
          <a:p>
            <a:pPr marL="0" indent="0" algn="ctr">
              <a:buNone/>
            </a:pPr>
            <a:r>
              <a:rPr lang="en-US" sz="1100" b="1" dirty="0">
                <a:solidFill>
                  <a:srgbClr val="1F3A5F"/>
                </a:solidFill>
                <a:latin typeface="Calibri" pitchFamily="34" charset="0"/>
                <a:ea typeface="Calibri" pitchFamily="34" charset="-122"/>
                <a:cs typeface="Calibri" pitchFamily="34" charset="-120"/>
              </a:rPr>
              <a:t>Documentation &amp; Git</a:t>
            </a:r>
            <a:endParaRPr lang="en-US" sz="1100" dirty="0"/>
          </a:p>
        </p:txBody>
      </p:sp>
      <p:sp>
        <p:nvSpPr>
          <p:cNvPr id="40" name="Text 30"/>
          <p:cNvSpPr txBox="1"/>
          <p:nvPr/>
        </p:nvSpPr>
        <p:spPr>
          <a:xfrm>
            <a:off x="10338664" y="4846320"/>
            <a:ext cx="1335024" cy="1097280"/>
          </a:xfrm>
          <a:prstGeom prst="rect">
            <a:avLst/>
          </a:prstGeom>
          <a:noFill/>
          <a:ln/>
        </p:spPr>
        <p:txBody>
          <a:bodyPr wrap="square" lIns="0" tIns="0" rIns="0" bIns="0" rtlCol="0" anchor="t"/>
          <a:lstStyle/>
          <a:p>
            <a:pPr marL="0" indent="0" algn="ctr">
              <a:buNone/>
            </a:pPr>
            <a:r>
              <a:rPr lang="en-US" sz="950" dirty="0">
                <a:solidFill>
                  <a:srgbClr val="667085"/>
                </a:solidFill>
                <a:latin typeface="Calibri" pitchFamily="34" charset="0"/>
                <a:ea typeface="Calibri" pitchFamily="34" charset="-122"/>
                <a:cs typeface="Calibri" pitchFamily="34" charset="-120"/>
              </a:rPr>
              <a:t>Code comments, README, GitHub commits.</a:t>
            </a:r>
            <a:endParaRPr lang="en-US" sz="950" dirty="0"/>
          </a:p>
        </p:txBody>
      </p:sp>
      <p:sp>
        <p:nvSpPr>
          <p:cNvPr id="41" name="Text 31"/>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42" name="Text 32"/>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TASK 01</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Responsive Landing Page</a:t>
            </a:r>
            <a:endParaRPr lang="en-US" sz="3000" dirty="0"/>
          </a:p>
        </p:txBody>
      </p:sp>
      <p:sp>
        <p:nvSpPr>
          <p:cNvPr id="4" name="Shape 2"/>
          <p:cNvSpPr/>
          <p:nvPr/>
        </p:nvSpPr>
        <p:spPr>
          <a:xfrm>
            <a:off x="548640" y="1417320"/>
            <a:ext cx="5120640" cy="4892040"/>
          </a:xfrm>
          <a:prstGeom prst="roundRect">
            <a:avLst>
              <a:gd name="adj" fmla="val 1682"/>
            </a:avLst>
          </a:prstGeom>
          <a:solidFill>
            <a:srgbClr val="E9EDF4"/>
          </a:solidFill>
          <a:ln w="15875">
            <a:solidFill>
              <a:srgbClr val="C7D0E0"/>
            </a:solidFill>
            <a:prstDash val="dash"/>
          </a:ln>
        </p:spPr>
      </p:sp>
      <p:sp>
        <p:nvSpPr>
          <p:cNvPr id="5" name="Shape 3"/>
          <p:cNvSpPr/>
          <p:nvPr/>
        </p:nvSpPr>
        <p:spPr>
          <a:xfrm>
            <a:off x="2720340" y="3154680"/>
            <a:ext cx="777240" cy="777240"/>
          </a:xfrm>
          <a:prstGeom prst="ellipse">
            <a:avLst/>
          </a:prstGeom>
          <a:solidFill>
            <a:srgbClr val="DCE4F1"/>
          </a:solidFill>
          <a:ln/>
        </p:spPr>
      </p:sp>
      <p:pic>
        <p:nvPicPr>
          <p:cNvPr id="6" name="Image 0" descr="/home/claude/pptx_build/icons/responsive.png"/>
          <p:cNvPicPr>
            <a:picLocks noChangeAspect="1"/>
          </p:cNvPicPr>
          <p:nvPr/>
        </p:nvPicPr>
        <p:blipFill>
          <a:blip r:embed="rId3"/>
          <a:stretch>
            <a:fillRect/>
          </a:stretch>
        </p:blipFill>
        <p:spPr>
          <a:xfrm>
            <a:off x="2891333" y="3325673"/>
            <a:ext cx="435254" cy="435254"/>
          </a:xfrm>
          <a:prstGeom prst="rect">
            <a:avLst/>
          </a:prstGeom>
        </p:spPr>
      </p:pic>
      <p:sp>
        <p:nvSpPr>
          <p:cNvPr id="7" name="Text 4"/>
          <p:cNvSpPr txBox="1"/>
          <p:nvPr/>
        </p:nvSpPr>
        <p:spPr>
          <a:xfrm>
            <a:off x="914400" y="4091940"/>
            <a:ext cx="4389120" cy="365760"/>
          </a:xfrm>
          <a:prstGeom prst="rect">
            <a:avLst/>
          </a:prstGeom>
          <a:noFill/>
          <a:ln/>
        </p:spPr>
        <p:txBody>
          <a:bodyPr wrap="square" lIns="0" tIns="0" rIns="0" bIns="0" rtlCol="0" anchor="ctr"/>
          <a:lstStyle/>
          <a:p>
            <a:pPr marL="0" indent="0" algn="ctr">
              <a:buNone/>
            </a:pPr>
            <a:r>
              <a:rPr lang="en-US" sz="1250" i="1" dirty="0">
                <a:solidFill>
                  <a:srgbClr val="7C8AA0"/>
                </a:solidFill>
                <a:latin typeface="Calibri" pitchFamily="34" charset="0"/>
                <a:ea typeface="Calibri" pitchFamily="34" charset="-122"/>
                <a:cs typeface="Calibri" pitchFamily="34" charset="-120"/>
              </a:rPr>
              <a:t>[ INSERT ACTUAL SCREENSHOT HERE ]</a:t>
            </a:r>
            <a:endParaRPr lang="en-US" sz="1250" dirty="0"/>
          </a:p>
        </p:txBody>
      </p:sp>
      <p:sp>
        <p:nvSpPr>
          <p:cNvPr id="8" name="Text 5"/>
          <p:cNvSpPr txBox="1"/>
          <p:nvPr/>
        </p:nvSpPr>
        <p:spPr>
          <a:xfrm>
            <a:off x="5897880" y="1417320"/>
            <a:ext cx="571500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Key Features</a:t>
            </a:r>
            <a:endParaRPr lang="en-US" sz="1400" dirty="0"/>
          </a:p>
        </p:txBody>
      </p:sp>
      <p:sp>
        <p:nvSpPr>
          <p:cNvPr id="9" name="Shape 6"/>
          <p:cNvSpPr/>
          <p:nvPr/>
        </p:nvSpPr>
        <p:spPr>
          <a:xfrm>
            <a:off x="5897880" y="1801368"/>
            <a:ext cx="2766060" cy="566928"/>
          </a:xfrm>
          <a:prstGeom prst="roundRect">
            <a:avLst>
              <a:gd name="adj" fmla="val 14516"/>
            </a:avLst>
          </a:prstGeom>
          <a:solidFill>
            <a:srgbClr val="FFFFFF"/>
          </a:solidFill>
          <a:ln w="12700">
            <a:solidFill>
              <a:srgbClr val="DCE3EE"/>
            </a:solidFill>
            <a:prstDash val="solid"/>
          </a:ln>
        </p:spPr>
      </p:sp>
      <p:sp>
        <p:nvSpPr>
          <p:cNvPr id="10" name="Shape 7"/>
          <p:cNvSpPr/>
          <p:nvPr/>
        </p:nvSpPr>
        <p:spPr>
          <a:xfrm>
            <a:off x="6025896" y="2043684"/>
            <a:ext cx="82296" cy="82296"/>
          </a:xfrm>
          <a:prstGeom prst="ellipse">
            <a:avLst/>
          </a:prstGeom>
          <a:solidFill>
            <a:srgbClr val="8B1E3F"/>
          </a:solidFill>
          <a:ln/>
        </p:spPr>
      </p:sp>
      <p:sp>
        <p:nvSpPr>
          <p:cNvPr id="11" name="Text 8"/>
          <p:cNvSpPr txBox="1"/>
          <p:nvPr/>
        </p:nvSpPr>
        <p:spPr>
          <a:xfrm>
            <a:off x="619048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Fixed, scroll-aware navigation bar</a:t>
            </a:r>
            <a:endParaRPr lang="en-US" sz="1100" dirty="0"/>
          </a:p>
        </p:txBody>
      </p:sp>
      <p:sp>
        <p:nvSpPr>
          <p:cNvPr id="12" name="Shape 9"/>
          <p:cNvSpPr/>
          <p:nvPr/>
        </p:nvSpPr>
        <p:spPr>
          <a:xfrm>
            <a:off x="8846820" y="1801368"/>
            <a:ext cx="2766060" cy="566928"/>
          </a:xfrm>
          <a:prstGeom prst="roundRect">
            <a:avLst>
              <a:gd name="adj" fmla="val 14516"/>
            </a:avLst>
          </a:prstGeom>
          <a:solidFill>
            <a:srgbClr val="FFFFFF"/>
          </a:solidFill>
          <a:ln w="12700">
            <a:solidFill>
              <a:srgbClr val="DCE3EE"/>
            </a:solidFill>
            <a:prstDash val="solid"/>
          </a:ln>
        </p:spPr>
      </p:sp>
      <p:sp>
        <p:nvSpPr>
          <p:cNvPr id="13" name="Shape 10"/>
          <p:cNvSpPr/>
          <p:nvPr/>
        </p:nvSpPr>
        <p:spPr>
          <a:xfrm>
            <a:off x="8974836" y="2043684"/>
            <a:ext cx="82296" cy="82296"/>
          </a:xfrm>
          <a:prstGeom prst="ellipse">
            <a:avLst/>
          </a:prstGeom>
          <a:solidFill>
            <a:srgbClr val="8B1E3F"/>
          </a:solidFill>
          <a:ln/>
        </p:spPr>
      </p:sp>
      <p:sp>
        <p:nvSpPr>
          <p:cNvPr id="14" name="Text 11"/>
          <p:cNvSpPr txBox="1"/>
          <p:nvPr/>
        </p:nvSpPr>
        <p:spPr>
          <a:xfrm>
            <a:off x="913942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Responsive layout (mobile / tablet / desktop)</a:t>
            </a:r>
            <a:endParaRPr lang="en-US" sz="1100" dirty="0"/>
          </a:p>
        </p:txBody>
      </p:sp>
      <p:sp>
        <p:nvSpPr>
          <p:cNvPr id="15" name="Shape 12"/>
          <p:cNvSpPr/>
          <p:nvPr/>
        </p:nvSpPr>
        <p:spPr>
          <a:xfrm>
            <a:off x="5897880" y="2505456"/>
            <a:ext cx="2766060" cy="566928"/>
          </a:xfrm>
          <a:prstGeom prst="roundRect">
            <a:avLst>
              <a:gd name="adj" fmla="val 14516"/>
            </a:avLst>
          </a:prstGeom>
          <a:solidFill>
            <a:srgbClr val="FFFFFF"/>
          </a:solidFill>
          <a:ln w="12700">
            <a:solidFill>
              <a:srgbClr val="DCE3EE"/>
            </a:solidFill>
            <a:prstDash val="solid"/>
          </a:ln>
        </p:spPr>
      </p:sp>
      <p:sp>
        <p:nvSpPr>
          <p:cNvPr id="16" name="Shape 13"/>
          <p:cNvSpPr/>
          <p:nvPr/>
        </p:nvSpPr>
        <p:spPr>
          <a:xfrm>
            <a:off x="6025896" y="2747772"/>
            <a:ext cx="82296" cy="82296"/>
          </a:xfrm>
          <a:prstGeom prst="ellipse">
            <a:avLst/>
          </a:prstGeom>
          <a:solidFill>
            <a:srgbClr val="8B1E3F"/>
          </a:solidFill>
          <a:ln/>
        </p:spPr>
      </p:sp>
      <p:sp>
        <p:nvSpPr>
          <p:cNvPr id="17" name="Text 14"/>
          <p:cNvSpPr txBox="1"/>
          <p:nvPr/>
        </p:nvSpPr>
        <p:spPr>
          <a:xfrm>
            <a:off x="619048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Mobile navigation drawer</a:t>
            </a:r>
            <a:endParaRPr lang="en-US" sz="1100" dirty="0"/>
          </a:p>
        </p:txBody>
      </p:sp>
      <p:sp>
        <p:nvSpPr>
          <p:cNvPr id="18" name="Shape 15"/>
          <p:cNvSpPr/>
          <p:nvPr/>
        </p:nvSpPr>
        <p:spPr>
          <a:xfrm>
            <a:off x="8846820" y="2505456"/>
            <a:ext cx="2766060" cy="566928"/>
          </a:xfrm>
          <a:prstGeom prst="roundRect">
            <a:avLst>
              <a:gd name="adj" fmla="val 14516"/>
            </a:avLst>
          </a:prstGeom>
          <a:solidFill>
            <a:srgbClr val="FFFFFF"/>
          </a:solidFill>
          <a:ln w="12700">
            <a:solidFill>
              <a:srgbClr val="DCE3EE"/>
            </a:solidFill>
            <a:prstDash val="solid"/>
          </a:ln>
        </p:spPr>
      </p:sp>
      <p:sp>
        <p:nvSpPr>
          <p:cNvPr id="19" name="Shape 16"/>
          <p:cNvSpPr/>
          <p:nvPr/>
        </p:nvSpPr>
        <p:spPr>
          <a:xfrm>
            <a:off x="8974836" y="2747772"/>
            <a:ext cx="82296" cy="82296"/>
          </a:xfrm>
          <a:prstGeom prst="ellipse">
            <a:avLst/>
          </a:prstGeom>
          <a:solidFill>
            <a:srgbClr val="8B1E3F"/>
          </a:solidFill>
          <a:ln/>
        </p:spPr>
      </p:sp>
      <p:sp>
        <p:nvSpPr>
          <p:cNvPr id="20" name="Text 17"/>
          <p:cNvSpPr txBox="1"/>
          <p:nvPr/>
        </p:nvSpPr>
        <p:spPr>
          <a:xfrm>
            <a:off x="913942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Active-section scrollspy</a:t>
            </a:r>
            <a:endParaRPr lang="en-US" sz="1100" dirty="0"/>
          </a:p>
        </p:txBody>
      </p:sp>
      <p:sp>
        <p:nvSpPr>
          <p:cNvPr id="21" name="Shape 18"/>
          <p:cNvSpPr/>
          <p:nvPr/>
        </p:nvSpPr>
        <p:spPr>
          <a:xfrm>
            <a:off x="5897880" y="3209544"/>
            <a:ext cx="2766060" cy="566928"/>
          </a:xfrm>
          <a:prstGeom prst="roundRect">
            <a:avLst>
              <a:gd name="adj" fmla="val 14516"/>
            </a:avLst>
          </a:prstGeom>
          <a:solidFill>
            <a:srgbClr val="FFFFFF"/>
          </a:solidFill>
          <a:ln w="12700">
            <a:solidFill>
              <a:srgbClr val="DCE3EE"/>
            </a:solidFill>
            <a:prstDash val="solid"/>
          </a:ln>
        </p:spPr>
      </p:sp>
      <p:sp>
        <p:nvSpPr>
          <p:cNvPr id="22" name="Shape 19"/>
          <p:cNvSpPr/>
          <p:nvPr/>
        </p:nvSpPr>
        <p:spPr>
          <a:xfrm>
            <a:off x="6025896" y="3451860"/>
            <a:ext cx="82296" cy="82296"/>
          </a:xfrm>
          <a:prstGeom prst="ellipse">
            <a:avLst/>
          </a:prstGeom>
          <a:solidFill>
            <a:srgbClr val="8B1E3F"/>
          </a:solidFill>
          <a:ln/>
        </p:spPr>
      </p:sp>
      <p:sp>
        <p:nvSpPr>
          <p:cNvPr id="23" name="Text 20"/>
          <p:cNvSpPr txBox="1"/>
          <p:nvPr/>
        </p:nvSpPr>
        <p:spPr>
          <a:xfrm>
            <a:off x="619048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Smooth anchor scrolling</a:t>
            </a:r>
            <a:endParaRPr lang="en-US" sz="1100" dirty="0"/>
          </a:p>
        </p:txBody>
      </p:sp>
      <p:sp>
        <p:nvSpPr>
          <p:cNvPr id="24" name="Shape 21"/>
          <p:cNvSpPr/>
          <p:nvPr/>
        </p:nvSpPr>
        <p:spPr>
          <a:xfrm>
            <a:off x="8846820" y="3209544"/>
            <a:ext cx="2766060" cy="566928"/>
          </a:xfrm>
          <a:prstGeom prst="roundRect">
            <a:avLst>
              <a:gd name="adj" fmla="val 14516"/>
            </a:avLst>
          </a:prstGeom>
          <a:solidFill>
            <a:srgbClr val="FFFFFF"/>
          </a:solidFill>
          <a:ln w="12700">
            <a:solidFill>
              <a:srgbClr val="DCE3EE"/>
            </a:solidFill>
            <a:prstDash val="solid"/>
          </a:ln>
        </p:spPr>
      </p:sp>
      <p:sp>
        <p:nvSpPr>
          <p:cNvPr id="25" name="Shape 22"/>
          <p:cNvSpPr/>
          <p:nvPr/>
        </p:nvSpPr>
        <p:spPr>
          <a:xfrm>
            <a:off x="8974836" y="3451860"/>
            <a:ext cx="82296" cy="82296"/>
          </a:xfrm>
          <a:prstGeom prst="ellipse">
            <a:avLst/>
          </a:prstGeom>
          <a:solidFill>
            <a:srgbClr val="8B1E3F"/>
          </a:solidFill>
          <a:ln/>
        </p:spPr>
      </p:sp>
      <p:sp>
        <p:nvSpPr>
          <p:cNvPr id="26" name="Text 23"/>
          <p:cNvSpPr txBox="1"/>
          <p:nvPr/>
        </p:nvSpPr>
        <p:spPr>
          <a:xfrm>
            <a:off x="913942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Client-side form validation</a:t>
            </a:r>
            <a:endParaRPr lang="en-US" sz="1100" dirty="0"/>
          </a:p>
        </p:txBody>
      </p:sp>
      <p:sp>
        <p:nvSpPr>
          <p:cNvPr id="27" name="Shape 24"/>
          <p:cNvSpPr/>
          <p:nvPr/>
        </p:nvSpPr>
        <p:spPr>
          <a:xfrm>
            <a:off x="5897880" y="4005072"/>
            <a:ext cx="5715000" cy="2304288"/>
          </a:xfrm>
          <a:prstGeom prst="roundRect">
            <a:avLst>
              <a:gd name="adj" fmla="val 3571"/>
            </a:avLst>
          </a:prstGeom>
          <a:solidFill>
            <a:srgbClr val="FCEFEF"/>
          </a:solidFill>
          <a:ln w="12700">
            <a:solidFill>
              <a:srgbClr val="E9C9D2"/>
            </a:solidFill>
            <a:prstDash val="solid"/>
          </a:ln>
        </p:spPr>
      </p:sp>
      <p:sp>
        <p:nvSpPr>
          <p:cNvPr id="28" name="Shape 25"/>
          <p:cNvSpPr/>
          <p:nvPr/>
        </p:nvSpPr>
        <p:spPr>
          <a:xfrm>
            <a:off x="6126480" y="4187952"/>
            <a:ext cx="548640" cy="548640"/>
          </a:xfrm>
          <a:prstGeom prst="ellipse">
            <a:avLst/>
          </a:prstGeom>
          <a:solidFill>
            <a:srgbClr val="F3E0E6"/>
          </a:solidFill>
          <a:ln/>
        </p:spPr>
      </p:sp>
      <p:pic>
        <p:nvPicPr>
          <p:cNvPr id="29" name="Image 1" descr="/home/claude/pptx_build/icons/cpu.png"/>
          <p:cNvPicPr>
            <a:picLocks noChangeAspect="1"/>
          </p:cNvPicPr>
          <p:nvPr/>
        </p:nvPicPr>
        <p:blipFill>
          <a:blip r:embed="rId4"/>
          <a:stretch>
            <a:fillRect/>
          </a:stretch>
        </p:blipFill>
        <p:spPr>
          <a:xfrm>
            <a:off x="6247181" y="4308653"/>
            <a:ext cx="307238" cy="307238"/>
          </a:xfrm>
          <a:prstGeom prst="rect">
            <a:avLst/>
          </a:prstGeom>
        </p:spPr>
      </p:pic>
      <p:sp>
        <p:nvSpPr>
          <p:cNvPr id="30" name="Text 26"/>
          <p:cNvSpPr txBox="1"/>
          <p:nvPr/>
        </p:nvSpPr>
        <p:spPr>
          <a:xfrm>
            <a:off x="6812280" y="4169664"/>
            <a:ext cx="4617720" cy="292608"/>
          </a:xfrm>
          <a:prstGeom prst="rect">
            <a:avLst/>
          </a:prstGeom>
          <a:noFill/>
          <a:ln/>
        </p:spPr>
        <p:txBody>
          <a:bodyPr wrap="square" lIns="0" tIns="0" rIns="0" bIns="0" rtlCol="0" anchor="ctr"/>
          <a:lstStyle/>
          <a:p>
            <a:pPr marL="0" indent="0">
              <a:buNone/>
            </a:pPr>
            <a:r>
              <a:rPr lang="en-US" sz="1200" b="1" dirty="0">
                <a:solidFill>
                  <a:srgbClr val="8B1E3F"/>
                </a:solidFill>
                <a:latin typeface="Calibri" pitchFamily="34" charset="0"/>
                <a:ea typeface="Calibri" pitchFamily="34" charset="-122"/>
                <a:cs typeface="Calibri" pitchFamily="34" charset="-120"/>
              </a:rPr>
              <a:t>Technical Highlight</a:t>
            </a:r>
            <a:endParaRPr lang="en-US" sz="1200" dirty="0"/>
          </a:p>
        </p:txBody>
      </p:sp>
      <p:sp>
        <p:nvSpPr>
          <p:cNvPr id="31" name="Text 27"/>
          <p:cNvSpPr txBox="1"/>
          <p:nvPr/>
        </p:nvSpPr>
        <p:spPr>
          <a:xfrm>
            <a:off x="6812280" y="4462272"/>
            <a:ext cx="4572000" cy="1709928"/>
          </a:xfrm>
          <a:prstGeom prst="rect">
            <a:avLst/>
          </a:prstGeom>
          <a:noFill/>
          <a:ln/>
        </p:spPr>
        <p:txBody>
          <a:bodyPr wrap="square" lIns="0" tIns="0" rIns="0" bIns="0" rtlCol="0" anchor="t"/>
          <a:lstStyle/>
          <a:p>
            <a:pPr marL="0" indent="0">
              <a:buNone/>
            </a:pPr>
            <a:r>
              <a:rPr lang="en-US" sz="1150" dirty="0">
                <a:solidFill>
                  <a:srgbClr val="222B3A"/>
                </a:solidFill>
                <a:latin typeface="Calibri" pitchFamily="34" charset="0"/>
                <a:ea typeface="Calibri" pitchFamily="34" charset="-122"/>
                <a:cs typeface="Calibri" pitchFamily="34" charset="-120"/>
              </a:rPr>
              <a:t>IntersectionObserver powers efficient active-section tracking — detecting which section is in view without expensive scroll polling.</a:t>
            </a:r>
            <a:endParaRPr lang="en-US" sz="1150" dirty="0"/>
          </a:p>
        </p:txBody>
      </p:sp>
      <p:sp>
        <p:nvSpPr>
          <p:cNvPr id="32" name="Text 28"/>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3" name="Text 29"/>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7</a:t>
            </a:r>
            <a:endParaRPr lang="en-US" sz="900" dirty="0"/>
          </a:p>
        </p:txBody>
      </p:sp>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05" y="1342458"/>
            <a:ext cx="5779693" cy="49669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TASK 02</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Stopwatch Web Application</a:t>
            </a:r>
            <a:endParaRPr lang="en-US" sz="3000" dirty="0"/>
          </a:p>
        </p:txBody>
      </p:sp>
      <p:sp>
        <p:nvSpPr>
          <p:cNvPr id="4" name="Shape 2"/>
          <p:cNvSpPr/>
          <p:nvPr/>
        </p:nvSpPr>
        <p:spPr>
          <a:xfrm>
            <a:off x="548640" y="1417320"/>
            <a:ext cx="5120640" cy="4892040"/>
          </a:xfrm>
          <a:prstGeom prst="roundRect">
            <a:avLst>
              <a:gd name="adj" fmla="val 1682"/>
            </a:avLst>
          </a:prstGeom>
          <a:solidFill>
            <a:srgbClr val="E9EDF4"/>
          </a:solidFill>
          <a:ln w="15875">
            <a:solidFill>
              <a:srgbClr val="C7D0E0"/>
            </a:solidFill>
            <a:prstDash val="dash"/>
          </a:ln>
        </p:spPr>
      </p:sp>
      <p:sp>
        <p:nvSpPr>
          <p:cNvPr id="5" name="Shape 3"/>
          <p:cNvSpPr/>
          <p:nvPr/>
        </p:nvSpPr>
        <p:spPr>
          <a:xfrm>
            <a:off x="2720340" y="3154680"/>
            <a:ext cx="777240" cy="777240"/>
          </a:xfrm>
          <a:prstGeom prst="ellipse">
            <a:avLst/>
          </a:prstGeom>
          <a:solidFill>
            <a:srgbClr val="DCE4F1"/>
          </a:solidFill>
          <a:ln/>
        </p:spPr>
      </p:sp>
      <p:pic>
        <p:nvPicPr>
          <p:cNvPr id="6" name="Image 0" descr="/home/claude/pptx_build/icons/timer.png"/>
          <p:cNvPicPr>
            <a:picLocks noChangeAspect="1"/>
          </p:cNvPicPr>
          <p:nvPr/>
        </p:nvPicPr>
        <p:blipFill>
          <a:blip r:embed="rId3"/>
          <a:stretch>
            <a:fillRect/>
          </a:stretch>
        </p:blipFill>
        <p:spPr>
          <a:xfrm>
            <a:off x="2891333" y="3325673"/>
            <a:ext cx="435254" cy="435254"/>
          </a:xfrm>
          <a:prstGeom prst="rect">
            <a:avLst/>
          </a:prstGeom>
        </p:spPr>
      </p:pic>
      <p:sp>
        <p:nvSpPr>
          <p:cNvPr id="7" name="Text 4"/>
          <p:cNvSpPr txBox="1"/>
          <p:nvPr/>
        </p:nvSpPr>
        <p:spPr>
          <a:xfrm>
            <a:off x="914400" y="4091940"/>
            <a:ext cx="4389120" cy="365760"/>
          </a:xfrm>
          <a:prstGeom prst="rect">
            <a:avLst/>
          </a:prstGeom>
          <a:noFill/>
          <a:ln/>
        </p:spPr>
        <p:txBody>
          <a:bodyPr wrap="square" lIns="0" tIns="0" rIns="0" bIns="0" rtlCol="0" anchor="ctr"/>
          <a:lstStyle/>
          <a:p>
            <a:pPr marL="0" indent="0" algn="ctr">
              <a:buNone/>
            </a:pPr>
            <a:r>
              <a:rPr lang="en-US" sz="1250" i="1" dirty="0">
                <a:solidFill>
                  <a:srgbClr val="7C8AA0"/>
                </a:solidFill>
                <a:latin typeface="Calibri" pitchFamily="34" charset="0"/>
                <a:ea typeface="Calibri" pitchFamily="34" charset="-122"/>
                <a:cs typeface="Calibri" pitchFamily="34" charset="-120"/>
              </a:rPr>
              <a:t>[ INSERT ACTUAL SCREENSHOT HERE ]</a:t>
            </a:r>
            <a:endParaRPr lang="en-US" sz="1250" dirty="0"/>
          </a:p>
        </p:txBody>
      </p:sp>
      <p:sp>
        <p:nvSpPr>
          <p:cNvPr id="8" name="Text 5"/>
          <p:cNvSpPr txBox="1"/>
          <p:nvPr/>
        </p:nvSpPr>
        <p:spPr>
          <a:xfrm>
            <a:off x="5897880" y="1417320"/>
            <a:ext cx="571500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Key Features</a:t>
            </a:r>
            <a:endParaRPr lang="en-US" sz="1400" dirty="0"/>
          </a:p>
        </p:txBody>
      </p:sp>
      <p:sp>
        <p:nvSpPr>
          <p:cNvPr id="9" name="Shape 6"/>
          <p:cNvSpPr/>
          <p:nvPr/>
        </p:nvSpPr>
        <p:spPr>
          <a:xfrm>
            <a:off x="5897880" y="1801368"/>
            <a:ext cx="2766060" cy="566928"/>
          </a:xfrm>
          <a:prstGeom prst="roundRect">
            <a:avLst>
              <a:gd name="adj" fmla="val 14516"/>
            </a:avLst>
          </a:prstGeom>
          <a:solidFill>
            <a:srgbClr val="FFFFFF"/>
          </a:solidFill>
          <a:ln w="12700">
            <a:solidFill>
              <a:srgbClr val="DCE3EE"/>
            </a:solidFill>
            <a:prstDash val="solid"/>
          </a:ln>
        </p:spPr>
      </p:sp>
      <p:sp>
        <p:nvSpPr>
          <p:cNvPr id="10" name="Shape 7"/>
          <p:cNvSpPr/>
          <p:nvPr/>
        </p:nvSpPr>
        <p:spPr>
          <a:xfrm>
            <a:off x="6025896" y="2043684"/>
            <a:ext cx="82296" cy="82296"/>
          </a:xfrm>
          <a:prstGeom prst="ellipse">
            <a:avLst/>
          </a:prstGeom>
          <a:solidFill>
            <a:srgbClr val="8B1E3F"/>
          </a:solidFill>
          <a:ln/>
        </p:spPr>
      </p:sp>
      <p:sp>
        <p:nvSpPr>
          <p:cNvPr id="11" name="Text 8"/>
          <p:cNvSpPr txBox="1"/>
          <p:nvPr/>
        </p:nvSpPr>
        <p:spPr>
          <a:xfrm>
            <a:off x="619048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Start / Pause / Reset controls</a:t>
            </a:r>
            <a:endParaRPr lang="en-US" sz="1100" dirty="0"/>
          </a:p>
        </p:txBody>
      </p:sp>
      <p:sp>
        <p:nvSpPr>
          <p:cNvPr id="12" name="Shape 9"/>
          <p:cNvSpPr/>
          <p:nvPr/>
        </p:nvSpPr>
        <p:spPr>
          <a:xfrm>
            <a:off x="8846820" y="1801368"/>
            <a:ext cx="2766060" cy="566928"/>
          </a:xfrm>
          <a:prstGeom prst="roundRect">
            <a:avLst>
              <a:gd name="adj" fmla="val 14516"/>
            </a:avLst>
          </a:prstGeom>
          <a:solidFill>
            <a:srgbClr val="FFFFFF"/>
          </a:solidFill>
          <a:ln w="12700">
            <a:solidFill>
              <a:srgbClr val="DCE3EE"/>
            </a:solidFill>
            <a:prstDash val="solid"/>
          </a:ln>
        </p:spPr>
      </p:sp>
      <p:sp>
        <p:nvSpPr>
          <p:cNvPr id="13" name="Shape 10"/>
          <p:cNvSpPr/>
          <p:nvPr/>
        </p:nvSpPr>
        <p:spPr>
          <a:xfrm>
            <a:off x="8974836" y="2043684"/>
            <a:ext cx="82296" cy="82296"/>
          </a:xfrm>
          <a:prstGeom prst="ellipse">
            <a:avLst/>
          </a:prstGeom>
          <a:solidFill>
            <a:srgbClr val="8B1E3F"/>
          </a:solidFill>
          <a:ln/>
        </p:spPr>
      </p:sp>
      <p:sp>
        <p:nvSpPr>
          <p:cNvPr id="14" name="Text 11"/>
          <p:cNvSpPr txBox="1"/>
          <p:nvPr/>
        </p:nvSpPr>
        <p:spPr>
          <a:xfrm>
            <a:off x="913942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Lap tracking with split-time calculation</a:t>
            </a:r>
            <a:endParaRPr lang="en-US" sz="1100" dirty="0"/>
          </a:p>
        </p:txBody>
      </p:sp>
      <p:sp>
        <p:nvSpPr>
          <p:cNvPr id="15" name="Shape 12"/>
          <p:cNvSpPr/>
          <p:nvPr/>
        </p:nvSpPr>
        <p:spPr>
          <a:xfrm>
            <a:off x="5897880" y="2505456"/>
            <a:ext cx="2766060" cy="566928"/>
          </a:xfrm>
          <a:prstGeom prst="roundRect">
            <a:avLst>
              <a:gd name="adj" fmla="val 14516"/>
            </a:avLst>
          </a:prstGeom>
          <a:solidFill>
            <a:srgbClr val="FFFFFF"/>
          </a:solidFill>
          <a:ln w="12700">
            <a:solidFill>
              <a:srgbClr val="DCE3EE"/>
            </a:solidFill>
            <a:prstDash val="solid"/>
          </a:ln>
        </p:spPr>
      </p:sp>
      <p:sp>
        <p:nvSpPr>
          <p:cNvPr id="16" name="Shape 13"/>
          <p:cNvSpPr/>
          <p:nvPr/>
        </p:nvSpPr>
        <p:spPr>
          <a:xfrm>
            <a:off x="6025896" y="2747772"/>
            <a:ext cx="82296" cy="82296"/>
          </a:xfrm>
          <a:prstGeom prst="ellipse">
            <a:avLst/>
          </a:prstGeom>
          <a:solidFill>
            <a:srgbClr val="8B1E3F"/>
          </a:solidFill>
          <a:ln/>
        </p:spPr>
      </p:sp>
      <p:sp>
        <p:nvSpPr>
          <p:cNvPr id="17" name="Text 14"/>
          <p:cNvSpPr txBox="1"/>
          <p:nvPr/>
        </p:nvSpPr>
        <p:spPr>
          <a:xfrm>
            <a:off x="619048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Fastest / slowest lap indicators</a:t>
            </a:r>
            <a:endParaRPr lang="en-US" sz="1100" dirty="0"/>
          </a:p>
        </p:txBody>
      </p:sp>
      <p:sp>
        <p:nvSpPr>
          <p:cNvPr id="18" name="Shape 15"/>
          <p:cNvSpPr/>
          <p:nvPr/>
        </p:nvSpPr>
        <p:spPr>
          <a:xfrm>
            <a:off x="8846820" y="2505456"/>
            <a:ext cx="2766060" cy="566928"/>
          </a:xfrm>
          <a:prstGeom prst="roundRect">
            <a:avLst>
              <a:gd name="adj" fmla="val 14516"/>
            </a:avLst>
          </a:prstGeom>
          <a:solidFill>
            <a:srgbClr val="FFFFFF"/>
          </a:solidFill>
          <a:ln w="12700">
            <a:solidFill>
              <a:srgbClr val="DCE3EE"/>
            </a:solidFill>
            <a:prstDash val="solid"/>
          </a:ln>
        </p:spPr>
      </p:sp>
      <p:sp>
        <p:nvSpPr>
          <p:cNvPr id="19" name="Shape 16"/>
          <p:cNvSpPr/>
          <p:nvPr/>
        </p:nvSpPr>
        <p:spPr>
          <a:xfrm>
            <a:off x="8974836" y="2747772"/>
            <a:ext cx="82296" cy="82296"/>
          </a:xfrm>
          <a:prstGeom prst="ellipse">
            <a:avLst/>
          </a:prstGeom>
          <a:solidFill>
            <a:srgbClr val="8B1E3F"/>
          </a:solidFill>
          <a:ln/>
        </p:spPr>
      </p:sp>
      <p:sp>
        <p:nvSpPr>
          <p:cNvPr id="20" name="Text 17"/>
          <p:cNvSpPr txBox="1"/>
          <p:nvPr/>
        </p:nvSpPr>
        <p:spPr>
          <a:xfrm>
            <a:off x="913942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Keyboard shortcuts</a:t>
            </a:r>
            <a:endParaRPr lang="en-US" sz="1100" dirty="0"/>
          </a:p>
        </p:txBody>
      </p:sp>
      <p:sp>
        <p:nvSpPr>
          <p:cNvPr id="21" name="Shape 18"/>
          <p:cNvSpPr/>
          <p:nvPr/>
        </p:nvSpPr>
        <p:spPr>
          <a:xfrm>
            <a:off x="5897880" y="3209544"/>
            <a:ext cx="2766060" cy="566928"/>
          </a:xfrm>
          <a:prstGeom prst="roundRect">
            <a:avLst>
              <a:gd name="adj" fmla="val 14516"/>
            </a:avLst>
          </a:prstGeom>
          <a:solidFill>
            <a:srgbClr val="FFFFFF"/>
          </a:solidFill>
          <a:ln w="12700">
            <a:solidFill>
              <a:srgbClr val="DCE3EE"/>
            </a:solidFill>
            <a:prstDash val="solid"/>
          </a:ln>
        </p:spPr>
      </p:sp>
      <p:sp>
        <p:nvSpPr>
          <p:cNvPr id="22" name="Shape 19"/>
          <p:cNvSpPr/>
          <p:nvPr/>
        </p:nvSpPr>
        <p:spPr>
          <a:xfrm>
            <a:off x="6025896" y="3451860"/>
            <a:ext cx="82296" cy="82296"/>
          </a:xfrm>
          <a:prstGeom prst="ellipse">
            <a:avLst/>
          </a:prstGeom>
          <a:solidFill>
            <a:srgbClr val="8B1E3F"/>
          </a:solidFill>
          <a:ln/>
        </p:spPr>
      </p:sp>
      <p:sp>
        <p:nvSpPr>
          <p:cNvPr id="23" name="Text 20"/>
          <p:cNvSpPr txBox="1"/>
          <p:nvPr/>
        </p:nvSpPr>
        <p:spPr>
          <a:xfrm>
            <a:off x="619048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Responsive interface</a:t>
            </a:r>
            <a:endParaRPr lang="en-US" sz="1100" dirty="0"/>
          </a:p>
        </p:txBody>
      </p:sp>
      <p:sp>
        <p:nvSpPr>
          <p:cNvPr id="24" name="Shape 21"/>
          <p:cNvSpPr/>
          <p:nvPr/>
        </p:nvSpPr>
        <p:spPr>
          <a:xfrm>
            <a:off x="8846820" y="3209544"/>
            <a:ext cx="2766060" cy="566928"/>
          </a:xfrm>
          <a:prstGeom prst="roundRect">
            <a:avLst>
              <a:gd name="adj" fmla="val 14516"/>
            </a:avLst>
          </a:prstGeom>
          <a:solidFill>
            <a:srgbClr val="FFFFFF"/>
          </a:solidFill>
          <a:ln w="12700">
            <a:solidFill>
              <a:srgbClr val="DCE3EE"/>
            </a:solidFill>
            <a:prstDash val="solid"/>
          </a:ln>
        </p:spPr>
      </p:sp>
      <p:sp>
        <p:nvSpPr>
          <p:cNvPr id="25" name="Shape 22"/>
          <p:cNvSpPr/>
          <p:nvPr/>
        </p:nvSpPr>
        <p:spPr>
          <a:xfrm>
            <a:off x="8974836" y="3451860"/>
            <a:ext cx="82296" cy="82296"/>
          </a:xfrm>
          <a:prstGeom prst="ellipse">
            <a:avLst/>
          </a:prstGeom>
          <a:solidFill>
            <a:srgbClr val="8B1E3F"/>
          </a:solidFill>
          <a:ln/>
        </p:spPr>
      </p:sp>
      <p:sp>
        <p:nvSpPr>
          <p:cNvPr id="26" name="Text 23"/>
          <p:cNvSpPr txBox="1"/>
          <p:nvPr/>
        </p:nvSpPr>
        <p:spPr>
          <a:xfrm>
            <a:off x="913942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DocumentFragment-based lap rendering</a:t>
            </a:r>
            <a:endParaRPr lang="en-US" sz="1100" dirty="0"/>
          </a:p>
        </p:txBody>
      </p:sp>
      <p:sp>
        <p:nvSpPr>
          <p:cNvPr id="27" name="Shape 24"/>
          <p:cNvSpPr/>
          <p:nvPr/>
        </p:nvSpPr>
        <p:spPr>
          <a:xfrm>
            <a:off x="5897880" y="4005072"/>
            <a:ext cx="5715000" cy="2304288"/>
          </a:xfrm>
          <a:prstGeom prst="roundRect">
            <a:avLst>
              <a:gd name="adj" fmla="val 3571"/>
            </a:avLst>
          </a:prstGeom>
          <a:solidFill>
            <a:srgbClr val="FCEFEF"/>
          </a:solidFill>
          <a:ln w="12700">
            <a:solidFill>
              <a:srgbClr val="E9C9D2"/>
            </a:solidFill>
            <a:prstDash val="solid"/>
          </a:ln>
        </p:spPr>
      </p:sp>
      <p:sp>
        <p:nvSpPr>
          <p:cNvPr id="28" name="Shape 25"/>
          <p:cNvSpPr/>
          <p:nvPr/>
        </p:nvSpPr>
        <p:spPr>
          <a:xfrm>
            <a:off x="6126480" y="4187952"/>
            <a:ext cx="548640" cy="548640"/>
          </a:xfrm>
          <a:prstGeom prst="ellipse">
            <a:avLst/>
          </a:prstGeom>
          <a:solidFill>
            <a:srgbClr val="F3E0E6"/>
          </a:solidFill>
          <a:ln/>
        </p:spPr>
      </p:sp>
      <p:pic>
        <p:nvPicPr>
          <p:cNvPr id="29" name="Image 1" descr="/home/claude/pptx_build/icons/cpu.png"/>
          <p:cNvPicPr>
            <a:picLocks noChangeAspect="1"/>
          </p:cNvPicPr>
          <p:nvPr/>
        </p:nvPicPr>
        <p:blipFill>
          <a:blip r:embed="rId4"/>
          <a:stretch>
            <a:fillRect/>
          </a:stretch>
        </p:blipFill>
        <p:spPr>
          <a:xfrm>
            <a:off x="6247181" y="4308653"/>
            <a:ext cx="307238" cy="307238"/>
          </a:xfrm>
          <a:prstGeom prst="rect">
            <a:avLst/>
          </a:prstGeom>
        </p:spPr>
      </p:pic>
      <p:sp>
        <p:nvSpPr>
          <p:cNvPr id="30" name="Text 26"/>
          <p:cNvSpPr txBox="1"/>
          <p:nvPr/>
        </p:nvSpPr>
        <p:spPr>
          <a:xfrm>
            <a:off x="6812280" y="4169664"/>
            <a:ext cx="4617720" cy="292608"/>
          </a:xfrm>
          <a:prstGeom prst="rect">
            <a:avLst/>
          </a:prstGeom>
          <a:noFill/>
          <a:ln/>
        </p:spPr>
        <p:txBody>
          <a:bodyPr wrap="square" lIns="0" tIns="0" rIns="0" bIns="0" rtlCol="0" anchor="ctr"/>
          <a:lstStyle/>
          <a:p>
            <a:pPr marL="0" indent="0">
              <a:buNone/>
            </a:pPr>
            <a:r>
              <a:rPr lang="en-US" sz="1200" b="1" dirty="0">
                <a:solidFill>
                  <a:srgbClr val="8B1E3F"/>
                </a:solidFill>
                <a:latin typeface="Calibri" pitchFamily="34" charset="0"/>
                <a:ea typeface="Calibri" pitchFamily="34" charset="-122"/>
                <a:cs typeface="Calibri" pitchFamily="34" charset="-120"/>
              </a:rPr>
              <a:t>Technical Highlight</a:t>
            </a:r>
            <a:endParaRPr lang="en-US" sz="1200" dirty="0"/>
          </a:p>
        </p:txBody>
      </p:sp>
      <p:sp>
        <p:nvSpPr>
          <p:cNvPr id="31" name="Text 27"/>
          <p:cNvSpPr txBox="1"/>
          <p:nvPr/>
        </p:nvSpPr>
        <p:spPr>
          <a:xfrm>
            <a:off x="6812280" y="4462272"/>
            <a:ext cx="4572000" cy="1709928"/>
          </a:xfrm>
          <a:prstGeom prst="rect">
            <a:avLst/>
          </a:prstGeom>
          <a:noFill/>
          <a:ln/>
        </p:spPr>
        <p:txBody>
          <a:bodyPr wrap="square" lIns="0" tIns="0" rIns="0" bIns="0" rtlCol="0" anchor="t"/>
          <a:lstStyle/>
          <a:p>
            <a:pPr marL="0" indent="0">
              <a:buNone/>
            </a:pPr>
            <a:r>
              <a:rPr lang="en-US" sz="1150" dirty="0">
                <a:solidFill>
                  <a:srgbClr val="222B3A"/>
                </a:solidFill>
                <a:latin typeface="Calibri" pitchFamily="34" charset="0"/>
                <a:ea typeface="Calibri" pitchFamily="34" charset="-122"/>
                <a:cs typeface="Calibri" pitchFamily="34" charset="-120"/>
              </a:rPr>
              <a:t>Elapsed time uses performance.now() + requestAnimationFrame() (timestamp-delta), not a plain setInterval() counter — avoiding drift under variable browser load.</a:t>
            </a:r>
            <a:endParaRPr lang="en-US" sz="1150" dirty="0"/>
          </a:p>
        </p:txBody>
      </p:sp>
      <p:sp>
        <p:nvSpPr>
          <p:cNvPr id="32" name="Text 28"/>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3" name="Text 29"/>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8</a:t>
            </a:r>
            <a:endParaRPr lang="en-US" sz="900" dirty="0"/>
          </a:p>
        </p:txBody>
      </p:sp>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6806" y="1399032"/>
            <a:ext cx="5166361" cy="50657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TASK 03</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Tic-Tac-Toe Web Application</a:t>
            </a:r>
            <a:endParaRPr lang="en-US" sz="3000" dirty="0"/>
          </a:p>
        </p:txBody>
      </p:sp>
      <p:sp>
        <p:nvSpPr>
          <p:cNvPr id="4" name="Shape 2"/>
          <p:cNvSpPr/>
          <p:nvPr/>
        </p:nvSpPr>
        <p:spPr>
          <a:xfrm>
            <a:off x="548640" y="1417320"/>
            <a:ext cx="3611880" cy="4892040"/>
          </a:xfrm>
          <a:prstGeom prst="roundRect">
            <a:avLst>
              <a:gd name="adj" fmla="val 2278"/>
            </a:avLst>
          </a:prstGeom>
          <a:solidFill>
            <a:srgbClr val="E9EDF4"/>
          </a:solidFill>
          <a:ln w="15875">
            <a:solidFill>
              <a:srgbClr val="C7D0E0"/>
            </a:solidFill>
            <a:prstDash val="dash"/>
          </a:ln>
        </p:spPr>
      </p:sp>
      <p:sp>
        <p:nvSpPr>
          <p:cNvPr id="5" name="Shape 3"/>
          <p:cNvSpPr/>
          <p:nvPr/>
        </p:nvSpPr>
        <p:spPr>
          <a:xfrm>
            <a:off x="1988820" y="3177540"/>
            <a:ext cx="731520" cy="731520"/>
          </a:xfrm>
          <a:prstGeom prst="ellipse">
            <a:avLst/>
          </a:prstGeom>
          <a:solidFill>
            <a:srgbClr val="DCE4F1"/>
          </a:solidFill>
          <a:ln/>
        </p:spPr>
      </p:sp>
      <p:pic>
        <p:nvPicPr>
          <p:cNvPr id="6" name="Image 0" descr="/home/claude/pptx_build/icons/game.png"/>
          <p:cNvPicPr>
            <a:picLocks noChangeAspect="1"/>
          </p:cNvPicPr>
          <p:nvPr/>
        </p:nvPicPr>
        <p:blipFill>
          <a:blip r:embed="rId3"/>
          <a:stretch>
            <a:fillRect/>
          </a:stretch>
        </p:blipFill>
        <p:spPr>
          <a:xfrm>
            <a:off x="2149754" y="3338474"/>
            <a:ext cx="409651" cy="409651"/>
          </a:xfrm>
          <a:prstGeom prst="rect">
            <a:avLst/>
          </a:prstGeom>
        </p:spPr>
      </p:pic>
      <p:sp>
        <p:nvSpPr>
          <p:cNvPr id="7" name="Text 4"/>
          <p:cNvSpPr txBox="1"/>
          <p:nvPr/>
        </p:nvSpPr>
        <p:spPr>
          <a:xfrm>
            <a:off x="777240" y="4046220"/>
            <a:ext cx="3154680" cy="365760"/>
          </a:xfrm>
          <a:prstGeom prst="rect">
            <a:avLst/>
          </a:prstGeom>
          <a:noFill/>
          <a:ln/>
        </p:spPr>
        <p:txBody>
          <a:bodyPr wrap="square" lIns="0" tIns="0" rIns="0" bIns="0" rtlCol="0" anchor="ctr"/>
          <a:lstStyle/>
          <a:p>
            <a:pPr marL="0" indent="0" algn="ctr">
              <a:buNone/>
            </a:pPr>
            <a:r>
              <a:rPr lang="en-US" sz="1150" i="1" dirty="0">
                <a:solidFill>
                  <a:srgbClr val="7C8AA0"/>
                </a:solidFill>
                <a:latin typeface="Calibri" pitchFamily="34" charset="0"/>
                <a:ea typeface="Calibri" pitchFamily="34" charset="-122"/>
                <a:cs typeface="Calibri" pitchFamily="34" charset="-120"/>
              </a:rPr>
              <a:t>[ INSERT ACTUAL SCREENSHOT HERE ]</a:t>
            </a:r>
            <a:endParaRPr lang="en-US" sz="1150" dirty="0"/>
          </a:p>
        </p:txBody>
      </p:sp>
      <p:sp>
        <p:nvSpPr>
          <p:cNvPr id="8" name="Text 5"/>
          <p:cNvSpPr txBox="1"/>
          <p:nvPr/>
        </p:nvSpPr>
        <p:spPr>
          <a:xfrm>
            <a:off x="4343400" y="1417320"/>
            <a:ext cx="3611880" cy="292608"/>
          </a:xfrm>
          <a:prstGeom prst="rect">
            <a:avLst/>
          </a:prstGeom>
          <a:noFill/>
          <a:ln/>
        </p:spPr>
        <p:txBody>
          <a:bodyPr wrap="square" lIns="0" tIns="0" rIns="0" bIns="0" rtlCol="0" anchor="ctr"/>
          <a:lstStyle/>
          <a:p>
            <a:pPr marL="0" indent="0">
              <a:buNone/>
            </a:pPr>
            <a:r>
              <a:rPr lang="en-US" sz="1350" b="1" dirty="0">
                <a:solidFill>
                  <a:srgbClr val="222B3A"/>
                </a:solidFill>
                <a:latin typeface="Calibri" pitchFamily="34" charset="0"/>
                <a:ea typeface="Calibri" pitchFamily="34" charset="-122"/>
                <a:cs typeface="Calibri" pitchFamily="34" charset="-120"/>
              </a:rPr>
              <a:t>Key Features</a:t>
            </a:r>
            <a:endParaRPr lang="en-US" sz="1350" dirty="0"/>
          </a:p>
        </p:txBody>
      </p:sp>
      <p:sp>
        <p:nvSpPr>
          <p:cNvPr id="9" name="Shape 6"/>
          <p:cNvSpPr/>
          <p:nvPr/>
        </p:nvSpPr>
        <p:spPr>
          <a:xfrm>
            <a:off x="4343400" y="1801368"/>
            <a:ext cx="3611880" cy="512064"/>
          </a:xfrm>
          <a:prstGeom prst="roundRect">
            <a:avLst>
              <a:gd name="adj" fmla="val 16071"/>
            </a:avLst>
          </a:prstGeom>
          <a:solidFill>
            <a:srgbClr val="FFFFFF"/>
          </a:solidFill>
          <a:ln w="12700">
            <a:solidFill>
              <a:srgbClr val="DCE3EE"/>
            </a:solidFill>
            <a:prstDash val="solid"/>
          </a:ln>
        </p:spPr>
      </p:sp>
      <p:sp>
        <p:nvSpPr>
          <p:cNvPr id="10" name="Shape 7"/>
          <p:cNvSpPr/>
          <p:nvPr/>
        </p:nvSpPr>
        <p:spPr>
          <a:xfrm>
            <a:off x="4462272" y="2016252"/>
            <a:ext cx="82296" cy="82296"/>
          </a:xfrm>
          <a:prstGeom prst="ellipse">
            <a:avLst/>
          </a:prstGeom>
          <a:solidFill>
            <a:srgbClr val="8B1E3F"/>
          </a:solidFill>
          <a:ln/>
        </p:spPr>
      </p:sp>
      <p:sp>
        <p:nvSpPr>
          <p:cNvPr id="11" name="Text 8"/>
          <p:cNvSpPr txBox="1"/>
          <p:nvPr/>
        </p:nvSpPr>
        <p:spPr>
          <a:xfrm>
            <a:off x="4617720" y="180136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Player vs Player mode</a:t>
            </a:r>
            <a:endParaRPr lang="en-US" sz="1100" dirty="0"/>
          </a:p>
        </p:txBody>
      </p:sp>
      <p:sp>
        <p:nvSpPr>
          <p:cNvPr id="12" name="Shape 9"/>
          <p:cNvSpPr/>
          <p:nvPr/>
        </p:nvSpPr>
        <p:spPr>
          <a:xfrm>
            <a:off x="4343400" y="2395728"/>
            <a:ext cx="3611880" cy="512064"/>
          </a:xfrm>
          <a:prstGeom prst="roundRect">
            <a:avLst>
              <a:gd name="adj" fmla="val 16071"/>
            </a:avLst>
          </a:prstGeom>
          <a:solidFill>
            <a:srgbClr val="FFFFFF"/>
          </a:solidFill>
          <a:ln w="12700">
            <a:solidFill>
              <a:srgbClr val="DCE3EE"/>
            </a:solidFill>
            <a:prstDash val="solid"/>
          </a:ln>
        </p:spPr>
      </p:sp>
      <p:sp>
        <p:nvSpPr>
          <p:cNvPr id="13" name="Shape 10"/>
          <p:cNvSpPr/>
          <p:nvPr/>
        </p:nvSpPr>
        <p:spPr>
          <a:xfrm>
            <a:off x="4462272" y="2610612"/>
            <a:ext cx="82296" cy="82296"/>
          </a:xfrm>
          <a:prstGeom prst="ellipse">
            <a:avLst/>
          </a:prstGeom>
          <a:solidFill>
            <a:srgbClr val="8B1E3F"/>
          </a:solidFill>
          <a:ln/>
        </p:spPr>
      </p:sp>
      <p:sp>
        <p:nvSpPr>
          <p:cNvPr id="14" name="Text 11"/>
          <p:cNvSpPr txBox="1"/>
          <p:nvPr/>
        </p:nvSpPr>
        <p:spPr>
          <a:xfrm>
            <a:off x="4617720" y="239572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Player vs AI mode</a:t>
            </a:r>
            <a:endParaRPr lang="en-US" sz="1100" dirty="0"/>
          </a:p>
        </p:txBody>
      </p:sp>
      <p:sp>
        <p:nvSpPr>
          <p:cNvPr id="15" name="Shape 12"/>
          <p:cNvSpPr/>
          <p:nvPr/>
        </p:nvSpPr>
        <p:spPr>
          <a:xfrm>
            <a:off x="4343400" y="2990088"/>
            <a:ext cx="3611880" cy="512064"/>
          </a:xfrm>
          <a:prstGeom prst="roundRect">
            <a:avLst>
              <a:gd name="adj" fmla="val 16071"/>
            </a:avLst>
          </a:prstGeom>
          <a:solidFill>
            <a:srgbClr val="FFFFFF"/>
          </a:solidFill>
          <a:ln w="12700">
            <a:solidFill>
              <a:srgbClr val="DCE3EE"/>
            </a:solidFill>
            <a:prstDash val="solid"/>
          </a:ln>
        </p:spPr>
      </p:sp>
      <p:sp>
        <p:nvSpPr>
          <p:cNvPr id="16" name="Shape 13"/>
          <p:cNvSpPr/>
          <p:nvPr/>
        </p:nvSpPr>
        <p:spPr>
          <a:xfrm>
            <a:off x="4462272" y="3204972"/>
            <a:ext cx="82296" cy="82296"/>
          </a:xfrm>
          <a:prstGeom prst="ellipse">
            <a:avLst/>
          </a:prstGeom>
          <a:solidFill>
            <a:srgbClr val="8B1E3F"/>
          </a:solidFill>
          <a:ln/>
        </p:spPr>
      </p:sp>
      <p:sp>
        <p:nvSpPr>
          <p:cNvPr id="17" name="Text 14"/>
          <p:cNvSpPr txBox="1"/>
          <p:nvPr/>
        </p:nvSpPr>
        <p:spPr>
          <a:xfrm>
            <a:off x="4617720" y="299008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Scoreboard with restart / reset score</a:t>
            </a:r>
            <a:endParaRPr lang="en-US" sz="1100" dirty="0"/>
          </a:p>
        </p:txBody>
      </p:sp>
      <p:sp>
        <p:nvSpPr>
          <p:cNvPr id="18" name="Shape 15"/>
          <p:cNvSpPr/>
          <p:nvPr/>
        </p:nvSpPr>
        <p:spPr>
          <a:xfrm>
            <a:off x="4343400" y="3584448"/>
            <a:ext cx="3611880" cy="512064"/>
          </a:xfrm>
          <a:prstGeom prst="roundRect">
            <a:avLst>
              <a:gd name="adj" fmla="val 16071"/>
            </a:avLst>
          </a:prstGeom>
          <a:solidFill>
            <a:srgbClr val="FFFFFF"/>
          </a:solidFill>
          <a:ln w="12700">
            <a:solidFill>
              <a:srgbClr val="DCE3EE"/>
            </a:solidFill>
            <a:prstDash val="solid"/>
          </a:ln>
        </p:spPr>
      </p:sp>
      <p:sp>
        <p:nvSpPr>
          <p:cNvPr id="19" name="Shape 16"/>
          <p:cNvSpPr/>
          <p:nvPr/>
        </p:nvSpPr>
        <p:spPr>
          <a:xfrm>
            <a:off x="4462272" y="3799332"/>
            <a:ext cx="82296" cy="82296"/>
          </a:xfrm>
          <a:prstGeom prst="ellipse">
            <a:avLst/>
          </a:prstGeom>
          <a:solidFill>
            <a:srgbClr val="8B1E3F"/>
          </a:solidFill>
          <a:ln/>
        </p:spPr>
      </p:sp>
      <p:sp>
        <p:nvSpPr>
          <p:cNvPr id="20" name="Text 17"/>
          <p:cNvSpPr txBox="1"/>
          <p:nvPr/>
        </p:nvSpPr>
        <p:spPr>
          <a:xfrm>
            <a:off x="4617720" y="358444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Win &amp; draw detection (all 8 lines)</a:t>
            </a:r>
            <a:endParaRPr lang="en-US" sz="1100" dirty="0"/>
          </a:p>
        </p:txBody>
      </p:sp>
      <p:sp>
        <p:nvSpPr>
          <p:cNvPr id="21" name="Shape 18"/>
          <p:cNvSpPr/>
          <p:nvPr/>
        </p:nvSpPr>
        <p:spPr>
          <a:xfrm>
            <a:off x="4343400" y="4178808"/>
            <a:ext cx="3611880" cy="512064"/>
          </a:xfrm>
          <a:prstGeom prst="roundRect">
            <a:avLst>
              <a:gd name="adj" fmla="val 16071"/>
            </a:avLst>
          </a:prstGeom>
          <a:solidFill>
            <a:srgbClr val="FFFFFF"/>
          </a:solidFill>
          <a:ln w="12700">
            <a:solidFill>
              <a:srgbClr val="DCE3EE"/>
            </a:solidFill>
            <a:prstDash val="solid"/>
          </a:ln>
        </p:spPr>
      </p:sp>
      <p:sp>
        <p:nvSpPr>
          <p:cNvPr id="22" name="Shape 19"/>
          <p:cNvSpPr/>
          <p:nvPr/>
        </p:nvSpPr>
        <p:spPr>
          <a:xfrm>
            <a:off x="4462272" y="4393692"/>
            <a:ext cx="82296" cy="82296"/>
          </a:xfrm>
          <a:prstGeom prst="ellipse">
            <a:avLst/>
          </a:prstGeom>
          <a:solidFill>
            <a:srgbClr val="8B1E3F"/>
          </a:solidFill>
          <a:ln/>
        </p:spPr>
      </p:sp>
      <p:sp>
        <p:nvSpPr>
          <p:cNvPr id="23" name="Text 20"/>
          <p:cNvSpPr txBox="1"/>
          <p:nvPr/>
        </p:nvSpPr>
        <p:spPr>
          <a:xfrm>
            <a:off x="4617720" y="417880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Keyboard-accessible board</a:t>
            </a:r>
            <a:endParaRPr lang="en-US" sz="1100" dirty="0"/>
          </a:p>
        </p:txBody>
      </p:sp>
      <p:sp>
        <p:nvSpPr>
          <p:cNvPr id="24" name="Shape 21"/>
          <p:cNvSpPr/>
          <p:nvPr/>
        </p:nvSpPr>
        <p:spPr>
          <a:xfrm>
            <a:off x="4343400" y="4773168"/>
            <a:ext cx="3611880" cy="512064"/>
          </a:xfrm>
          <a:prstGeom prst="roundRect">
            <a:avLst>
              <a:gd name="adj" fmla="val 16071"/>
            </a:avLst>
          </a:prstGeom>
          <a:solidFill>
            <a:srgbClr val="FFFFFF"/>
          </a:solidFill>
          <a:ln w="12700">
            <a:solidFill>
              <a:srgbClr val="DCE3EE"/>
            </a:solidFill>
            <a:prstDash val="solid"/>
          </a:ln>
        </p:spPr>
      </p:sp>
      <p:sp>
        <p:nvSpPr>
          <p:cNvPr id="25" name="Shape 22"/>
          <p:cNvSpPr/>
          <p:nvPr/>
        </p:nvSpPr>
        <p:spPr>
          <a:xfrm>
            <a:off x="4462272" y="4988052"/>
            <a:ext cx="82296" cy="82296"/>
          </a:xfrm>
          <a:prstGeom prst="ellipse">
            <a:avLst/>
          </a:prstGeom>
          <a:solidFill>
            <a:srgbClr val="8B1E3F"/>
          </a:solidFill>
          <a:ln/>
        </p:spPr>
      </p:sp>
      <p:sp>
        <p:nvSpPr>
          <p:cNvPr id="26" name="Text 23"/>
          <p:cNvSpPr txBox="1"/>
          <p:nvPr/>
        </p:nvSpPr>
        <p:spPr>
          <a:xfrm>
            <a:off x="4617720" y="477316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Responsive 3×3 grid</a:t>
            </a:r>
            <a:endParaRPr lang="en-US" sz="1100" dirty="0"/>
          </a:p>
        </p:txBody>
      </p:sp>
      <p:sp>
        <p:nvSpPr>
          <p:cNvPr id="27" name="Shape 24"/>
          <p:cNvSpPr/>
          <p:nvPr/>
        </p:nvSpPr>
        <p:spPr>
          <a:xfrm>
            <a:off x="4343400" y="5413248"/>
            <a:ext cx="3611880" cy="1005840"/>
          </a:xfrm>
          <a:prstGeom prst="roundRect">
            <a:avLst>
              <a:gd name="adj" fmla="val 8182"/>
            </a:avLst>
          </a:prstGeom>
          <a:solidFill>
            <a:srgbClr val="FCEFEF"/>
          </a:solidFill>
          <a:ln w="12700">
            <a:solidFill>
              <a:srgbClr val="E9C9D2"/>
            </a:solidFill>
            <a:prstDash val="solid"/>
          </a:ln>
        </p:spPr>
      </p:sp>
      <p:sp>
        <p:nvSpPr>
          <p:cNvPr id="28" name="Text 25"/>
          <p:cNvSpPr txBox="1"/>
          <p:nvPr/>
        </p:nvSpPr>
        <p:spPr>
          <a:xfrm>
            <a:off x="4480560" y="5504688"/>
            <a:ext cx="3337560" cy="274320"/>
          </a:xfrm>
          <a:prstGeom prst="rect">
            <a:avLst/>
          </a:prstGeom>
          <a:noFill/>
          <a:ln/>
        </p:spPr>
        <p:txBody>
          <a:bodyPr wrap="square" lIns="0" tIns="0" rIns="0" bIns="0" rtlCol="0" anchor="ctr"/>
          <a:lstStyle/>
          <a:p>
            <a:pPr marL="0" indent="0">
              <a:buNone/>
            </a:pPr>
            <a:r>
              <a:rPr lang="en-US" sz="1100" b="1" dirty="0">
                <a:solidFill>
                  <a:srgbClr val="8B1E3F"/>
                </a:solidFill>
                <a:latin typeface="Calibri" pitchFamily="34" charset="0"/>
                <a:ea typeface="Calibri" pitchFamily="34" charset="-122"/>
                <a:cs typeface="Calibri" pitchFamily="34" charset="-120"/>
              </a:rPr>
              <a:t>Technical Highlight: Minimax Algorithm</a:t>
            </a:r>
            <a:endParaRPr lang="en-US" sz="1100" dirty="0"/>
          </a:p>
        </p:txBody>
      </p:sp>
      <p:sp>
        <p:nvSpPr>
          <p:cNvPr id="29" name="Text 26"/>
          <p:cNvSpPr txBox="1"/>
          <p:nvPr/>
        </p:nvSpPr>
        <p:spPr>
          <a:xfrm>
            <a:off x="4480560" y="5779008"/>
            <a:ext cx="3337560" cy="594360"/>
          </a:xfrm>
          <a:prstGeom prst="rect">
            <a:avLst/>
          </a:prstGeom>
          <a:noFill/>
          <a:ln/>
        </p:spPr>
        <p:txBody>
          <a:bodyPr wrap="square" lIns="0" tIns="0" rIns="0" bIns="0" rtlCol="0" anchor="t"/>
          <a:lstStyle/>
          <a:p>
            <a:pPr marL="0" indent="0">
              <a:buNone/>
            </a:pPr>
            <a:r>
              <a:rPr lang="en-US" sz="1000" dirty="0">
                <a:solidFill>
                  <a:srgbClr val="222B3A"/>
                </a:solidFill>
                <a:latin typeface="Calibri" pitchFamily="34" charset="0"/>
                <a:ea typeface="Calibri" pitchFamily="34" charset="-122"/>
                <a:cs typeface="Calibri" pitchFamily="34" charset="-120"/>
              </a:rPr>
              <a:t>Recursively evaluates available game states to select an optimal move within the implemented game model.</a:t>
            </a:r>
            <a:endParaRPr lang="en-US" sz="1000" dirty="0"/>
          </a:p>
        </p:txBody>
      </p:sp>
      <p:sp>
        <p:nvSpPr>
          <p:cNvPr id="30" name="Shape 27"/>
          <p:cNvSpPr/>
          <p:nvPr/>
        </p:nvSpPr>
        <p:spPr>
          <a:xfrm>
            <a:off x="8138160" y="1417320"/>
            <a:ext cx="3520440" cy="4892040"/>
          </a:xfrm>
          <a:prstGeom prst="roundRect">
            <a:avLst>
              <a:gd name="adj" fmla="val 2338"/>
            </a:avLst>
          </a:prstGeom>
          <a:solidFill>
            <a:srgbClr val="FFFFFF"/>
          </a:solidFill>
          <a:ln w="12700">
            <a:solidFill>
              <a:srgbClr val="DCE3EE"/>
            </a:solidFill>
            <a:prstDash val="solid"/>
          </a:ln>
        </p:spPr>
      </p:sp>
      <p:sp>
        <p:nvSpPr>
          <p:cNvPr id="31" name="Text 28"/>
          <p:cNvSpPr txBox="1"/>
          <p:nvPr/>
        </p:nvSpPr>
        <p:spPr>
          <a:xfrm>
            <a:off x="8275320" y="1527048"/>
            <a:ext cx="3246120" cy="274320"/>
          </a:xfrm>
          <a:prstGeom prst="rect">
            <a:avLst/>
          </a:prstGeom>
          <a:noFill/>
          <a:ln/>
        </p:spPr>
        <p:txBody>
          <a:bodyPr wrap="square" lIns="0" tIns="0" rIns="0" bIns="0" rtlCol="0" anchor="ctr"/>
          <a:lstStyle/>
          <a:p>
            <a:pPr marL="0" indent="0" algn="ctr">
              <a:buNone/>
            </a:pPr>
            <a:r>
              <a:rPr lang="en-US" sz="1200" b="1" dirty="0">
                <a:solidFill>
                  <a:srgbClr val="1F3A5F"/>
                </a:solidFill>
                <a:latin typeface="Calibri" pitchFamily="34" charset="0"/>
                <a:ea typeface="Calibri" pitchFamily="34" charset="-122"/>
                <a:cs typeface="Calibri" pitchFamily="34" charset="-120"/>
              </a:rPr>
              <a:t>Game Logic Flow</a:t>
            </a:r>
            <a:endParaRPr lang="en-US" sz="1200" dirty="0"/>
          </a:p>
        </p:txBody>
      </p:sp>
      <p:pic>
        <p:nvPicPr>
          <p:cNvPr id="32" name="Image 1" descr="/home/claude/pptx_build/diagrams/tictactoe.png"/>
          <p:cNvPicPr>
            <a:picLocks noChangeAspect="1"/>
          </p:cNvPicPr>
          <p:nvPr/>
        </p:nvPicPr>
        <p:blipFill>
          <a:blip r:embed="rId4"/>
          <a:stretch>
            <a:fillRect/>
          </a:stretch>
        </p:blipFill>
        <p:spPr>
          <a:xfrm>
            <a:off x="8778351" y="1828800"/>
            <a:ext cx="2240057" cy="4297680"/>
          </a:xfrm>
          <a:prstGeom prst="rect">
            <a:avLst/>
          </a:prstGeom>
        </p:spPr>
      </p:pic>
      <p:sp>
        <p:nvSpPr>
          <p:cNvPr id="33" name="Text 2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4" name="Text 3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9</a:t>
            </a:r>
            <a:endParaRPr lang="en-US" sz="900" dirty="0"/>
          </a:p>
        </p:txBody>
      </p:sp>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040" y="1318604"/>
            <a:ext cx="3913632" cy="52732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TASK 04</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Personal Portfolio Website</a:t>
            </a:r>
            <a:endParaRPr lang="en-US" sz="3000" dirty="0"/>
          </a:p>
        </p:txBody>
      </p:sp>
      <p:sp>
        <p:nvSpPr>
          <p:cNvPr id="4" name="Shape 2"/>
          <p:cNvSpPr/>
          <p:nvPr/>
        </p:nvSpPr>
        <p:spPr>
          <a:xfrm>
            <a:off x="548640" y="1417320"/>
            <a:ext cx="5120640" cy="4581144"/>
          </a:xfrm>
          <a:prstGeom prst="roundRect">
            <a:avLst>
              <a:gd name="adj" fmla="val 1796"/>
            </a:avLst>
          </a:prstGeom>
          <a:solidFill>
            <a:srgbClr val="E9EDF4"/>
          </a:solidFill>
          <a:ln w="15875">
            <a:solidFill>
              <a:srgbClr val="C7D0E0"/>
            </a:solidFill>
            <a:prstDash val="dash"/>
          </a:ln>
        </p:spPr>
      </p:sp>
      <p:sp>
        <p:nvSpPr>
          <p:cNvPr id="5" name="Shape 3"/>
          <p:cNvSpPr/>
          <p:nvPr/>
        </p:nvSpPr>
        <p:spPr>
          <a:xfrm>
            <a:off x="2720340" y="2999232"/>
            <a:ext cx="777240" cy="777240"/>
          </a:xfrm>
          <a:prstGeom prst="ellipse">
            <a:avLst/>
          </a:prstGeom>
          <a:solidFill>
            <a:srgbClr val="DCE4F1"/>
          </a:solidFill>
          <a:ln/>
        </p:spPr>
      </p:sp>
      <p:pic>
        <p:nvPicPr>
          <p:cNvPr id="6" name="Image 0" descr="/home/claude/pptx_build/icons/portfolio.png"/>
          <p:cNvPicPr>
            <a:picLocks noChangeAspect="1"/>
          </p:cNvPicPr>
          <p:nvPr/>
        </p:nvPicPr>
        <p:blipFill>
          <a:blip r:embed="rId3"/>
          <a:stretch>
            <a:fillRect/>
          </a:stretch>
        </p:blipFill>
        <p:spPr>
          <a:xfrm>
            <a:off x="2891333" y="3170225"/>
            <a:ext cx="435254" cy="435254"/>
          </a:xfrm>
          <a:prstGeom prst="rect">
            <a:avLst/>
          </a:prstGeom>
        </p:spPr>
      </p:pic>
      <p:sp>
        <p:nvSpPr>
          <p:cNvPr id="7" name="Text 4"/>
          <p:cNvSpPr txBox="1"/>
          <p:nvPr/>
        </p:nvSpPr>
        <p:spPr>
          <a:xfrm>
            <a:off x="914400" y="3936492"/>
            <a:ext cx="4389120" cy="365760"/>
          </a:xfrm>
          <a:prstGeom prst="rect">
            <a:avLst/>
          </a:prstGeom>
          <a:noFill/>
          <a:ln/>
        </p:spPr>
        <p:txBody>
          <a:bodyPr wrap="square" lIns="0" tIns="0" rIns="0" bIns="0" rtlCol="0" anchor="ctr"/>
          <a:lstStyle/>
          <a:p>
            <a:pPr marL="0" indent="0" algn="ctr">
              <a:buNone/>
            </a:pPr>
            <a:r>
              <a:rPr lang="en-US" sz="1250" i="1" dirty="0">
                <a:solidFill>
                  <a:srgbClr val="7C8AA0"/>
                </a:solidFill>
                <a:latin typeface="Calibri" pitchFamily="34" charset="0"/>
                <a:ea typeface="Calibri" pitchFamily="34" charset="-122"/>
                <a:cs typeface="Calibri" pitchFamily="34" charset="-120"/>
              </a:rPr>
              <a:t>[ INSERT ACTUAL SCREENSHOT HERE ]</a:t>
            </a:r>
            <a:endParaRPr lang="en-US" sz="1250" dirty="0"/>
          </a:p>
        </p:txBody>
      </p:sp>
      <p:sp>
        <p:nvSpPr>
          <p:cNvPr id="8" name="Text 5"/>
          <p:cNvSpPr txBox="1"/>
          <p:nvPr/>
        </p:nvSpPr>
        <p:spPr>
          <a:xfrm>
            <a:off x="5897880" y="1417320"/>
            <a:ext cx="571500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Key Features</a:t>
            </a:r>
            <a:endParaRPr lang="en-US" sz="1400" dirty="0"/>
          </a:p>
        </p:txBody>
      </p:sp>
      <p:sp>
        <p:nvSpPr>
          <p:cNvPr id="9" name="Shape 6"/>
          <p:cNvSpPr/>
          <p:nvPr/>
        </p:nvSpPr>
        <p:spPr>
          <a:xfrm>
            <a:off x="5897880" y="1801368"/>
            <a:ext cx="2766060" cy="566928"/>
          </a:xfrm>
          <a:prstGeom prst="roundRect">
            <a:avLst>
              <a:gd name="adj" fmla="val 14516"/>
            </a:avLst>
          </a:prstGeom>
          <a:solidFill>
            <a:srgbClr val="FFFFFF"/>
          </a:solidFill>
          <a:ln w="12700">
            <a:solidFill>
              <a:srgbClr val="DCE3EE"/>
            </a:solidFill>
            <a:prstDash val="solid"/>
          </a:ln>
        </p:spPr>
      </p:sp>
      <p:sp>
        <p:nvSpPr>
          <p:cNvPr id="10" name="Shape 7"/>
          <p:cNvSpPr/>
          <p:nvPr/>
        </p:nvSpPr>
        <p:spPr>
          <a:xfrm>
            <a:off x="6025896" y="2043684"/>
            <a:ext cx="82296" cy="82296"/>
          </a:xfrm>
          <a:prstGeom prst="ellipse">
            <a:avLst/>
          </a:prstGeom>
          <a:solidFill>
            <a:srgbClr val="8B1E3F"/>
          </a:solidFill>
          <a:ln/>
        </p:spPr>
      </p:sp>
      <p:sp>
        <p:nvSpPr>
          <p:cNvPr id="11" name="Text 8"/>
          <p:cNvSpPr txBox="1"/>
          <p:nvPr/>
        </p:nvSpPr>
        <p:spPr>
          <a:xfrm>
            <a:off x="619048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Home, About, Skills, Projects sections</a:t>
            </a:r>
            <a:endParaRPr lang="en-US" sz="1100" dirty="0"/>
          </a:p>
        </p:txBody>
      </p:sp>
      <p:sp>
        <p:nvSpPr>
          <p:cNvPr id="12" name="Shape 9"/>
          <p:cNvSpPr/>
          <p:nvPr/>
        </p:nvSpPr>
        <p:spPr>
          <a:xfrm>
            <a:off x="8846820" y="1801368"/>
            <a:ext cx="2766060" cy="566928"/>
          </a:xfrm>
          <a:prstGeom prst="roundRect">
            <a:avLst>
              <a:gd name="adj" fmla="val 14516"/>
            </a:avLst>
          </a:prstGeom>
          <a:solidFill>
            <a:srgbClr val="FFFFFF"/>
          </a:solidFill>
          <a:ln w="12700">
            <a:solidFill>
              <a:srgbClr val="DCE3EE"/>
            </a:solidFill>
            <a:prstDash val="solid"/>
          </a:ln>
        </p:spPr>
      </p:sp>
      <p:sp>
        <p:nvSpPr>
          <p:cNvPr id="13" name="Shape 10"/>
          <p:cNvSpPr/>
          <p:nvPr/>
        </p:nvSpPr>
        <p:spPr>
          <a:xfrm>
            <a:off x="8974836" y="2043684"/>
            <a:ext cx="82296" cy="82296"/>
          </a:xfrm>
          <a:prstGeom prst="ellipse">
            <a:avLst/>
          </a:prstGeom>
          <a:solidFill>
            <a:srgbClr val="8B1E3F"/>
          </a:solidFill>
          <a:ln/>
        </p:spPr>
      </p:sp>
      <p:sp>
        <p:nvSpPr>
          <p:cNvPr id="14" name="Text 11"/>
          <p:cNvSpPr txBox="1"/>
          <p:nvPr/>
        </p:nvSpPr>
        <p:spPr>
          <a:xfrm>
            <a:off x="9139428" y="1847088"/>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Experience &amp; Education timeline</a:t>
            </a:r>
            <a:endParaRPr lang="en-US" sz="1100" dirty="0"/>
          </a:p>
        </p:txBody>
      </p:sp>
      <p:sp>
        <p:nvSpPr>
          <p:cNvPr id="15" name="Shape 12"/>
          <p:cNvSpPr/>
          <p:nvPr/>
        </p:nvSpPr>
        <p:spPr>
          <a:xfrm>
            <a:off x="5897880" y="2505456"/>
            <a:ext cx="2766060" cy="566928"/>
          </a:xfrm>
          <a:prstGeom prst="roundRect">
            <a:avLst>
              <a:gd name="adj" fmla="val 14516"/>
            </a:avLst>
          </a:prstGeom>
          <a:solidFill>
            <a:srgbClr val="FFFFFF"/>
          </a:solidFill>
          <a:ln w="12700">
            <a:solidFill>
              <a:srgbClr val="DCE3EE"/>
            </a:solidFill>
            <a:prstDash val="solid"/>
          </a:ln>
        </p:spPr>
      </p:sp>
      <p:sp>
        <p:nvSpPr>
          <p:cNvPr id="16" name="Shape 13"/>
          <p:cNvSpPr/>
          <p:nvPr/>
        </p:nvSpPr>
        <p:spPr>
          <a:xfrm>
            <a:off x="6025896" y="2747772"/>
            <a:ext cx="82296" cy="82296"/>
          </a:xfrm>
          <a:prstGeom prst="ellipse">
            <a:avLst/>
          </a:prstGeom>
          <a:solidFill>
            <a:srgbClr val="8B1E3F"/>
          </a:solidFill>
          <a:ln/>
        </p:spPr>
      </p:sp>
      <p:sp>
        <p:nvSpPr>
          <p:cNvPr id="17" name="Text 14"/>
          <p:cNvSpPr txBox="1"/>
          <p:nvPr/>
        </p:nvSpPr>
        <p:spPr>
          <a:xfrm>
            <a:off x="619048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Responsive, scroll-aware navigation</a:t>
            </a:r>
            <a:endParaRPr lang="en-US" sz="1100" dirty="0"/>
          </a:p>
        </p:txBody>
      </p:sp>
      <p:sp>
        <p:nvSpPr>
          <p:cNvPr id="18" name="Shape 15"/>
          <p:cNvSpPr/>
          <p:nvPr/>
        </p:nvSpPr>
        <p:spPr>
          <a:xfrm>
            <a:off x="8846820" y="2505456"/>
            <a:ext cx="2766060" cy="566928"/>
          </a:xfrm>
          <a:prstGeom prst="roundRect">
            <a:avLst>
              <a:gd name="adj" fmla="val 14516"/>
            </a:avLst>
          </a:prstGeom>
          <a:solidFill>
            <a:srgbClr val="FFFFFF"/>
          </a:solidFill>
          <a:ln w="12700">
            <a:solidFill>
              <a:srgbClr val="DCE3EE"/>
            </a:solidFill>
            <a:prstDash val="solid"/>
          </a:ln>
        </p:spPr>
      </p:sp>
      <p:sp>
        <p:nvSpPr>
          <p:cNvPr id="19" name="Shape 16"/>
          <p:cNvSpPr/>
          <p:nvPr/>
        </p:nvSpPr>
        <p:spPr>
          <a:xfrm>
            <a:off x="8974836" y="2747772"/>
            <a:ext cx="82296" cy="82296"/>
          </a:xfrm>
          <a:prstGeom prst="ellipse">
            <a:avLst/>
          </a:prstGeom>
          <a:solidFill>
            <a:srgbClr val="8B1E3F"/>
          </a:solidFill>
          <a:ln/>
        </p:spPr>
      </p:sp>
      <p:sp>
        <p:nvSpPr>
          <p:cNvPr id="20" name="Text 17"/>
          <p:cNvSpPr txBox="1"/>
          <p:nvPr/>
        </p:nvSpPr>
        <p:spPr>
          <a:xfrm>
            <a:off x="9139428" y="2551176"/>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Animated skill-level bars</a:t>
            </a:r>
            <a:endParaRPr lang="en-US" sz="1100" dirty="0"/>
          </a:p>
        </p:txBody>
      </p:sp>
      <p:sp>
        <p:nvSpPr>
          <p:cNvPr id="21" name="Shape 18"/>
          <p:cNvSpPr/>
          <p:nvPr/>
        </p:nvSpPr>
        <p:spPr>
          <a:xfrm>
            <a:off x="5897880" y="3209544"/>
            <a:ext cx="2766060" cy="566928"/>
          </a:xfrm>
          <a:prstGeom prst="roundRect">
            <a:avLst>
              <a:gd name="adj" fmla="val 14516"/>
            </a:avLst>
          </a:prstGeom>
          <a:solidFill>
            <a:srgbClr val="FFFFFF"/>
          </a:solidFill>
          <a:ln w="12700">
            <a:solidFill>
              <a:srgbClr val="DCE3EE"/>
            </a:solidFill>
            <a:prstDash val="solid"/>
          </a:ln>
        </p:spPr>
      </p:sp>
      <p:sp>
        <p:nvSpPr>
          <p:cNvPr id="22" name="Shape 19"/>
          <p:cNvSpPr/>
          <p:nvPr/>
        </p:nvSpPr>
        <p:spPr>
          <a:xfrm>
            <a:off x="6025896" y="3451860"/>
            <a:ext cx="82296" cy="82296"/>
          </a:xfrm>
          <a:prstGeom prst="ellipse">
            <a:avLst/>
          </a:prstGeom>
          <a:solidFill>
            <a:srgbClr val="8B1E3F"/>
          </a:solidFill>
          <a:ln/>
        </p:spPr>
      </p:sp>
      <p:sp>
        <p:nvSpPr>
          <p:cNvPr id="23" name="Text 20"/>
          <p:cNvSpPr txBox="1"/>
          <p:nvPr/>
        </p:nvSpPr>
        <p:spPr>
          <a:xfrm>
            <a:off x="619048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Back-to-top button</a:t>
            </a:r>
            <a:endParaRPr lang="en-US" sz="1100" dirty="0"/>
          </a:p>
        </p:txBody>
      </p:sp>
      <p:sp>
        <p:nvSpPr>
          <p:cNvPr id="24" name="Shape 21"/>
          <p:cNvSpPr/>
          <p:nvPr/>
        </p:nvSpPr>
        <p:spPr>
          <a:xfrm>
            <a:off x="8846820" y="3209544"/>
            <a:ext cx="2766060" cy="566928"/>
          </a:xfrm>
          <a:prstGeom prst="roundRect">
            <a:avLst>
              <a:gd name="adj" fmla="val 14516"/>
            </a:avLst>
          </a:prstGeom>
          <a:solidFill>
            <a:srgbClr val="FFFFFF"/>
          </a:solidFill>
          <a:ln w="12700">
            <a:solidFill>
              <a:srgbClr val="DCE3EE"/>
            </a:solidFill>
            <a:prstDash val="solid"/>
          </a:ln>
        </p:spPr>
      </p:sp>
      <p:sp>
        <p:nvSpPr>
          <p:cNvPr id="25" name="Shape 22"/>
          <p:cNvSpPr/>
          <p:nvPr/>
        </p:nvSpPr>
        <p:spPr>
          <a:xfrm>
            <a:off x="8974836" y="3451860"/>
            <a:ext cx="82296" cy="82296"/>
          </a:xfrm>
          <a:prstGeom prst="ellipse">
            <a:avLst/>
          </a:prstGeom>
          <a:solidFill>
            <a:srgbClr val="8B1E3F"/>
          </a:solidFill>
          <a:ln/>
        </p:spPr>
      </p:sp>
      <p:sp>
        <p:nvSpPr>
          <p:cNvPr id="26" name="Text 23"/>
          <p:cNvSpPr txBox="1"/>
          <p:nvPr/>
        </p:nvSpPr>
        <p:spPr>
          <a:xfrm>
            <a:off x="9139428" y="3255264"/>
            <a:ext cx="2354580" cy="475488"/>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Frontend-only contact form (demo)</a:t>
            </a:r>
            <a:endParaRPr lang="en-US" sz="1100" dirty="0"/>
          </a:p>
        </p:txBody>
      </p:sp>
      <p:sp>
        <p:nvSpPr>
          <p:cNvPr id="27" name="Shape 24"/>
          <p:cNvSpPr/>
          <p:nvPr/>
        </p:nvSpPr>
        <p:spPr>
          <a:xfrm>
            <a:off x="5897880" y="4005072"/>
            <a:ext cx="5715000" cy="1993392"/>
          </a:xfrm>
          <a:prstGeom prst="roundRect">
            <a:avLst>
              <a:gd name="adj" fmla="val 4128"/>
            </a:avLst>
          </a:prstGeom>
          <a:solidFill>
            <a:srgbClr val="FCEFEF"/>
          </a:solidFill>
          <a:ln w="12700">
            <a:solidFill>
              <a:srgbClr val="E9C9D2"/>
            </a:solidFill>
            <a:prstDash val="solid"/>
          </a:ln>
        </p:spPr>
      </p:sp>
      <p:sp>
        <p:nvSpPr>
          <p:cNvPr id="28" name="Shape 25"/>
          <p:cNvSpPr/>
          <p:nvPr/>
        </p:nvSpPr>
        <p:spPr>
          <a:xfrm>
            <a:off x="6126480" y="4187952"/>
            <a:ext cx="548640" cy="548640"/>
          </a:xfrm>
          <a:prstGeom prst="ellipse">
            <a:avLst/>
          </a:prstGeom>
          <a:solidFill>
            <a:srgbClr val="F3E0E6"/>
          </a:solidFill>
          <a:ln/>
        </p:spPr>
      </p:sp>
      <p:pic>
        <p:nvPicPr>
          <p:cNvPr id="29" name="Image 1" descr="/home/claude/pptx_build/icons/cpu.png"/>
          <p:cNvPicPr>
            <a:picLocks noChangeAspect="1"/>
          </p:cNvPicPr>
          <p:nvPr/>
        </p:nvPicPr>
        <p:blipFill>
          <a:blip r:embed="rId4"/>
          <a:stretch>
            <a:fillRect/>
          </a:stretch>
        </p:blipFill>
        <p:spPr>
          <a:xfrm>
            <a:off x="6247181" y="4308653"/>
            <a:ext cx="307238" cy="307238"/>
          </a:xfrm>
          <a:prstGeom prst="rect">
            <a:avLst/>
          </a:prstGeom>
        </p:spPr>
      </p:pic>
      <p:sp>
        <p:nvSpPr>
          <p:cNvPr id="30" name="Text 26"/>
          <p:cNvSpPr txBox="1"/>
          <p:nvPr/>
        </p:nvSpPr>
        <p:spPr>
          <a:xfrm>
            <a:off x="6812280" y="4169664"/>
            <a:ext cx="4617720" cy="292608"/>
          </a:xfrm>
          <a:prstGeom prst="rect">
            <a:avLst/>
          </a:prstGeom>
          <a:noFill/>
          <a:ln/>
        </p:spPr>
        <p:txBody>
          <a:bodyPr wrap="square" lIns="0" tIns="0" rIns="0" bIns="0" rtlCol="0" anchor="ctr"/>
          <a:lstStyle/>
          <a:p>
            <a:pPr marL="0" indent="0">
              <a:buNone/>
            </a:pPr>
            <a:r>
              <a:rPr lang="en-US" sz="1200" b="1" dirty="0">
                <a:solidFill>
                  <a:srgbClr val="8B1E3F"/>
                </a:solidFill>
                <a:latin typeface="Calibri" pitchFamily="34" charset="0"/>
                <a:ea typeface="Calibri" pitchFamily="34" charset="-122"/>
                <a:cs typeface="Calibri" pitchFamily="34" charset="-120"/>
              </a:rPr>
              <a:t>Technical Highlight</a:t>
            </a:r>
            <a:endParaRPr lang="en-US" sz="1200" dirty="0"/>
          </a:p>
        </p:txBody>
      </p:sp>
      <p:sp>
        <p:nvSpPr>
          <p:cNvPr id="31" name="Text 27"/>
          <p:cNvSpPr txBox="1"/>
          <p:nvPr/>
        </p:nvSpPr>
        <p:spPr>
          <a:xfrm>
            <a:off x="6812280" y="4462272"/>
            <a:ext cx="4572000" cy="1399032"/>
          </a:xfrm>
          <a:prstGeom prst="rect">
            <a:avLst/>
          </a:prstGeom>
          <a:noFill/>
          <a:ln/>
        </p:spPr>
        <p:txBody>
          <a:bodyPr wrap="square" lIns="0" tIns="0" rIns="0" bIns="0" rtlCol="0" anchor="t"/>
          <a:lstStyle/>
          <a:p>
            <a:pPr marL="0" indent="0">
              <a:buNone/>
            </a:pPr>
            <a:r>
              <a:rPr lang="en-US" sz="1150" dirty="0">
                <a:solidFill>
                  <a:srgbClr val="222B3A"/>
                </a:solidFill>
                <a:latin typeface="Calibri" pitchFamily="34" charset="0"/>
                <a:ea typeface="Calibri" pitchFamily="34" charset="-122"/>
                <a:cs typeface="Calibri" pitchFamily="34" charset="-120"/>
              </a:rPr>
              <a:t>The hero section features an animated neural-network-style background — moving connected nodes drawn with the HTML Canvas API. Fonts: Space Grotesk, Inter, JetBrains Mono.</a:t>
            </a:r>
            <a:endParaRPr lang="en-US" sz="1150" dirty="0"/>
          </a:p>
        </p:txBody>
      </p:sp>
      <p:sp>
        <p:nvSpPr>
          <p:cNvPr id="32" name="Text 28"/>
          <p:cNvSpPr txBox="1"/>
          <p:nvPr/>
        </p:nvSpPr>
        <p:spPr>
          <a:xfrm>
            <a:off x="548640" y="6089904"/>
            <a:ext cx="11064240" cy="256032"/>
          </a:xfrm>
          <a:prstGeom prst="rect">
            <a:avLst/>
          </a:prstGeom>
          <a:noFill/>
          <a:ln/>
        </p:spPr>
        <p:txBody>
          <a:bodyPr wrap="square" lIns="0" tIns="0" rIns="0" bIns="0" rtlCol="0" anchor="t"/>
          <a:lstStyle/>
          <a:p>
            <a:pPr marL="0" indent="0">
              <a:buNone/>
            </a:pPr>
            <a:r>
              <a:rPr lang="en-US" sz="1000" i="1" dirty="0">
                <a:solidFill>
                  <a:srgbClr val="667085"/>
                </a:solidFill>
                <a:latin typeface="Calibri" pitchFamily="34" charset="0"/>
                <a:ea typeface="Calibri" pitchFamily="34" charset="-122"/>
                <a:cs typeface="Calibri" pitchFamily="34" charset="-120"/>
              </a:rPr>
              <a:t>Note: The contact form is frontend/demo functionality only — no backend submission is implemented.</a:t>
            </a:r>
            <a:endParaRPr lang="en-US" sz="1000" dirty="0"/>
          </a:p>
        </p:txBody>
      </p:sp>
      <p:sp>
        <p:nvSpPr>
          <p:cNvPr id="33" name="Text 2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4" name="Text 3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10</a:t>
            </a:r>
            <a:endParaRPr lang="en-US" sz="900" dirty="0"/>
          </a:p>
        </p:txBody>
      </p:sp>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2044" y="1289304"/>
            <a:ext cx="5399532" cy="4754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TASK 05</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Weather Web Application</a:t>
            </a:r>
            <a:endParaRPr lang="en-US" sz="3000" dirty="0"/>
          </a:p>
        </p:txBody>
      </p:sp>
      <p:sp>
        <p:nvSpPr>
          <p:cNvPr id="4" name="Shape 2"/>
          <p:cNvSpPr/>
          <p:nvPr/>
        </p:nvSpPr>
        <p:spPr>
          <a:xfrm>
            <a:off x="548640" y="1417320"/>
            <a:ext cx="3611880" cy="4892040"/>
          </a:xfrm>
          <a:prstGeom prst="roundRect">
            <a:avLst>
              <a:gd name="adj" fmla="val 2278"/>
            </a:avLst>
          </a:prstGeom>
          <a:solidFill>
            <a:srgbClr val="E9EDF4"/>
          </a:solidFill>
          <a:ln w="15875">
            <a:solidFill>
              <a:srgbClr val="C7D0E0"/>
            </a:solidFill>
            <a:prstDash val="dash"/>
          </a:ln>
        </p:spPr>
      </p:sp>
      <p:sp>
        <p:nvSpPr>
          <p:cNvPr id="5" name="Shape 3"/>
          <p:cNvSpPr/>
          <p:nvPr/>
        </p:nvSpPr>
        <p:spPr>
          <a:xfrm>
            <a:off x="1988820" y="3177540"/>
            <a:ext cx="731520" cy="731520"/>
          </a:xfrm>
          <a:prstGeom prst="ellipse">
            <a:avLst/>
          </a:prstGeom>
          <a:solidFill>
            <a:srgbClr val="DCE4F1"/>
          </a:solidFill>
          <a:ln/>
        </p:spPr>
      </p:sp>
      <p:pic>
        <p:nvPicPr>
          <p:cNvPr id="6" name="Image 0" descr="/home/claude/pptx_build/icons/weather.png"/>
          <p:cNvPicPr>
            <a:picLocks noChangeAspect="1"/>
          </p:cNvPicPr>
          <p:nvPr/>
        </p:nvPicPr>
        <p:blipFill>
          <a:blip r:embed="rId3"/>
          <a:stretch>
            <a:fillRect/>
          </a:stretch>
        </p:blipFill>
        <p:spPr>
          <a:xfrm>
            <a:off x="2149754" y="3338474"/>
            <a:ext cx="409651" cy="409651"/>
          </a:xfrm>
          <a:prstGeom prst="rect">
            <a:avLst/>
          </a:prstGeom>
        </p:spPr>
      </p:pic>
      <p:sp>
        <p:nvSpPr>
          <p:cNvPr id="7" name="Text 4"/>
          <p:cNvSpPr txBox="1"/>
          <p:nvPr/>
        </p:nvSpPr>
        <p:spPr>
          <a:xfrm>
            <a:off x="777240" y="4046220"/>
            <a:ext cx="3154680" cy="365760"/>
          </a:xfrm>
          <a:prstGeom prst="rect">
            <a:avLst/>
          </a:prstGeom>
          <a:noFill/>
          <a:ln/>
        </p:spPr>
        <p:txBody>
          <a:bodyPr wrap="square" lIns="0" tIns="0" rIns="0" bIns="0" rtlCol="0" anchor="ctr"/>
          <a:lstStyle/>
          <a:p>
            <a:pPr marL="0" indent="0" algn="ctr">
              <a:buNone/>
            </a:pPr>
            <a:r>
              <a:rPr lang="en-US" sz="1150" i="1" dirty="0">
                <a:solidFill>
                  <a:srgbClr val="7C8AA0"/>
                </a:solidFill>
                <a:latin typeface="Calibri" pitchFamily="34" charset="0"/>
                <a:ea typeface="Calibri" pitchFamily="34" charset="-122"/>
                <a:cs typeface="Calibri" pitchFamily="34" charset="-120"/>
              </a:rPr>
              <a:t>[ INSERT ACTUAL SCREENSHOT HERE ]</a:t>
            </a:r>
            <a:endParaRPr lang="en-US" sz="1150" dirty="0"/>
          </a:p>
        </p:txBody>
      </p:sp>
      <p:sp>
        <p:nvSpPr>
          <p:cNvPr id="8" name="Text 5"/>
          <p:cNvSpPr txBox="1"/>
          <p:nvPr/>
        </p:nvSpPr>
        <p:spPr>
          <a:xfrm>
            <a:off x="4343400" y="1417320"/>
            <a:ext cx="3611880" cy="292608"/>
          </a:xfrm>
          <a:prstGeom prst="rect">
            <a:avLst/>
          </a:prstGeom>
          <a:noFill/>
          <a:ln/>
        </p:spPr>
        <p:txBody>
          <a:bodyPr wrap="square" lIns="0" tIns="0" rIns="0" bIns="0" rtlCol="0" anchor="ctr"/>
          <a:lstStyle/>
          <a:p>
            <a:pPr marL="0" indent="0">
              <a:buNone/>
            </a:pPr>
            <a:r>
              <a:rPr lang="en-US" sz="1350" b="1" dirty="0">
                <a:solidFill>
                  <a:srgbClr val="222B3A"/>
                </a:solidFill>
                <a:latin typeface="Calibri" pitchFamily="34" charset="0"/>
                <a:ea typeface="Calibri" pitchFamily="34" charset="-122"/>
                <a:cs typeface="Calibri" pitchFamily="34" charset="-120"/>
              </a:rPr>
              <a:t>Key Features</a:t>
            </a:r>
            <a:endParaRPr lang="en-US" sz="1350" dirty="0"/>
          </a:p>
        </p:txBody>
      </p:sp>
      <p:sp>
        <p:nvSpPr>
          <p:cNvPr id="9" name="Shape 6"/>
          <p:cNvSpPr/>
          <p:nvPr/>
        </p:nvSpPr>
        <p:spPr>
          <a:xfrm>
            <a:off x="4343400" y="1801368"/>
            <a:ext cx="3611880" cy="512064"/>
          </a:xfrm>
          <a:prstGeom prst="roundRect">
            <a:avLst>
              <a:gd name="adj" fmla="val 16071"/>
            </a:avLst>
          </a:prstGeom>
          <a:solidFill>
            <a:srgbClr val="FFFFFF"/>
          </a:solidFill>
          <a:ln w="12700">
            <a:solidFill>
              <a:srgbClr val="DCE3EE"/>
            </a:solidFill>
            <a:prstDash val="solid"/>
          </a:ln>
        </p:spPr>
      </p:sp>
      <p:sp>
        <p:nvSpPr>
          <p:cNvPr id="10" name="Shape 7"/>
          <p:cNvSpPr/>
          <p:nvPr/>
        </p:nvSpPr>
        <p:spPr>
          <a:xfrm>
            <a:off x="4462272" y="2016252"/>
            <a:ext cx="82296" cy="82296"/>
          </a:xfrm>
          <a:prstGeom prst="ellipse">
            <a:avLst/>
          </a:prstGeom>
          <a:solidFill>
            <a:srgbClr val="8B1E3F"/>
          </a:solidFill>
          <a:ln/>
        </p:spPr>
      </p:sp>
      <p:sp>
        <p:nvSpPr>
          <p:cNvPr id="11" name="Text 8"/>
          <p:cNvSpPr txBox="1"/>
          <p:nvPr/>
        </p:nvSpPr>
        <p:spPr>
          <a:xfrm>
            <a:off x="4617720" y="180136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User-entered location search</a:t>
            </a:r>
            <a:endParaRPr lang="en-US" sz="1100" dirty="0"/>
          </a:p>
        </p:txBody>
      </p:sp>
      <p:sp>
        <p:nvSpPr>
          <p:cNvPr id="12" name="Shape 9"/>
          <p:cNvSpPr/>
          <p:nvPr/>
        </p:nvSpPr>
        <p:spPr>
          <a:xfrm>
            <a:off x="4343400" y="2395728"/>
            <a:ext cx="3611880" cy="512064"/>
          </a:xfrm>
          <a:prstGeom prst="roundRect">
            <a:avLst>
              <a:gd name="adj" fmla="val 16071"/>
            </a:avLst>
          </a:prstGeom>
          <a:solidFill>
            <a:srgbClr val="FFFFFF"/>
          </a:solidFill>
          <a:ln w="12700">
            <a:solidFill>
              <a:srgbClr val="DCE3EE"/>
            </a:solidFill>
            <a:prstDash val="solid"/>
          </a:ln>
        </p:spPr>
      </p:sp>
      <p:sp>
        <p:nvSpPr>
          <p:cNvPr id="13" name="Shape 10"/>
          <p:cNvSpPr/>
          <p:nvPr/>
        </p:nvSpPr>
        <p:spPr>
          <a:xfrm>
            <a:off x="4462272" y="2610612"/>
            <a:ext cx="82296" cy="82296"/>
          </a:xfrm>
          <a:prstGeom prst="ellipse">
            <a:avLst/>
          </a:prstGeom>
          <a:solidFill>
            <a:srgbClr val="8B1E3F"/>
          </a:solidFill>
          <a:ln/>
        </p:spPr>
      </p:sp>
      <p:sp>
        <p:nvSpPr>
          <p:cNvPr id="14" name="Text 11"/>
          <p:cNvSpPr txBox="1"/>
          <p:nvPr/>
        </p:nvSpPr>
        <p:spPr>
          <a:xfrm>
            <a:off x="4617720" y="239572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Browser/device location (permission-based)</a:t>
            </a:r>
            <a:endParaRPr lang="en-US" sz="1100" dirty="0"/>
          </a:p>
        </p:txBody>
      </p:sp>
      <p:sp>
        <p:nvSpPr>
          <p:cNvPr id="15" name="Shape 12"/>
          <p:cNvSpPr/>
          <p:nvPr/>
        </p:nvSpPr>
        <p:spPr>
          <a:xfrm>
            <a:off x="4343400" y="2990088"/>
            <a:ext cx="3611880" cy="512064"/>
          </a:xfrm>
          <a:prstGeom prst="roundRect">
            <a:avLst>
              <a:gd name="adj" fmla="val 16071"/>
            </a:avLst>
          </a:prstGeom>
          <a:solidFill>
            <a:srgbClr val="FFFFFF"/>
          </a:solidFill>
          <a:ln w="12700">
            <a:solidFill>
              <a:srgbClr val="DCE3EE"/>
            </a:solidFill>
            <a:prstDash val="solid"/>
          </a:ln>
        </p:spPr>
      </p:sp>
      <p:sp>
        <p:nvSpPr>
          <p:cNvPr id="16" name="Shape 13"/>
          <p:cNvSpPr/>
          <p:nvPr/>
        </p:nvSpPr>
        <p:spPr>
          <a:xfrm>
            <a:off x="4462272" y="3204972"/>
            <a:ext cx="82296" cy="82296"/>
          </a:xfrm>
          <a:prstGeom prst="ellipse">
            <a:avLst/>
          </a:prstGeom>
          <a:solidFill>
            <a:srgbClr val="8B1E3F"/>
          </a:solidFill>
          <a:ln/>
        </p:spPr>
      </p:sp>
      <p:sp>
        <p:nvSpPr>
          <p:cNvPr id="17" name="Text 14"/>
          <p:cNvSpPr txBox="1"/>
          <p:nvPr/>
        </p:nvSpPr>
        <p:spPr>
          <a:xfrm>
            <a:off x="4617720" y="299008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Current weather conditions</a:t>
            </a:r>
            <a:endParaRPr lang="en-US" sz="1100" dirty="0"/>
          </a:p>
        </p:txBody>
      </p:sp>
      <p:sp>
        <p:nvSpPr>
          <p:cNvPr id="18" name="Shape 15"/>
          <p:cNvSpPr/>
          <p:nvPr/>
        </p:nvSpPr>
        <p:spPr>
          <a:xfrm>
            <a:off x="4343400" y="3584448"/>
            <a:ext cx="3611880" cy="512064"/>
          </a:xfrm>
          <a:prstGeom prst="roundRect">
            <a:avLst>
              <a:gd name="adj" fmla="val 16071"/>
            </a:avLst>
          </a:prstGeom>
          <a:solidFill>
            <a:srgbClr val="FFFFFF"/>
          </a:solidFill>
          <a:ln w="12700">
            <a:solidFill>
              <a:srgbClr val="DCE3EE"/>
            </a:solidFill>
            <a:prstDash val="solid"/>
          </a:ln>
        </p:spPr>
      </p:sp>
      <p:sp>
        <p:nvSpPr>
          <p:cNvPr id="19" name="Shape 16"/>
          <p:cNvSpPr/>
          <p:nvPr/>
        </p:nvSpPr>
        <p:spPr>
          <a:xfrm>
            <a:off x="4462272" y="3799332"/>
            <a:ext cx="82296" cy="82296"/>
          </a:xfrm>
          <a:prstGeom prst="ellipse">
            <a:avLst/>
          </a:prstGeom>
          <a:solidFill>
            <a:srgbClr val="8B1E3F"/>
          </a:solidFill>
          <a:ln/>
        </p:spPr>
      </p:sp>
      <p:sp>
        <p:nvSpPr>
          <p:cNvPr id="20" name="Text 17"/>
          <p:cNvSpPr txBox="1"/>
          <p:nvPr/>
        </p:nvSpPr>
        <p:spPr>
          <a:xfrm>
            <a:off x="4617720" y="358444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Five-day forecast</a:t>
            </a:r>
            <a:endParaRPr lang="en-US" sz="1100" dirty="0"/>
          </a:p>
        </p:txBody>
      </p:sp>
      <p:sp>
        <p:nvSpPr>
          <p:cNvPr id="21" name="Shape 18"/>
          <p:cNvSpPr/>
          <p:nvPr/>
        </p:nvSpPr>
        <p:spPr>
          <a:xfrm>
            <a:off x="4343400" y="4178808"/>
            <a:ext cx="3611880" cy="512064"/>
          </a:xfrm>
          <a:prstGeom prst="roundRect">
            <a:avLst>
              <a:gd name="adj" fmla="val 16071"/>
            </a:avLst>
          </a:prstGeom>
          <a:solidFill>
            <a:srgbClr val="FFFFFF"/>
          </a:solidFill>
          <a:ln w="12700">
            <a:solidFill>
              <a:srgbClr val="DCE3EE"/>
            </a:solidFill>
            <a:prstDash val="solid"/>
          </a:ln>
        </p:spPr>
      </p:sp>
      <p:sp>
        <p:nvSpPr>
          <p:cNvPr id="22" name="Shape 19"/>
          <p:cNvSpPr/>
          <p:nvPr/>
        </p:nvSpPr>
        <p:spPr>
          <a:xfrm>
            <a:off x="4462272" y="4393692"/>
            <a:ext cx="82296" cy="82296"/>
          </a:xfrm>
          <a:prstGeom prst="ellipse">
            <a:avLst/>
          </a:prstGeom>
          <a:solidFill>
            <a:srgbClr val="8B1E3F"/>
          </a:solidFill>
          <a:ln/>
        </p:spPr>
      </p:sp>
      <p:sp>
        <p:nvSpPr>
          <p:cNvPr id="23" name="Text 20"/>
          <p:cNvSpPr txBox="1"/>
          <p:nvPr/>
        </p:nvSpPr>
        <p:spPr>
          <a:xfrm>
            <a:off x="4617720" y="417880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Responsive UI</a:t>
            </a:r>
            <a:endParaRPr lang="en-US" sz="1100" dirty="0"/>
          </a:p>
        </p:txBody>
      </p:sp>
      <p:sp>
        <p:nvSpPr>
          <p:cNvPr id="24" name="Shape 21"/>
          <p:cNvSpPr/>
          <p:nvPr/>
        </p:nvSpPr>
        <p:spPr>
          <a:xfrm>
            <a:off x="4343400" y="4773168"/>
            <a:ext cx="3611880" cy="512064"/>
          </a:xfrm>
          <a:prstGeom prst="roundRect">
            <a:avLst>
              <a:gd name="adj" fmla="val 16071"/>
            </a:avLst>
          </a:prstGeom>
          <a:solidFill>
            <a:srgbClr val="FFFFFF"/>
          </a:solidFill>
          <a:ln w="12700">
            <a:solidFill>
              <a:srgbClr val="DCE3EE"/>
            </a:solidFill>
            <a:prstDash val="solid"/>
          </a:ln>
        </p:spPr>
      </p:sp>
      <p:sp>
        <p:nvSpPr>
          <p:cNvPr id="25" name="Shape 22"/>
          <p:cNvSpPr/>
          <p:nvPr/>
        </p:nvSpPr>
        <p:spPr>
          <a:xfrm>
            <a:off x="4462272" y="4988052"/>
            <a:ext cx="82296" cy="82296"/>
          </a:xfrm>
          <a:prstGeom prst="ellipse">
            <a:avLst/>
          </a:prstGeom>
          <a:solidFill>
            <a:srgbClr val="8B1E3F"/>
          </a:solidFill>
          <a:ln/>
        </p:spPr>
      </p:sp>
      <p:sp>
        <p:nvSpPr>
          <p:cNvPr id="26" name="Text 23"/>
          <p:cNvSpPr txBox="1"/>
          <p:nvPr/>
        </p:nvSpPr>
        <p:spPr>
          <a:xfrm>
            <a:off x="4617720" y="4773168"/>
            <a:ext cx="3227832" cy="512064"/>
          </a:xfrm>
          <a:prstGeom prst="rect">
            <a:avLst/>
          </a:prstGeom>
          <a:noFill/>
          <a:ln/>
        </p:spPr>
        <p:txBody>
          <a:bodyPr wrap="square" lIns="0" tIns="0" rIns="0" bIns="0" rtlCol="0" anchor="ctr"/>
          <a:lstStyle/>
          <a:p>
            <a:pPr marL="0" indent="0">
              <a:buNone/>
            </a:pPr>
            <a:r>
              <a:rPr lang="en-US" sz="1100" dirty="0">
                <a:solidFill>
                  <a:srgbClr val="222B3A"/>
                </a:solidFill>
                <a:latin typeface="Calibri" pitchFamily="34" charset="0"/>
                <a:ea typeface="Calibri" pitchFamily="34" charset="-122"/>
                <a:cs typeface="Calibri" pitchFamily="34" charset="-120"/>
              </a:rPr>
              <a:t>Asynchronous API integration</a:t>
            </a:r>
            <a:endParaRPr lang="en-US" sz="1100" dirty="0"/>
          </a:p>
        </p:txBody>
      </p:sp>
      <p:sp>
        <p:nvSpPr>
          <p:cNvPr id="27" name="Shape 24"/>
          <p:cNvSpPr/>
          <p:nvPr/>
        </p:nvSpPr>
        <p:spPr>
          <a:xfrm>
            <a:off x="4343400" y="5413248"/>
            <a:ext cx="3611880" cy="1005840"/>
          </a:xfrm>
          <a:prstGeom prst="roundRect">
            <a:avLst>
              <a:gd name="adj" fmla="val 8182"/>
            </a:avLst>
          </a:prstGeom>
          <a:solidFill>
            <a:srgbClr val="FCEFEF"/>
          </a:solidFill>
          <a:ln w="12700">
            <a:solidFill>
              <a:srgbClr val="E9C9D2"/>
            </a:solidFill>
            <a:prstDash val="solid"/>
          </a:ln>
        </p:spPr>
      </p:sp>
      <p:sp>
        <p:nvSpPr>
          <p:cNvPr id="28" name="Text 25"/>
          <p:cNvSpPr txBox="1"/>
          <p:nvPr/>
        </p:nvSpPr>
        <p:spPr>
          <a:xfrm>
            <a:off x="4480560" y="5504688"/>
            <a:ext cx="3337560" cy="274320"/>
          </a:xfrm>
          <a:prstGeom prst="rect">
            <a:avLst/>
          </a:prstGeom>
          <a:noFill/>
          <a:ln/>
        </p:spPr>
        <p:txBody>
          <a:bodyPr wrap="square" lIns="0" tIns="0" rIns="0" bIns="0" rtlCol="0" anchor="ctr"/>
          <a:lstStyle/>
          <a:p>
            <a:pPr marL="0" indent="0">
              <a:buNone/>
            </a:pPr>
            <a:r>
              <a:rPr lang="en-US" sz="1100" b="1" dirty="0">
                <a:solidFill>
                  <a:srgbClr val="8B1E3F"/>
                </a:solidFill>
                <a:latin typeface="Calibri" pitchFamily="34" charset="0"/>
                <a:ea typeface="Calibri" pitchFamily="34" charset="-122"/>
                <a:cs typeface="Calibri" pitchFamily="34" charset="-120"/>
              </a:rPr>
              <a:t>Important</a:t>
            </a:r>
            <a:endParaRPr lang="en-US" sz="1100" dirty="0"/>
          </a:p>
        </p:txBody>
      </p:sp>
      <p:sp>
        <p:nvSpPr>
          <p:cNvPr id="29" name="Text 26"/>
          <p:cNvSpPr txBox="1"/>
          <p:nvPr/>
        </p:nvSpPr>
        <p:spPr>
          <a:xfrm>
            <a:off x="4480560" y="5779008"/>
            <a:ext cx="3337560" cy="594360"/>
          </a:xfrm>
          <a:prstGeom prst="rect">
            <a:avLst/>
          </a:prstGeom>
          <a:noFill/>
          <a:ln/>
        </p:spPr>
        <p:txBody>
          <a:bodyPr wrap="square" lIns="0" tIns="0" rIns="0" bIns="0" rtlCol="0" anchor="t"/>
          <a:lstStyle/>
          <a:p>
            <a:pPr marL="0" indent="0">
              <a:buNone/>
            </a:pPr>
            <a:r>
              <a:rPr lang="en-US" sz="1000" dirty="0">
                <a:solidFill>
                  <a:srgbClr val="222B3A"/>
                </a:solidFill>
                <a:latin typeface="Calibri" pitchFamily="34" charset="0"/>
                <a:ea typeface="Calibri" pitchFamily="34" charset="-122"/>
                <a:cs typeface="Calibri" pitchFamily="34" charset="-120"/>
              </a:rPr>
              <a:t>Browser geolocation is permission-based — location is never obtained without explicit user consent.</a:t>
            </a:r>
            <a:endParaRPr lang="en-US" sz="1000" dirty="0"/>
          </a:p>
        </p:txBody>
      </p:sp>
      <p:sp>
        <p:nvSpPr>
          <p:cNvPr id="30" name="Shape 27"/>
          <p:cNvSpPr/>
          <p:nvPr/>
        </p:nvSpPr>
        <p:spPr>
          <a:xfrm>
            <a:off x="8138160" y="1417320"/>
            <a:ext cx="3520440" cy="4892040"/>
          </a:xfrm>
          <a:prstGeom prst="roundRect">
            <a:avLst>
              <a:gd name="adj" fmla="val 2338"/>
            </a:avLst>
          </a:prstGeom>
          <a:solidFill>
            <a:srgbClr val="FFFFFF"/>
          </a:solidFill>
          <a:ln w="12700">
            <a:solidFill>
              <a:srgbClr val="DCE3EE"/>
            </a:solidFill>
            <a:prstDash val="solid"/>
          </a:ln>
        </p:spPr>
      </p:sp>
      <p:sp>
        <p:nvSpPr>
          <p:cNvPr id="31" name="Text 28"/>
          <p:cNvSpPr txBox="1"/>
          <p:nvPr/>
        </p:nvSpPr>
        <p:spPr>
          <a:xfrm>
            <a:off x="8275320" y="1527048"/>
            <a:ext cx="3246120" cy="274320"/>
          </a:xfrm>
          <a:prstGeom prst="rect">
            <a:avLst/>
          </a:prstGeom>
          <a:noFill/>
          <a:ln/>
        </p:spPr>
        <p:txBody>
          <a:bodyPr wrap="square" lIns="0" tIns="0" rIns="0" bIns="0" rtlCol="0" anchor="ctr"/>
          <a:lstStyle/>
          <a:p>
            <a:pPr marL="0" indent="0" algn="ctr">
              <a:buNone/>
            </a:pPr>
            <a:r>
              <a:rPr lang="en-US" sz="1200" b="1" dirty="0">
                <a:solidFill>
                  <a:srgbClr val="1F3A5F"/>
                </a:solidFill>
                <a:latin typeface="Calibri" pitchFamily="34" charset="0"/>
                <a:ea typeface="Calibri" pitchFamily="34" charset="-122"/>
                <a:cs typeface="Calibri" pitchFamily="34" charset="-120"/>
              </a:rPr>
              <a:t>API Data Flow</a:t>
            </a:r>
            <a:endParaRPr lang="en-US" sz="1200" dirty="0"/>
          </a:p>
        </p:txBody>
      </p:sp>
      <p:pic>
        <p:nvPicPr>
          <p:cNvPr id="32" name="Image 1" descr="/home/claude/pptx_build/diagrams/weather.png"/>
          <p:cNvPicPr>
            <a:picLocks noChangeAspect="1"/>
          </p:cNvPicPr>
          <p:nvPr/>
        </p:nvPicPr>
        <p:blipFill>
          <a:blip r:embed="rId4"/>
          <a:stretch>
            <a:fillRect/>
          </a:stretch>
        </p:blipFill>
        <p:spPr>
          <a:xfrm>
            <a:off x="8586792" y="1874520"/>
            <a:ext cx="2623176" cy="4206240"/>
          </a:xfrm>
          <a:prstGeom prst="rect">
            <a:avLst/>
          </a:prstGeom>
        </p:spPr>
      </p:pic>
      <p:sp>
        <p:nvSpPr>
          <p:cNvPr id="33" name="Text 2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4" name="Text 3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11</a:t>
            </a:r>
            <a:endParaRPr lang="en-US" sz="900" dirty="0"/>
          </a:p>
        </p:txBody>
      </p:sp>
      <p:pic>
        <p:nvPicPr>
          <p:cNvPr id="35" name="Pictur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29" y="1371600"/>
            <a:ext cx="4193849" cy="5047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TECHNICAL CONCEPTS</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Technical Concepts &amp; Browser APIs</a:t>
            </a:r>
            <a:endParaRPr lang="en-US" sz="3000" dirty="0"/>
          </a:p>
        </p:txBody>
      </p:sp>
      <p:sp>
        <p:nvSpPr>
          <p:cNvPr id="4" name="Shape 2"/>
          <p:cNvSpPr/>
          <p:nvPr/>
        </p:nvSpPr>
        <p:spPr>
          <a:xfrm>
            <a:off x="548640" y="141732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731520" y="1600200"/>
            <a:ext cx="548640" cy="548640"/>
          </a:xfrm>
          <a:prstGeom prst="ellipse">
            <a:avLst/>
          </a:prstGeom>
          <a:solidFill>
            <a:srgbClr val="EAF0FB"/>
          </a:solidFill>
          <a:ln/>
        </p:spPr>
      </p:sp>
      <p:pic>
        <p:nvPicPr>
          <p:cNvPr id="6" name="Image 0" descr="/home/claude/pptx_build/icons/html5.png"/>
          <p:cNvPicPr>
            <a:picLocks noChangeAspect="1"/>
          </p:cNvPicPr>
          <p:nvPr/>
        </p:nvPicPr>
        <p:blipFill>
          <a:blip r:embed="rId3"/>
          <a:stretch>
            <a:fillRect/>
          </a:stretch>
        </p:blipFill>
        <p:spPr>
          <a:xfrm>
            <a:off x="852221" y="1720901"/>
            <a:ext cx="307238" cy="307238"/>
          </a:xfrm>
          <a:prstGeom prst="rect">
            <a:avLst/>
          </a:prstGeom>
        </p:spPr>
      </p:pic>
      <p:sp>
        <p:nvSpPr>
          <p:cNvPr id="7" name="Text 4"/>
          <p:cNvSpPr txBox="1"/>
          <p:nvPr/>
        </p:nvSpPr>
        <p:spPr>
          <a:xfrm>
            <a:off x="1371600" y="161848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HTML5</a:t>
            </a:r>
            <a:endParaRPr lang="en-US" sz="1500" dirty="0"/>
          </a:p>
        </p:txBody>
      </p:sp>
      <p:sp>
        <p:nvSpPr>
          <p:cNvPr id="8" name="Text 5"/>
          <p:cNvSpPr txBox="1"/>
          <p:nvPr/>
        </p:nvSpPr>
        <p:spPr>
          <a:xfrm>
            <a:off x="804672" y="228600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Semantic structure</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Accessibility attributes</a:t>
            </a:r>
            <a:endParaRPr lang="en-US" sz="1100" dirty="0"/>
          </a:p>
        </p:txBody>
      </p:sp>
      <p:sp>
        <p:nvSpPr>
          <p:cNvPr id="9" name="Shape 6"/>
          <p:cNvSpPr/>
          <p:nvPr/>
        </p:nvSpPr>
        <p:spPr>
          <a:xfrm>
            <a:off x="4312920" y="141732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0" name="Shape 7"/>
          <p:cNvSpPr/>
          <p:nvPr/>
        </p:nvSpPr>
        <p:spPr>
          <a:xfrm>
            <a:off x="4495800" y="1600200"/>
            <a:ext cx="548640" cy="548640"/>
          </a:xfrm>
          <a:prstGeom prst="ellipse">
            <a:avLst/>
          </a:prstGeom>
          <a:solidFill>
            <a:srgbClr val="EAF0FB"/>
          </a:solidFill>
          <a:ln/>
        </p:spPr>
      </p:sp>
      <p:pic>
        <p:nvPicPr>
          <p:cNvPr id="11" name="Image 1" descr="/home/claude/pptx_build/icons/css3.png"/>
          <p:cNvPicPr>
            <a:picLocks noChangeAspect="1"/>
          </p:cNvPicPr>
          <p:nvPr/>
        </p:nvPicPr>
        <p:blipFill>
          <a:blip r:embed="rId4"/>
          <a:stretch>
            <a:fillRect/>
          </a:stretch>
        </p:blipFill>
        <p:spPr>
          <a:xfrm>
            <a:off x="4616501" y="1720901"/>
            <a:ext cx="307238" cy="307238"/>
          </a:xfrm>
          <a:prstGeom prst="rect">
            <a:avLst/>
          </a:prstGeom>
        </p:spPr>
      </p:pic>
      <p:sp>
        <p:nvSpPr>
          <p:cNvPr id="12" name="Text 8"/>
          <p:cNvSpPr txBox="1"/>
          <p:nvPr/>
        </p:nvSpPr>
        <p:spPr>
          <a:xfrm>
            <a:off x="5135880" y="161848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CSS3</a:t>
            </a:r>
            <a:endParaRPr lang="en-US" sz="1500" dirty="0"/>
          </a:p>
        </p:txBody>
      </p:sp>
      <p:sp>
        <p:nvSpPr>
          <p:cNvPr id="13" name="Text 9"/>
          <p:cNvSpPr txBox="1"/>
          <p:nvPr/>
        </p:nvSpPr>
        <p:spPr>
          <a:xfrm>
            <a:off x="4568952" y="228600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Grid &amp; Flexbox</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Variables &amp; media queries</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Animations</a:t>
            </a:r>
            <a:endParaRPr lang="en-US" sz="1100" dirty="0"/>
          </a:p>
        </p:txBody>
      </p:sp>
      <p:sp>
        <p:nvSpPr>
          <p:cNvPr id="14" name="Shape 10"/>
          <p:cNvSpPr/>
          <p:nvPr/>
        </p:nvSpPr>
        <p:spPr>
          <a:xfrm>
            <a:off x="8077200" y="141732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5" name="Shape 11"/>
          <p:cNvSpPr/>
          <p:nvPr/>
        </p:nvSpPr>
        <p:spPr>
          <a:xfrm>
            <a:off x="8260080" y="1600200"/>
            <a:ext cx="548640" cy="548640"/>
          </a:xfrm>
          <a:prstGeom prst="ellipse">
            <a:avLst/>
          </a:prstGeom>
          <a:solidFill>
            <a:srgbClr val="EAF0FB"/>
          </a:solidFill>
          <a:ln/>
        </p:spPr>
      </p:sp>
      <p:pic>
        <p:nvPicPr>
          <p:cNvPr id="16" name="Image 2" descr="/home/claude/pptx_build/icons/js.png"/>
          <p:cNvPicPr>
            <a:picLocks noChangeAspect="1"/>
          </p:cNvPicPr>
          <p:nvPr/>
        </p:nvPicPr>
        <p:blipFill>
          <a:blip r:embed="rId5"/>
          <a:stretch>
            <a:fillRect/>
          </a:stretch>
        </p:blipFill>
        <p:spPr>
          <a:xfrm>
            <a:off x="8380781" y="1720901"/>
            <a:ext cx="307238" cy="307238"/>
          </a:xfrm>
          <a:prstGeom prst="rect">
            <a:avLst/>
          </a:prstGeom>
        </p:spPr>
      </p:pic>
      <p:sp>
        <p:nvSpPr>
          <p:cNvPr id="17" name="Text 12"/>
          <p:cNvSpPr txBox="1"/>
          <p:nvPr/>
        </p:nvSpPr>
        <p:spPr>
          <a:xfrm>
            <a:off x="8900160" y="161848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JavaScript</a:t>
            </a:r>
            <a:endParaRPr lang="en-US" sz="1500" dirty="0"/>
          </a:p>
        </p:txBody>
      </p:sp>
      <p:sp>
        <p:nvSpPr>
          <p:cNvPr id="18" name="Text 13"/>
          <p:cNvSpPr txBox="1"/>
          <p:nvPr/>
        </p:nvSpPr>
        <p:spPr>
          <a:xfrm>
            <a:off x="8333232" y="228600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DOM manipulation</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State management</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Event handling</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Async API calls</a:t>
            </a:r>
            <a:endParaRPr lang="en-US" sz="1100" dirty="0"/>
          </a:p>
        </p:txBody>
      </p:sp>
      <p:sp>
        <p:nvSpPr>
          <p:cNvPr id="19" name="Shape 14"/>
          <p:cNvSpPr/>
          <p:nvPr/>
        </p:nvSpPr>
        <p:spPr>
          <a:xfrm>
            <a:off x="548640" y="397764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0" name="Shape 15"/>
          <p:cNvSpPr/>
          <p:nvPr/>
        </p:nvSpPr>
        <p:spPr>
          <a:xfrm>
            <a:off x="731520" y="4160520"/>
            <a:ext cx="548640" cy="548640"/>
          </a:xfrm>
          <a:prstGeom prst="ellipse">
            <a:avLst/>
          </a:prstGeom>
          <a:solidFill>
            <a:srgbClr val="EAF0FB"/>
          </a:solidFill>
          <a:ln/>
        </p:spPr>
      </p:sp>
      <p:pic>
        <p:nvPicPr>
          <p:cNvPr id="21" name="Image 3" descr="/home/claude/pptx_build/icons/cpu.png"/>
          <p:cNvPicPr>
            <a:picLocks noChangeAspect="1"/>
          </p:cNvPicPr>
          <p:nvPr/>
        </p:nvPicPr>
        <p:blipFill>
          <a:blip r:embed="rId6"/>
          <a:stretch>
            <a:fillRect/>
          </a:stretch>
        </p:blipFill>
        <p:spPr>
          <a:xfrm>
            <a:off x="852221" y="4281221"/>
            <a:ext cx="307238" cy="307238"/>
          </a:xfrm>
          <a:prstGeom prst="rect">
            <a:avLst/>
          </a:prstGeom>
        </p:spPr>
      </p:pic>
      <p:sp>
        <p:nvSpPr>
          <p:cNvPr id="22" name="Text 16"/>
          <p:cNvSpPr txBox="1"/>
          <p:nvPr/>
        </p:nvSpPr>
        <p:spPr>
          <a:xfrm>
            <a:off x="1371600" y="417880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Browser APIs</a:t>
            </a:r>
            <a:endParaRPr lang="en-US" sz="1500" dirty="0"/>
          </a:p>
        </p:txBody>
      </p:sp>
      <p:sp>
        <p:nvSpPr>
          <p:cNvPr id="23" name="Text 17"/>
          <p:cNvSpPr txBox="1"/>
          <p:nvPr/>
        </p:nvSpPr>
        <p:spPr>
          <a:xfrm>
            <a:off x="804672" y="484632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IntersectionObserver</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Canvas API</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Geolocation API</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requestAnimationFrame</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performance.now()</a:t>
            </a:r>
            <a:endParaRPr lang="en-US" sz="1100" dirty="0"/>
          </a:p>
        </p:txBody>
      </p:sp>
      <p:sp>
        <p:nvSpPr>
          <p:cNvPr id="24" name="Shape 18"/>
          <p:cNvSpPr/>
          <p:nvPr/>
        </p:nvSpPr>
        <p:spPr>
          <a:xfrm>
            <a:off x="4312920" y="397764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5" name="Shape 19"/>
          <p:cNvSpPr/>
          <p:nvPr/>
        </p:nvSpPr>
        <p:spPr>
          <a:xfrm>
            <a:off x="4495800" y="4160520"/>
            <a:ext cx="548640" cy="548640"/>
          </a:xfrm>
          <a:prstGeom prst="ellipse">
            <a:avLst/>
          </a:prstGeom>
          <a:solidFill>
            <a:srgbClr val="EAF0FB"/>
          </a:solidFill>
          <a:ln/>
        </p:spPr>
      </p:sp>
      <p:pic>
        <p:nvPicPr>
          <p:cNvPr id="26" name="Image 4" descr="/home/claude/pptx_build/icons/puzzle.png"/>
          <p:cNvPicPr>
            <a:picLocks noChangeAspect="1"/>
          </p:cNvPicPr>
          <p:nvPr/>
        </p:nvPicPr>
        <p:blipFill>
          <a:blip r:embed="rId7"/>
          <a:stretch>
            <a:fillRect/>
          </a:stretch>
        </p:blipFill>
        <p:spPr>
          <a:xfrm>
            <a:off x="4616501" y="4281221"/>
            <a:ext cx="307238" cy="307238"/>
          </a:xfrm>
          <a:prstGeom prst="rect">
            <a:avLst/>
          </a:prstGeom>
        </p:spPr>
      </p:pic>
      <p:sp>
        <p:nvSpPr>
          <p:cNvPr id="27" name="Text 20"/>
          <p:cNvSpPr txBox="1"/>
          <p:nvPr/>
        </p:nvSpPr>
        <p:spPr>
          <a:xfrm>
            <a:off x="5135880" y="417880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Algorithms</a:t>
            </a:r>
            <a:endParaRPr lang="en-US" sz="1500" dirty="0"/>
          </a:p>
        </p:txBody>
      </p:sp>
      <p:sp>
        <p:nvSpPr>
          <p:cNvPr id="28" name="Text 21"/>
          <p:cNvSpPr txBox="1"/>
          <p:nvPr/>
        </p:nvSpPr>
        <p:spPr>
          <a:xfrm>
            <a:off x="4568952" y="484632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Minimax (Tic-Tac-Toe AI)</a:t>
            </a:r>
            <a:endParaRPr lang="en-US" sz="1100" dirty="0"/>
          </a:p>
        </p:txBody>
      </p:sp>
      <p:sp>
        <p:nvSpPr>
          <p:cNvPr id="29" name="Shape 22"/>
          <p:cNvSpPr/>
          <p:nvPr/>
        </p:nvSpPr>
        <p:spPr>
          <a:xfrm>
            <a:off x="8077200" y="3977640"/>
            <a:ext cx="3535680" cy="2331720"/>
          </a:xfrm>
          <a:prstGeom prst="roundRect">
            <a:avLst>
              <a:gd name="adj" fmla="val 352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0" name="Shape 23"/>
          <p:cNvSpPr/>
          <p:nvPr/>
        </p:nvSpPr>
        <p:spPr>
          <a:xfrm>
            <a:off x="8260080" y="4160520"/>
            <a:ext cx="548640" cy="548640"/>
          </a:xfrm>
          <a:prstGeom prst="ellipse">
            <a:avLst/>
          </a:prstGeom>
          <a:solidFill>
            <a:srgbClr val="EAF0FB"/>
          </a:solidFill>
          <a:ln/>
        </p:spPr>
      </p:sp>
      <p:pic>
        <p:nvPicPr>
          <p:cNvPr id="31" name="Image 5" descr="/home/claude/pptx_build/icons/api.png"/>
          <p:cNvPicPr>
            <a:picLocks noChangeAspect="1"/>
          </p:cNvPicPr>
          <p:nvPr/>
        </p:nvPicPr>
        <p:blipFill>
          <a:blip r:embed="rId8"/>
          <a:stretch>
            <a:fillRect/>
          </a:stretch>
        </p:blipFill>
        <p:spPr>
          <a:xfrm>
            <a:off x="8380781" y="4281221"/>
            <a:ext cx="307238" cy="307238"/>
          </a:xfrm>
          <a:prstGeom prst="rect">
            <a:avLst/>
          </a:prstGeom>
        </p:spPr>
      </p:pic>
      <p:sp>
        <p:nvSpPr>
          <p:cNvPr id="32" name="Text 24"/>
          <p:cNvSpPr txBox="1"/>
          <p:nvPr/>
        </p:nvSpPr>
        <p:spPr>
          <a:xfrm>
            <a:off x="8900160" y="4178808"/>
            <a:ext cx="257556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External APIs</a:t>
            </a:r>
            <a:endParaRPr lang="en-US" sz="1500" dirty="0"/>
          </a:p>
        </p:txBody>
      </p:sp>
      <p:sp>
        <p:nvSpPr>
          <p:cNvPr id="33" name="Text 25"/>
          <p:cNvSpPr txBox="1"/>
          <p:nvPr/>
        </p:nvSpPr>
        <p:spPr>
          <a:xfrm>
            <a:off x="8333232" y="4846320"/>
            <a:ext cx="3078480" cy="1325880"/>
          </a:xfrm>
          <a:prstGeom prst="rect">
            <a:avLst/>
          </a:prstGeom>
          <a:noFill/>
          <a:ln/>
        </p:spPr>
        <p:txBody>
          <a:bodyPr wrap="square" lIns="0" tIns="0" rIns="0" bIns="0" rtlCol="0" anchor="t"/>
          <a:lstStyle/>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Open-Meteo Geocoding</a:t>
            </a:r>
            <a:endParaRPr lang="en-US" sz="1100" dirty="0"/>
          </a:p>
          <a:p>
            <a:pPr marL="0" indent="0">
              <a:lnSpc>
                <a:spcPct val="135000"/>
              </a:lnSpc>
              <a:buNone/>
            </a:pPr>
            <a:r>
              <a:rPr lang="en-US" sz="1100" dirty="0">
                <a:solidFill>
                  <a:srgbClr val="222B3A"/>
                </a:solidFill>
                <a:latin typeface="Calibri" pitchFamily="34" charset="0"/>
                <a:ea typeface="Calibri" pitchFamily="34" charset="-122"/>
                <a:cs typeface="Calibri" pitchFamily="34" charset="-120"/>
              </a:rPr>
              <a:t>•  Open-Meteo Forecast</a:t>
            </a:r>
            <a:endParaRPr lang="en-US" sz="1100" dirty="0"/>
          </a:p>
        </p:txBody>
      </p:sp>
      <p:sp>
        <p:nvSpPr>
          <p:cNvPr id="34" name="Text 26"/>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5" name="Text 27"/>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Application Architecture / Data Flow</a:t>
            </a:r>
            <a:endParaRPr lang="en-US" sz="3000" dirty="0"/>
          </a:p>
        </p:txBody>
      </p:sp>
      <p:sp>
        <p:nvSpPr>
          <p:cNvPr id="4" name="Text 2"/>
          <p:cNvSpPr txBox="1"/>
          <p:nvPr/>
        </p:nvSpPr>
        <p:spPr>
          <a:xfrm>
            <a:off x="548640" y="1371600"/>
            <a:ext cx="11064240" cy="292608"/>
          </a:xfrm>
          <a:prstGeom prst="rect">
            <a:avLst/>
          </a:prstGeom>
          <a:noFill/>
          <a:ln/>
        </p:spPr>
        <p:txBody>
          <a:bodyPr wrap="square" lIns="0" tIns="0" rIns="0" bIns="0" rtlCol="0" anchor="ctr"/>
          <a:lstStyle/>
          <a:p>
            <a:pPr marL="0" indent="0">
              <a:buNone/>
            </a:pPr>
            <a:r>
              <a:rPr lang="en-US" sz="1300" b="1" dirty="0">
                <a:solidFill>
                  <a:srgbClr val="222B3A"/>
                </a:solidFill>
                <a:latin typeface="Calibri" pitchFamily="34" charset="0"/>
                <a:ea typeface="Calibri" pitchFamily="34" charset="-122"/>
                <a:cs typeface="Calibri" pitchFamily="34" charset="-120"/>
              </a:rPr>
              <a:t>Common Client-Side Architecture (All Five Applications)</a:t>
            </a:r>
            <a:endParaRPr lang="en-US" sz="1300" dirty="0"/>
          </a:p>
        </p:txBody>
      </p:sp>
      <p:pic>
        <p:nvPicPr>
          <p:cNvPr id="5" name="Image 0" descr="/home/claude/pptx_build/diagrams/architecture.png"/>
          <p:cNvPicPr>
            <a:picLocks noChangeAspect="1"/>
          </p:cNvPicPr>
          <p:nvPr/>
        </p:nvPicPr>
        <p:blipFill>
          <a:blip r:embed="rId3"/>
          <a:stretch>
            <a:fillRect/>
          </a:stretch>
        </p:blipFill>
        <p:spPr>
          <a:xfrm>
            <a:off x="883768" y="1737360"/>
            <a:ext cx="10424160" cy="862264"/>
          </a:xfrm>
          <a:prstGeom prst="rect">
            <a:avLst/>
          </a:prstGeom>
        </p:spPr>
      </p:pic>
      <p:sp>
        <p:nvSpPr>
          <p:cNvPr id="6" name="Text 3"/>
          <p:cNvSpPr txBox="1"/>
          <p:nvPr/>
        </p:nvSpPr>
        <p:spPr>
          <a:xfrm>
            <a:off x="822960" y="2709352"/>
            <a:ext cx="10515600" cy="365760"/>
          </a:xfrm>
          <a:prstGeom prst="rect">
            <a:avLst/>
          </a:prstGeom>
          <a:noFill/>
          <a:ln/>
        </p:spPr>
        <p:txBody>
          <a:bodyPr wrap="square" lIns="0" tIns="0" rIns="0" bIns="0" rtlCol="0" anchor="ctr"/>
          <a:lstStyle/>
          <a:p>
            <a:pPr marL="0" indent="0" algn="ctr">
              <a:buNone/>
            </a:pPr>
            <a:r>
              <a:rPr lang="en-US" sz="1150" i="1" dirty="0">
                <a:solidFill>
                  <a:srgbClr val="667085"/>
                </a:solidFill>
                <a:latin typeface="Calibri" pitchFamily="34" charset="0"/>
                <a:ea typeface="Calibri" pitchFamily="34" charset="-122"/>
                <a:cs typeface="Calibri" pitchFamily="34" charset="-120"/>
              </a:rPr>
              <a:t>No server-side component, database or backend framework is used in any of the five applications; all logic executes entirely within the browser.</a:t>
            </a:r>
            <a:endParaRPr lang="en-US" sz="1150" dirty="0"/>
          </a:p>
        </p:txBody>
      </p:sp>
      <p:sp>
        <p:nvSpPr>
          <p:cNvPr id="7" name="Text 4"/>
          <p:cNvSpPr txBox="1"/>
          <p:nvPr/>
        </p:nvSpPr>
        <p:spPr>
          <a:xfrm>
            <a:off x="548640" y="3246120"/>
            <a:ext cx="11064240" cy="292608"/>
          </a:xfrm>
          <a:prstGeom prst="rect">
            <a:avLst/>
          </a:prstGeom>
          <a:noFill/>
          <a:ln/>
        </p:spPr>
        <p:txBody>
          <a:bodyPr wrap="square" lIns="0" tIns="0" rIns="0" bIns="0" rtlCol="0" anchor="ctr"/>
          <a:lstStyle/>
          <a:p>
            <a:pPr marL="0" indent="0">
              <a:buNone/>
            </a:pPr>
            <a:r>
              <a:rPr lang="en-US" sz="1300" b="1" dirty="0">
                <a:solidFill>
                  <a:srgbClr val="222B3A"/>
                </a:solidFill>
                <a:latin typeface="Calibri" pitchFamily="34" charset="0"/>
                <a:ea typeface="Calibri" pitchFamily="34" charset="-122"/>
                <a:cs typeface="Calibri" pitchFamily="34" charset="-120"/>
              </a:rPr>
              <a:t>Task-Specific Integration</a:t>
            </a:r>
            <a:endParaRPr lang="en-US" sz="1300" dirty="0"/>
          </a:p>
        </p:txBody>
      </p:sp>
      <p:sp>
        <p:nvSpPr>
          <p:cNvPr id="8" name="Shape 5"/>
          <p:cNvSpPr/>
          <p:nvPr/>
        </p:nvSpPr>
        <p:spPr>
          <a:xfrm>
            <a:off x="518008" y="3703320"/>
            <a:ext cx="2084832" cy="2377440"/>
          </a:xfrm>
          <a:prstGeom prst="roundRect">
            <a:avLst>
              <a:gd name="adj" fmla="val 3947"/>
            </a:avLst>
          </a:prstGeom>
          <a:solidFill>
            <a:srgbClr val="FFFFFF"/>
          </a:solidFill>
          <a:ln w="12700">
            <a:solidFill>
              <a:srgbClr val="DCE3EE"/>
            </a:solidFill>
            <a:prstDash val="solid"/>
          </a:ln>
        </p:spPr>
      </p:sp>
      <p:sp>
        <p:nvSpPr>
          <p:cNvPr id="9" name="Shape 6"/>
          <p:cNvSpPr/>
          <p:nvPr/>
        </p:nvSpPr>
        <p:spPr>
          <a:xfrm>
            <a:off x="1276960" y="4014216"/>
            <a:ext cx="566928" cy="566928"/>
          </a:xfrm>
          <a:prstGeom prst="ellipse">
            <a:avLst/>
          </a:prstGeom>
          <a:solidFill>
            <a:srgbClr val="EAF0FB"/>
          </a:solidFill>
          <a:ln/>
        </p:spPr>
      </p:sp>
      <p:pic>
        <p:nvPicPr>
          <p:cNvPr id="10" name="Image 1" descr="/home/claude/pptx_build/icons/responsive.png"/>
          <p:cNvPicPr>
            <a:picLocks noChangeAspect="1"/>
          </p:cNvPicPr>
          <p:nvPr/>
        </p:nvPicPr>
        <p:blipFill>
          <a:blip r:embed="rId4"/>
          <a:stretch>
            <a:fillRect/>
          </a:stretch>
        </p:blipFill>
        <p:spPr>
          <a:xfrm>
            <a:off x="1401684" y="4138940"/>
            <a:ext cx="317480" cy="317480"/>
          </a:xfrm>
          <a:prstGeom prst="rect">
            <a:avLst/>
          </a:prstGeom>
        </p:spPr>
      </p:pic>
      <p:sp>
        <p:nvSpPr>
          <p:cNvPr id="11" name="Text 7"/>
          <p:cNvSpPr txBox="1"/>
          <p:nvPr/>
        </p:nvSpPr>
        <p:spPr>
          <a:xfrm>
            <a:off x="609448" y="4754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Landing Page</a:t>
            </a:r>
            <a:endParaRPr lang="en-US" sz="1300" dirty="0"/>
          </a:p>
        </p:txBody>
      </p:sp>
      <p:sp>
        <p:nvSpPr>
          <p:cNvPr id="12" name="Text 8"/>
          <p:cNvSpPr txBox="1"/>
          <p:nvPr/>
        </p:nvSpPr>
        <p:spPr>
          <a:xfrm>
            <a:off x="655168" y="5120640"/>
            <a:ext cx="1810512" cy="822960"/>
          </a:xfrm>
          <a:prstGeom prst="rect">
            <a:avLst/>
          </a:prstGeom>
          <a:noFill/>
          <a:ln/>
        </p:spPr>
        <p:txBody>
          <a:bodyPr wrap="square" lIns="0" tIns="0" rIns="0" bIns="0" rtlCol="0" anchor="t"/>
          <a:lstStyle/>
          <a:p>
            <a:pPr marL="0" indent="0" algn="ctr">
              <a:buNone/>
            </a:pPr>
            <a:r>
              <a:rPr lang="en-US" sz="1050" dirty="0">
                <a:solidFill>
                  <a:srgbClr val="667085"/>
                </a:solidFill>
                <a:latin typeface="Calibri" pitchFamily="34" charset="0"/>
                <a:ea typeface="Calibri" pitchFamily="34" charset="-122"/>
                <a:cs typeface="Calibri" pitchFamily="34" charset="-120"/>
              </a:rPr>
              <a:t>DOM + IntersectionObserver</a:t>
            </a:r>
            <a:endParaRPr lang="en-US" sz="1050" dirty="0"/>
          </a:p>
        </p:txBody>
      </p:sp>
      <p:sp>
        <p:nvSpPr>
          <p:cNvPr id="13" name="Shape 9"/>
          <p:cNvSpPr/>
          <p:nvPr/>
        </p:nvSpPr>
        <p:spPr>
          <a:xfrm>
            <a:off x="2785720" y="3703320"/>
            <a:ext cx="2084832" cy="2377440"/>
          </a:xfrm>
          <a:prstGeom prst="roundRect">
            <a:avLst>
              <a:gd name="adj" fmla="val 3947"/>
            </a:avLst>
          </a:prstGeom>
          <a:solidFill>
            <a:srgbClr val="FFFFFF"/>
          </a:solidFill>
          <a:ln w="12700">
            <a:solidFill>
              <a:srgbClr val="DCE3EE"/>
            </a:solidFill>
            <a:prstDash val="solid"/>
          </a:ln>
        </p:spPr>
      </p:sp>
      <p:sp>
        <p:nvSpPr>
          <p:cNvPr id="14" name="Shape 10"/>
          <p:cNvSpPr/>
          <p:nvPr/>
        </p:nvSpPr>
        <p:spPr>
          <a:xfrm>
            <a:off x="3544672" y="4014216"/>
            <a:ext cx="566928" cy="566928"/>
          </a:xfrm>
          <a:prstGeom prst="ellipse">
            <a:avLst/>
          </a:prstGeom>
          <a:solidFill>
            <a:srgbClr val="EAF0FB"/>
          </a:solidFill>
          <a:ln/>
        </p:spPr>
      </p:sp>
      <p:pic>
        <p:nvPicPr>
          <p:cNvPr id="15" name="Image 2" descr="/home/claude/pptx_build/icons/timer.png"/>
          <p:cNvPicPr>
            <a:picLocks noChangeAspect="1"/>
          </p:cNvPicPr>
          <p:nvPr/>
        </p:nvPicPr>
        <p:blipFill>
          <a:blip r:embed="rId5"/>
          <a:stretch>
            <a:fillRect/>
          </a:stretch>
        </p:blipFill>
        <p:spPr>
          <a:xfrm>
            <a:off x="3669396" y="4138940"/>
            <a:ext cx="317480" cy="317480"/>
          </a:xfrm>
          <a:prstGeom prst="rect">
            <a:avLst/>
          </a:prstGeom>
        </p:spPr>
      </p:pic>
      <p:sp>
        <p:nvSpPr>
          <p:cNvPr id="16" name="Text 11"/>
          <p:cNvSpPr txBox="1"/>
          <p:nvPr/>
        </p:nvSpPr>
        <p:spPr>
          <a:xfrm>
            <a:off x="2877160" y="4754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Stopwatch</a:t>
            </a:r>
            <a:endParaRPr lang="en-US" sz="1300" dirty="0"/>
          </a:p>
        </p:txBody>
      </p:sp>
      <p:sp>
        <p:nvSpPr>
          <p:cNvPr id="17" name="Text 12"/>
          <p:cNvSpPr txBox="1"/>
          <p:nvPr/>
        </p:nvSpPr>
        <p:spPr>
          <a:xfrm>
            <a:off x="2922880" y="5120640"/>
            <a:ext cx="1810512" cy="822960"/>
          </a:xfrm>
          <a:prstGeom prst="rect">
            <a:avLst/>
          </a:prstGeom>
          <a:noFill/>
          <a:ln/>
        </p:spPr>
        <p:txBody>
          <a:bodyPr wrap="square" lIns="0" tIns="0" rIns="0" bIns="0" rtlCol="0" anchor="t"/>
          <a:lstStyle/>
          <a:p>
            <a:pPr marL="0" indent="0" algn="ctr">
              <a:buNone/>
            </a:pPr>
            <a:r>
              <a:rPr lang="en-US" sz="1050" dirty="0">
                <a:solidFill>
                  <a:srgbClr val="667085"/>
                </a:solidFill>
                <a:latin typeface="Calibri" pitchFamily="34" charset="0"/>
                <a:ea typeface="Calibri" pitchFamily="34" charset="-122"/>
                <a:cs typeface="Calibri" pitchFamily="34" charset="-120"/>
              </a:rPr>
              <a:t>State + Timing APIs + DOM</a:t>
            </a:r>
            <a:endParaRPr lang="en-US" sz="1050" dirty="0"/>
          </a:p>
        </p:txBody>
      </p:sp>
      <p:sp>
        <p:nvSpPr>
          <p:cNvPr id="18" name="Shape 13"/>
          <p:cNvSpPr/>
          <p:nvPr/>
        </p:nvSpPr>
        <p:spPr>
          <a:xfrm>
            <a:off x="5053432" y="3703320"/>
            <a:ext cx="2084832" cy="2377440"/>
          </a:xfrm>
          <a:prstGeom prst="roundRect">
            <a:avLst>
              <a:gd name="adj" fmla="val 3947"/>
            </a:avLst>
          </a:prstGeom>
          <a:solidFill>
            <a:srgbClr val="FFFFFF"/>
          </a:solidFill>
          <a:ln w="12700">
            <a:solidFill>
              <a:srgbClr val="DCE3EE"/>
            </a:solidFill>
            <a:prstDash val="solid"/>
          </a:ln>
        </p:spPr>
      </p:sp>
      <p:sp>
        <p:nvSpPr>
          <p:cNvPr id="19" name="Shape 14"/>
          <p:cNvSpPr/>
          <p:nvPr/>
        </p:nvSpPr>
        <p:spPr>
          <a:xfrm>
            <a:off x="5812384" y="4014216"/>
            <a:ext cx="566928" cy="566928"/>
          </a:xfrm>
          <a:prstGeom prst="ellipse">
            <a:avLst/>
          </a:prstGeom>
          <a:solidFill>
            <a:srgbClr val="EAF0FB"/>
          </a:solidFill>
          <a:ln/>
        </p:spPr>
      </p:sp>
      <p:pic>
        <p:nvPicPr>
          <p:cNvPr id="20" name="Image 3" descr="/home/claude/pptx_build/icons/game.png"/>
          <p:cNvPicPr>
            <a:picLocks noChangeAspect="1"/>
          </p:cNvPicPr>
          <p:nvPr/>
        </p:nvPicPr>
        <p:blipFill>
          <a:blip r:embed="rId6"/>
          <a:stretch>
            <a:fillRect/>
          </a:stretch>
        </p:blipFill>
        <p:spPr>
          <a:xfrm>
            <a:off x="5937108" y="4138940"/>
            <a:ext cx="317480" cy="317480"/>
          </a:xfrm>
          <a:prstGeom prst="rect">
            <a:avLst/>
          </a:prstGeom>
        </p:spPr>
      </p:pic>
      <p:sp>
        <p:nvSpPr>
          <p:cNvPr id="21" name="Text 15"/>
          <p:cNvSpPr txBox="1"/>
          <p:nvPr/>
        </p:nvSpPr>
        <p:spPr>
          <a:xfrm>
            <a:off x="5144872" y="4754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Tic-Tac-Toe</a:t>
            </a:r>
            <a:endParaRPr lang="en-US" sz="1300" dirty="0"/>
          </a:p>
        </p:txBody>
      </p:sp>
      <p:sp>
        <p:nvSpPr>
          <p:cNvPr id="22" name="Text 16"/>
          <p:cNvSpPr txBox="1"/>
          <p:nvPr/>
        </p:nvSpPr>
        <p:spPr>
          <a:xfrm>
            <a:off x="5190592" y="5120640"/>
            <a:ext cx="1810512" cy="822960"/>
          </a:xfrm>
          <a:prstGeom prst="rect">
            <a:avLst/>
          </a:prstGeom>
          <a:noFill/>
          <a:ln/>
        </p:spPr>
        <p:txBody>
          <a:bodyPr wrap="square" lIns="0" tIns="0" rIns="0" bIns="0" rtlCol="0" anchor="t"/>
          <a:lstStyle/>
          <a:p>
            <a:pPr marL="0" indent="0" algn="ctr">
              <a:buNone/>
            </a:pPr>
            <a:r>
              <a:rPr lang="en-US" sz="1050" dirty="0">
                <a:solidFill>
                  <a:srgbClr val="667085"/>
                </a:solidFill>
                <a:latin typeface="Calibri" pitchFamily="34" charset="0"/>
                <a:ea typeface="Calibri" pitchFamily="34" charset="-122"/>
                <a:cs typeface="Calibri" pitchFamily="34" charset="-120"/>
              </a:rPr>
              <a:t>Game State + Minimax + DOM</a:t>
            </a:r>
            <a:endParaRPr lang="en-US" sz="1050" dirty="0"/>
          </a:p>
        </p:txBody>
      </p:sp>
      <p:sp>
        <p:nvSpPr>
          <p:cNvPr id="23" name="Shape 17"/>
          <p:cNvSpPr/>
          <p:nvPr/>
        </p:nvSpPr>
        <p:spPr>
          <a:xfrm>
            <a:off x="7321144" y="3703320"/>
            <a:ext cx="2084832" cy="2377440"/>
          </a:xfrm>
          <a:prstGeom prst="roundRect">
            <a:avLst>
              <a:gd name="adj" fmla="val 3947"/>
            </a:avLst>
          </a:prstGeom>
          <a:solidFill>
            <a:srgbClr val="FFFFFF"/>
          </a:solidFill>
          <a:ln w="12700">
            <a:solidFill>
              <a:srgbClr val="DCE3EE"/>
            </a:solidFill>
            <a:prstDash val="solid"/>
          </a:ln>
        </p:spPr>
      </p:sp>
      <p:sp>
        <p:nvSpPr>
          <p:cNvPr id="24" name="Shape 18"/>
          <p:cNvSpPr/>
          <p:nvPr/>
        </p:nvSpPr>
        <p:spPr>
          <a:xfrm>
            <a:off x="8080096" y="4014216"/>
            <a:ext cx="566928" cy="566928"/>
          </a:xfrm>
          <a:prstGeom prst="ellipse">
            <a:avLst/>
          </a:prstGeom>
          <a:solidFill>
            <a:srgbClr val="EAF0FB"/>
          </a:solidFill>
          <a:ln/>
        </p:spPr>
      </p:sp>
      <p:pic>
        <p:nvPicPr>
          <p:cNvPr id="25" name="Image 4" descr="/home/claude/pptx_build/icons/portfolio.png"/>
          <p:cNvPicPr>
            <a:picLocks noChangeAspect="1"/>
          </p:cNvPicPr>
          <p:nvPr/>
        </p:nvPicPr>
        <p:blipFill>
          <a:blip r:embed="rId7"/>
          <a:stretch>
            <a:fillRect/>
          </a:stretch>
        </p:blipFill>
        <p:spPr>
          <a:xfrm>
            <a:off x="8204820" y="4138940"/>
            <a:ext cx="317480" cy="317480"/>
          </a:xfrm>
          <a:prstGeom prst="rect">
            <a:avLst/>
          </a:prstGeom>
        </p:spPr>
      </p:pic>
      <p:sp>
        <p:nvSpPr>
          <p:cNvPr id="26" name="Text 19"/>
          <p:cNvSpPr txBox="1"/>
          <p:nvPr/>
        </p:nvSpPr>
        <p:spPr>
          <a:xfrm>
            <a:off x="7412584" y="4754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Portfolio</a:t>
            </a:r>
            <a:endParaRPr lang="en-US" sz="1300" dirty="0"/>
          </a:p>
        </p:txBody>
      </p:sp>
      <p:sp>
        <p:nvSpPr>
          <p:cNvPr id="27" name="Text 20"/>
          <p:cNvSpPr txBox="1"/>
          <p:nvPr/>
        </p:nvSpPr>
        <p:spPr>
          <a:xfrm>
            <a:off x="7458304" y="5120640"/>
            <a:ext cx="1810512" cy="822960"/>
          </a:xfrm>
          <a:prstGeom prst="rect">
            <a:avLst/>
          </a:prstGeom>
          <a:noFill/>
          <a:ln/>
        </p:spPr>
        <p:txBody>
          <a:bodyPr wrap="square" lIns="0" tIns="0" rIns="0" bIns="0" rtlCol="0" anchor="t"/>
          <a:lstStyle/>
          <a:p>
            <a:pPr marL="0" indent="0" algn="ctr">
              <a:buNone/>
            </a:pPr>
            <a:r>
              <a:rPr lang="en-US" sz="1050" dirty="0">
                <a:solidFill>
                  <a:srgbClr val="667085"/>
                </a:solidFill>
                <a:latin typeface="Calibri" pitchFamily="34" charset="0"/>
                <a:ea typeface="Calibri" pitchFamily="34" charset="-122"/>
                <a:cs typeface="Calibri" pitchFamily="34" charset="-120"/>
              </a:rPr>
              <a:t>DOM + Canvas + IntersectionObserver</a:t>
            </a:r>
            <a:endParaRPr lang="en-US" sz="1050" dirty="0"/>
          </a:p>
        </p:txBody>
      </p:sp>
      <p:sp>
        <p:nvSpPr>
          <p:cNvPr id="28" name="Shape 21"/>
          <p:cNvSpPr/>
          <p:nvPr/>
        </p:nvSpPr>
        <p:spPr>
          <a:xfrm>
            <a:off x="9588856" y="3703320"/>
            <a:ext cx="2084832" cy="2377440"/>
          </a:xfrm>
          <a:prstGeom prst="roundRect">
            <a:avLst>
              <a:gd name="adj" fmla="val 3947"/>
            </a:avLst>
          </a:prstGeom>
          <a:solidFill>
            <a:srgbClr val="FFFFFF"/>
          </a:solidFill>
          <a:ln w="12700">
            <a:solidFill>
              <a:srgbClr val="DCE3EE"/>
            </a:solidFill>
            <a:prstDash val="solid"/>
          </a:ln>
        </p:spPr>
      </p:sp>
      <p:sp>
        <p:nvSpPr>
          <p:cNvPr id="29" name="Shape 22"/>
          <p:cNvSpPr/>
          <p:nvPr/>
        </p:nvSpPr>
        <p:spPr>
          <a:xfrm>
            <a:off x="10347808" y="4014216"/>
            <a:ext cx="566928" cy="566928"/>
          </a:xfrm>
          <a:prstGeom prst="ellipse">
            <a:avLst/>
          </a:prstGeom>
          <a:solidFill>
            <a:srgbClr val="EAF0FB"/>
          </a:solidFill>
          <a:ln/>
        </p:spPr>
      </p:sp>
      <p:pic>
        <p:nvPicPr>
          <p:cNvPr id="30" name="Image 5" descr="/home/claude/pptx_build/icons/weather.png"/>
          <p:cNvPicPr>
            <a:picLocks noChangeAspect="1"/>
          </p:cNvPicPr>
          <p:nvPr/>
        </p:nvPicPr>
        <p:blipFill>
          <a:blip r:embed="rId8"/>
          <a:stretch>
            <a:fillRect/>
          </a:stretch>
        </p:blipFill>
        <p:spPr>
          <a:xfrm>
            <a:off x="10472532" y="4138940"/>
            <a:ext cx="317480" cy="317480"/>
          </a:xfrm>
          <a:prstGeom prst="rect">
            <a:avLst/>
          </a:prstGeom>
        </p:spPr>
      </p:pic>
      <p:sp>
        <p:nvSpPr>
          <p:cNvPr id="31" name="Text 23"/>
          <p:cNvSpPr txBox="1"/>
          <p:nvPr/>
        </p:nvSpPr>
        <p:spPr>
          <a:xfrm>
            <a:off x="9680296" y="4754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Weather App</a:t>
            </a:r>
            <a:endParaRPr lang="en-US" sz="1300" dirty="0"/>
          </a:p>
        </p:txBody>
      </p:sp>
      <p:sp>
        <p:nvSpPr>
          <p:cNvPr id="32" name="Text 24"/>
          <p:cNvSpPr txBox="1"/>
          <p:nvPr/>
        </p:nvSpPr>
        <p:spPr>
          <a:xfrm>
            <a:off x="9726016" y="5120640"/>
            <a:ext cx="1810512" cy="822960"/>
          </a:xfrm>
          <a:prstGeom prst="rect">
            <a:avLst/>
          </a:prstGeom>
          <a:noFill/>
          <a:ln/>
        </p:spPr>
        <p:txBody>
          <a:bodyPr wrap="square" lIns="0" tIns="0" rIns="0" bIns="0" rtlCol="0" anchor="t"/>
          <a:lstStyle/>
          <a:p>
            <a:pPr marL="0" indent="0" algn="ctr">
              <a:buNone/>
            </a:pPr>
            <a:r>
              <a:rPr lang="en-US" sz="1050" dirty="0">
                <a:solidFill>
                  <a:srgbClr val="667085"/>
                </a:solidFill>
                <a:latin typeface="Calibri" pitchFamily="34" charset="0"/>
                <a:ea typeface="Calibri" pitchFamily="34" charset="-122"/>
                <a:cs typeface="Calibri" pitchFamily="34" charset="-120"/>
              </a:rPr>
              <a:t>User Input/Location + APIs + DOM</a:t>
            </a:r>
            <a:endParaRPr lang="en-US" sz="1050" dirty="0"/>
          </a:p>
        </p:txBody>
      </p:sp>
      <p:sp>
        <p:nvSpPr>
          <p:cNvPr id="33" name="Text 25"/>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4" name="Text 26"/>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ENGINEERING PRACTICES</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Testing, Debugging, Accessibility &amp; Responsiveness</a:t>
            </a:r>
            <a:endParaRPr lang="en-US" sz="3000" dirty="0"/>
          </a:p>
        </p:txBody>
      </p:sp>
      <p:sp>
        <p:nvSpPr>
          <p:cNvPr id="4" name="Shape 2"/>
          <p:cNvSpPr/>
          <p:nvPr/>
        </p:nvSpPr>
        <p:spPr>
          <a:xfrm>
            <a:off x="548640" y="1417320"/>
            <a:ext cx="5417820" cy="2171700"/>
          </a:xfrm>
          <a:prstGeom prst="roundRect">
            <a:avLst>
              <a:gd name="adj" fmla="val 378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749808" y="1600200"/>
            <a:ext cx="512064" cy="512064"/>
          </a:xfrm>
          <a:prstGeom prst="ellipse">
            <a:avLst/>
          </a:prstGeom>
          <a:solidFill>
            <a:srgbClr val="EAF0FB"/>
          </a:solidFill>
          <a:ln/>
        </p:spPr>
      </p:sp>
      <p:pic>
        <p:nvPicPr>
          <p:cNvPr id="6" name="Image 0" descr="/home/claude/pptx_build/icons/test.png"/>
          <p:cNvPicPr>
            <a:picLocks noChangeAspect="1"/>
          </p:cNvPicPr>
          <p:nvPr/>
        </p:nvPicPr>
        <p:blipFill>
          <a:blip r:embed="rId3"/>
          <a:stretch>
            <a:fillRect/>
          </a:stretch>
        </p:blipFill>
        <p:spPr>
          <a:xfrm>
            <a:off x="862462" y="1712854"/>
            <a:ext cx="286756" cy="286756"/>
          </a:xfrm>
          <a:prstGeom prst="rect">
            <a:avLst/>
          </a:prstGeom>
        </p:spPr>
      </p:pic>
      <p:sp>
        <p:nvSpPr>
          <p:cNvPr id="7" name="Text 4"/>
          <p:cNvSpPr txBox="1"/>
          <p:nvPr/>
        </p:nvSpPr>
        <p:spPr>
          <a:xfrm>
            <a:off x="1371600" y="1618488"/>
            <a:ext cx="445770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Testing / Validation</a:t>
            </a:r>
            <a:endParaRPr lang="en-US" sz="1500" dirty="0"/>
          </a:p>
        </p:txBody>
      </p:sp>
      <p:sp>
        <p:nvSpPr>
          <p:cNvPr id="8" name="Text 5"/>
          <p:cNvSpPr txBox="1"/>
          <p:nvPr/>
        </p:nvSpPr>
        <p:spPr>
          <a:xfrm>
            <a:off x="804672" y="2240280"/>
            <a:ext cx="4960620" cy="1211580"/>
          </a:xfrm>
          <a:prstGeom prst="rect">
            <a:avLst/>
          </a:prstGeom>
          <a:noFill/>
          <a:ln/>
        </p:spPr>
        <p:txBody>
          <a:bodyPr wrap="square" lIns="0" tIns="0" rIns="0" bIns="0" rtlCol="0" anchor="t"/>
          <a:lstStyle/>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Functional behaviour checking</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Responsive UI testing</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Form validation</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API behaviour checking</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Browser-based testing</a:t>
            </a:r>
            <a:endParaRPr lang="en-US" sz="1100" dirty="0"/>
          </a:p>
        </p:txBody>
      </p:sp>
      <p:sp>
        <p:nvSpPr>
          <p:cNvPr id="9" name="Shape 6"/>
          <p:cNvSpPr/>
          <p:nvPr/>
        </p:nvSpPr>
        <p:spPr>
          <a:xfrm>
            <a:off x="6195060" y="1417320"/>
            <a:ext cx="5417820" cy="2171700"/>
          </a:xfrm>
          <a:prstGeom prst="roundRect">
            <a:avLst>
              <a:gd name="adj" fmla="val 378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0" name="Shape 7"/>
          <p:cNvSpPr/>
          <p:nvPr/>
        </p:nvSpPr>
        <p:spPr>
          <a:xfrm>
            <a:off x="6396228" y="1600200"/>
            <a:ext cx="512064" cy="512064"/>
          </a:xfrm>
          <a:prstGeom prst="ellipse">
            <a:avLst/>
          </a:prstGeom>
          <a:solidFill>
            <a:srgbClr val="EAF0FB"/>
          </a:solidFill>
          <a:ln/>
        </p:spPr>
      </p:sp>
      <p:pic>
        <p:nvPicPr>
          <p:cNvPr id="11" name="Image 1" descr="/home/claude/pptx_build/icons/bug.png"/>
          <p:cNvPicPr>
            <a:picLocks noChangeAspect="1"/>
          </p:cNvPicPr>
          <p:nvPr/>
        </p:nvPicPr>
        <p:blipFill>
          <a:blip r:embed="rId4"/>
          <a:stretch>
            <a:fillRect/>
          </a:stretch>
        </p:blipFill>
        <p:spPr>
          <a:xfrm>
            <a:off x="6508882" y="1712854"/>
            <a:ext cx="286756" cy="286756"/>
          </a:xfrm>
          <a:prstGeom prst="rect">
            <a:avLst/>
          </a:prstGeom>
        </p:spPr>
      </p:pic>
      <p:sp>
        <p:nvSpPr>
          <p:cNvPr id="12" name="Text 8"/>
          <p:cNvSpPr txBox="1"/>
          <p:nvPr/>
        </p:nvSpPr>
        <p:spPr>
          <a:xfrm>
            <a:off x="7018020" y="1618488"/>
            <a:ext cx="445770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Debugging</a:t>
            </a:r>
            <a:endParaRPr lang="en-US" sz="1500" dirty="0"/>
          </a:p>
        </p:txBody>
      </p:sp>
      <p:sp>
        <p:nvSpPr>
          <p:cNvPr id="13" name="Text 9"/>
          <p:cNvSpPr txBox="1"/>
          <p:nvPr/>
        </p:nvSpPr>
        <p:spPr>
          <a:xfrm>
            <a:off x="6451092" y="2240280"/>
            <a:ext cx="4960620" cy="1211580"/>
          </a:xfrm>
          <a:prstGeom prst="rect">
            <a:avLst/>
          </a:prstGeom>
          <a:noFill/>
          <a:ln/>
        </p:spPr>
        <p:txBody>
          <a:bodyPr wrap="square" lIns="0" tIns="0" rIns="0" bIns="0" rtlCol="0" anchor="t"/>
          <a:lstStyle/>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UI &amp; layout issues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JavaScript logic issues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Responsive layout issues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API integration issues</a:t>
            </a:r>
            <a:endParaRPr lang="en-US" sz="1100" dirty="0"/>
          </a:p>
        </p:txBody>
      </p:sp>
      <p:sp>
        <p:nvSpPr>
          <p:cNvPr id="14" name="Shape 10"/>
          <p:cNvSpPr/>
          <p:nvPr/>
        </p:nvSpPr>
        <p:spPr>
          <a:xfrm>
            <a:off x="548640" y="3817620"/>
            <a:ext cx="5417820" cy="2171700"/>
          </a:xfrm>
          <a:prstGeom prst="roundRect">
            <a:avLst>
              <a:gd name="adj" fmla="val 378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5" name="Shape 11"/>
          <p:cNvSpPr/>
          <p:nvPr/>
        </p:nvSpPr>
        <p:spPr>
          <a:xfrm>
            <a:off x="749808" y="4000500"/>
            <a:ext cx="512064" cy="512064"/>
          </a:xfrm>
          <a:prstGeom prst="ellipse">
            <a:avLst/>
          </a:prstGeom>
          <a:solidFill>
            <a:srgbClr val="EAF0FB"/>
          </a:solidFill>
          <a:ln/>
        </p:spPr>
      </p:sp>
      <p:pic>
        <p:nvPicPr>
          <p:cNvPr id="16" name="Image 2" descr="/home/claude/pptx_build/icons/accessibility.png"/>
          <p:cNvPicPr>
            <a:picLocks noChangeAspect="1"/>
          </p:cNvPicPr>
          <p:nvPr/>
        </p:nvPicPr>
        <p:blipFill>
          <a:blip r:embed="rId5"/>
          <a:stretch>
            <a:fillRect/>
          </a:stretch>
        </p:blipFill>
        <p:spPr>
          <a:xfrm>
            <a:off x="862462" y="4113154"/>
            <a:ext cx="286756" cy="286756"/>
          </a:xfrm>
          <a:prstGeom prst="rect">
            <a:avLst/>
          </a:prstGeom>
        </p:spPr>
      </p:pic>
      <p:sp>
        <p:nvSpPr>
          <p:cNvPr id="17" name="Text 12"/>
          <p:cNvSpPr txBox="1"/>
          <p:nvPr/>
        </p:nvSpPr>
        <p:spPr>
          <a:xfrm>
            <a:off x="1371600" y="4018788"/>
            <a:ext cx="445770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Accessibility</a:t>
            </a:r>
            <a:endParaRPr lang="en-US" sz="1500" dirty="0"/>
          </a:p>
        </p:txBody>
      </p:sp>
      <p:sp>
        <p:nvSpPr>
          <p:cNvPr id="18" name="Text 13"/>
          <p:cNvSpPr txBox="1"/>
          <p:nvPr/>
        </p:nvSpPr>
        <p:spPr>
          <a:xfrm>
            <a:off x="804672" y="4640580"/>
            <a:ext cx="4960620" cy="1211580"/>
          </a:xfrm>
          <a:prstGeom prst="rect">
            <a:avLst/>
          </a:prstGeom>
          <a:noFill/>
          <a:ln/>
        </p:spPr>
        <p:txBody>
          <a:bodyPr wrap="square" lIns="0" tIns="0" rIns="0" bIns="0" rtlCol="0" anchor="t"/>
          <a:lstStyle/>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Semantic HTML</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ARIA attributes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Keyboard interaction</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Focus-visible states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Live announcements (where implemented)</a:t>
            </a:r>
            <a:endParaRPr lang="en-US" sz="1100" dirty="0"/>
          </a:p>
        </p:txBody>
      </p:sp>
      <p:sp>
        <p:nvSpPr>
          <p:cNvPr id="19" name="Shape 14"/>
          <p:cNvSpPr/>
          <p:nvPr/>
        </p:nvSpPr>
        <p:spPr>
          <a:xfrm>
            <a:off x="6195060" y="3817620"/>
            <a:ext cx="5417820" cy="2171700"/>
          </a:xfrm>
          <a:prstGeom prst="roundRect">
            <a:avLst>
              <a:gd name="adj" fmla="val 3789"/>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0" name="Shape 15"/>
          <p:cNvSpPr/>
          <p:nvPr/>
        </p:nvSpPr>
        <p:spPr>
          <a:xfrm>
            <a:off x="6396228" y="4000500"/>
            <a:ext cx="512064" cy="512064"/>
          </a:xfrm>
          <a:prstGeom prst="ellipse">
            <a:avLst/>
          </a:prstGeom>
          <a:solidFill>
            <a:srgbClr val="EAF0FB"/>
          </a:solidFill>
          <a:ln/>
        </p:spPr>
      </p:sp>
      <p:pic>
        <p:nvPicPr>
          <p:cNvPr id="21" name="Image 3" descr="/home/claude/pptx_build/icons/responsive.png"/>
          <p:cNvPicPr>
            <a:picLocks noChangeAspect="1"/>
          </p:cNvPicPr>
          <p:nvPr/>
        </p:nvPicPr>
        <p:blipFill>
          <a:blip r:embed="rId6"/>
          <a:stretch>
            <a:fillRect/>
          </a:stretch>
        </p:blipFill>
        <p:spPr>
          <a:xfrm>
            <a:off x="6508882" y="4113154"/>
            <a:ext cx="286756" cy="286756"/>
          </a:xfrm>
          <a:prstGeom prst="rect">
            <a:avLst/>
          </a:prstGeom>
        </p:spPr>
      </p:pic>
      <p:sp>
        <p:nvSpPr>
          <p:cNvPr id="22" name="Text 16"/>
          <p:cNvSpPr txBox="1"/>
          <p:nvPr/>
        </p:nvSpPr>
        <p:spPr>
          <a:xfrm>
            <a:off x="7018020" y="4018788"/>
            <a:ext cx="4457700" cy="457200"/>
          </a:xfrm>
          <a:prstGeom prst="rect">
            <a:avLst/>
          </a:prstGeom>
          <a:noFill/>
          <a:ln/>
        </p:spPr>
        <p:txBody>
          <a:bodyPr wrap="square" lIns="0" tIns="0" rIns="0" bIns="0" rtlCol="0" anchor="ctr"/>
          <a:lstStyle/>
          <a:p>
            <a:pPr marL="0" indent="0">
              <a:buNone/>
            </a:pPr>
            <a:r>
              <a:rPr lang="en-US" sz="1500" b="1" dirty="0">
                <a:solidFill>
                  <a:srgbClr val="1F3A5F"/>
                </a:solidFill>
                <a:latin typeface="Cambria" pitchFamily="34" charset="0"/>
                <a:ea typeface="Cambria" pitchFamily="34" charset="-122"/>
                <a:cs typeface="Cambria" pitchFamily="34" charset="-120"/>
              </a:rPr>
              <a:t>Responsive Design</a:t>
            </a:r>
            <a:endParaRPr lang="en-US" sz="1500" dirty="0"/>
          </a:p>
        </p:txBody>
      </p:sp>
      <p:sp>
        <p:nvSpPr>
          <p:cNvPr id="23" name="Text 17"/>
          <p:cNvSpPr txBox="1"/>
          <p:nvPr/>
        </p:nvSpPr>
        <p:spPr>
          <a:xfrm>
            <a:off x="6451092" y="4640580"/>
            <a:ext cx="4960620" cy="1211580"/>
          </a:xfrm>
          <a:prstGeom prst="rect">
            <a:avLst/>
          </a:prstGeom>
          <a:noFill/>
          <a:ln/>
        </p:spPr>
        <p:txBody>
          <a:bodyPr wrap="square" lIns="0" tIns="0" rIns="0" bIns="0" rtlCol="0" anchor="t"/>
          <a:lstStyle/>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Mobile, tablet, desktop layouts</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Flexible CSS Grid / Flexbox</a:t>
            </a:r>
            <a:endParaRPr lang="en-US" sz="1100" dirty="0"/>
          </a:p>
          <a:p>
            <a:pPr marL="0" indent="0">
              <a:lnSpc>
                <a:spcPct val="130000"/>
              </a:lnSpc>
              <a:buNone/>
            </a:pPr>
            <a:r>
              <a:rPr lang="en-US" sz="1100" dirty="0">
                <a:solidFill>
                  <a:srgbClr val="222B3A"/>
                </a:solidFill>
                <a:latin typeface="Calibri" pitchFamily="34" charset="0"/>
                <a:ea typeface="Calibri" pitchFamily="34" charset="-122"/>
                <a:cs typeface="Calibri" pitchFamily="34" charset="-120"/>
              </a:rPr>
              <a:t>•  Media queries</a:t>
            </a:r>
            <a:endParaRPr lang="en-US" sz="1100" dirty="0"/>
          </a:p>
        </p:txBody>
      </p:sp>
      <p:sp>
        <p:nvSpPr>
          <p:cNvPr id="24" name="Text 18"/>
          <p:cNvSpPr txBox="1"/>
          <p:nvPr/>
        </p:nvSpPr>
        <p:spPr>
          <a:xfrm>
            <a:off x="548640" y="6108192"/>
            <a:ext cx="11064240" cy="320040"/>
          </a:xfrm>
          <a:prstGeom prst="rect">
            <a:avLst/>
          </a:prstGeom>
          <a:noFill/>
          <a:ln/>
        </p:spPr>
        <p:txBody>
          <a:bodyPr wrap="square" lIns="0" tIns="0" rIns="0" bIns="0" rtlCol="0" anchor="ctr"/>
          <a:lstStyle/>
          <a:p>
            <a:pPr marL="0" indent="0" algn="ctr">
              <a:buNone/>
            </a:pPr>
            <a:r>
              <a:rPr lang="en-US" sz="1050" i="1" dirty="0">
                <a:solidFill>
                  <a:srgbClr val="667085"/>
                </a:solidFill>
                <a:latin typeface="Calibri" pitchFamily="34" charset="0"/>
                <a:ea typeface="Calibri" pitchFamily="34" charset="-122"/>
                <a:cs typeface="Calibri" pitchFamily="34" charset="-120"/>
              </a:rPr>
              <a:t>No fabricated test counts, coverage percentages, bug counts or performance benchmarks are claimed — all testing was manual and browser-based.</a:t>
            </a:r>
            <a:endParaRPr lang="en-US" sz="1050" dirty="0"/>
          </a:p>
        </p:txBody>
      </p:sp>
      <p:sp>
        <p:nvSpPr>
          <p:cNvPr id="25" name="Text 1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26" name="Text 2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WORKFLOW</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Git, GitHub &amp; Documentation</a:t>
            </a:r>
            <a:endParaRPr lang="en-US" sz="3000" dirty="0"/>
          </a:p>
        </p:txBody>
      </p:sp>
      <p:sp>
        <p:nvSpPr>
          <p:cNvPr id="4" name="Shape 2"/>
          <p:cNvSpPr/>
          <p:nvPr/>
        </p:nvSpPr>
        <p:spPr>
          <a:xfrm>
            <a:off x="586588" y="1417320"/>
            <a:ext cx="3520440" cy="1371600"/>
          </a:xfrm>
          <a:prstGeom prst="roundRect">
            <a:avLst>
              <a:gd name="adj" fmla="val 6000"/>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879196" y="1801368"/>
            <a:ext cx="603504" cy="603504"/>
          </a:xfrm>
          <a:prstGeom prst="ellipse">
            <a:avLst/>
          </a:prstGeom>
          <a:solidFill>
            <a:srgbClr val="EAF0FB"/>
          </a:solidFill>
          <a:ln/>
        </p:spPr>
      </p:sp>
      <p:pic>
        <p:nvPicPr>
          <p:cNvPr id="6" name="Image 0" descr="/home/claude/pptx_build/icons/vscode.png"/>
          <p:cNvPicPr>
            <a:picLocks noChangeAspect="1"/>
          </p:cNvPicPr>
          <p:nvPr/>
        </p:nvPicPr>
        <p:blipFill>
          <a:blip r:embed="rId3"/>
          <a:stretch>
            <a:fillRect/>
          </a:stretch>
        </p:blipFill>
        <p:spPr>
          <a:xfrm>
            <a:off x="1011966" y="1934139"/>
            <a:ext cx="337962" cy="337962"/>
          </a:xfrm>
          <a:prstGeom prst="rect">
            <a:avLst/>
          </a:prstGeom>
        </p:spPr>
      </p:pic>
      <p:sp>
        <p:nvSpPr>
          <p:cNvPr id="7" name="Text 4"/>
          <p:cNvSpPr txBox="1"/>
          <p:nvPr/>
        </p:nvSpPr>
        <p:spPr>
          <a:xfrm>
            <a:off x="1638148" y="1600200"/>
            <a:ext cx="2331720" cy="365760"/>
          </a:xfrm>
          <a:prstGeom prst="rect">
            <a:avLst/>
          </a:prstGeom>
          <a:noFill/>
          <a:ln/>
        </p:spPr>
        <p:txBody>
          <a:bodyPr wrap="square" lIns="0" tIns="0" rIns="0" bIns="0" rtlCol="0" anchor="t"/>
          <a:lstStyle/>
          <a:p>
            <a:pPr marL="0" indent="0">
              <a:buNone/>
            </a:pPr>
            <a:r>
              <a:rPr lang="en-US" sz="1350" b="1" dirty="0">
                <a:solidFill>
                  <a:srgbClr val="1F3A5F"/>
                </a:solidFill>
                <a:latin typeface="Cambria" pitchFamily="34" charset="0"/>
                <a:ea typeface="Cambria" pitchFamily="34" charset="-122"/>
                <a:cs typeface="Cambria" pitchFamily="34" charset="-120"/>
              </a:rPr>
              <a:t>Visual Studio Code</a:t>
            </a:r>
            <a:endParaRPr lang="en-US" sz="1350" dirty="0"/>
          </a:p>
        </p:txBody>
      </p:sp>
      <p:sp>
        <p:nvSpPr>
          <p:cNvPr id="8" name="Text 5"/>
          <p:cNvSpPr txBox="1"/>
          <p:nvPr/>
        </p:nvSpPr>
        <p:spPr>
          <a:xfrm>
            <a:off x="1638148" y="1965960"/>
            <a:ext cx="2331720" cy="731520"/>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Writing, editing and debugging all five applications</a:t>
            </a:r>
            <a:endParaRPr lang="en-US" sz="1050" dirty="0"/>
          </a:p>
        </p:txBody>
      </p:sp>
      <p:sp>
        <p:nvSpPr>
          <p:cNvPr id="9" name="Shape 6"/>
          <p:cNvSpPr/>
          <p:nvPr/>
        </p:nvSpPr>
        <p:spPr>
          <a:xfrm>
            <a:off x="4335628" y="1417320"/>
            <a:ext cx="3520440" cy="1371600"/>
          </a:xfrm>
          <a:prstGeom prst="roundRect">
            <a:avLst>
              <a:gd name="adj" fmla="val 6000"/>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0" name="Shape 7"/>
          <p:cNvSpPr/>
          <p:nvPr/>
        </p:nvSpPr>
        <p:spPr>
          <a:xfrm>
            <a:off x="4628236" y="1801368"/>
            <a:ext cx="603504" cy="603504"/>
          </a:xfrm>
          <a:prstGeom prst="ellipse">
            <a:avLst/>
          </a:prstGeom>
          <a:solidFill>
            <a:srgbClr val="EAF0FB"/>
          </a:solidFill>
          <a:ln/>
        </p:spPr>
      </p:sp>
      <p:pic>
        <p:nvPicPr>
          <p:cNvPr id="11" name="Image 1" descr="/home/claude/pptx_build/icons/git.png"/>
          <p:cNvPicPr>
            <a:picLocks noChangeAspect="1"/>
          </p:cNvPicPr>
          <p:nvPr/>
        </p:nvPicPr>
        <p:blipFill>
          <a:blip r:embed="rId4"/>
          <a:stretch>
            <a:fillRect/>
          </a:stretch>
        </p:blipFill>
        <p:spPr>
          <a:xfrm>
            <a:off x="4761006" y="1934139"/>
            <a:ext cx="337962" cy="337962"/>
          </a:xfrm>
          <a:prstGeom prst="rect">
            <a:avLst/>
          </a:prstGeom>
        </p:spPr>
      </p:pic>
      <p:sp>
        <p:nvSpPr>
          <p:cNvPr id="12" name="Text 8"/>
          <p:cNvSpPr txBox="1"/>
          <p:nvPr/>
        </p:nvSpPr>
        <p:spPr>
          <a:xfrm>
            <a:off x="5387188" y="1600200"/>
            <a:ext cx="2331720" cy="365760"/>
          </a:xfrm>
          <a:prstGeom prst="rect">
            <a:avLst/>
          </a:prstGeom>
          <a:noFill/>
          <a:ln/>
        </p:spPr>
        <p:txBody>
          <a:bodyPr wrap="square" lIns="0" tIns="0" rIns="0" bIns="0" rtlCol="0" anchor="t"/>
          <a:lstStyle/>
          <a:p>
            <a:pPr marL="0" indent="0">
              <a:buNone/>
            </a:pPr>
            <a:r>
              <a:rPr lang="en-US" sz="1350" b="1" dirty="0">
                <a:solidFill>
                  <a:srgbClr val="1F3A5F"/>
                </a:solidFill>
                <a:latin typeface="Cambria" pitchFamily="34" charset="0"/>
                <a:ea typeface="Cambria" pitchFamily="34" charset="-122"/>
                <a:cs typeface="Cambria" pitchFamily="34" charset="-120"/>
              </a:rPr>
              <a:t>Git</a:t>
            </a:r>
            <a:endParaRPr lang="en-US" sz="1350" dirty="0"/>
          </a:p>
        </p:txBody>
      </p:sp>
      <p:sp>
        <p:nvSpPr>
          <p:cNvPr id="13" name="Text 9"/>
          <p:cNvSpPr txBox="1"/>
          <p:nvPr/>
        </p:nvSpPr>
        <p:spPr>
          <a:xfrm>
            <a:off x="5387188" y="1965960"/>
            <a:ext cx="2331720" cy="731520"/>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Tracking changes to project files during development</a:t>
            </a:r>
            <a:endParaRPr lang="en-US" sz="1050" dirty="0"/>
          </a:p>
        </p:txBody>
      </p:sp>
      <p:sp>
        <p:nvSpPr>
          <p:cNvPr id="14" name="Shape 10"/>
          <p:cNvSpPr/>
          <p:nvPr/>
        </p:nvSpPr>
        <p:spPr>
          <a:xfrm>
            <a:off x="8084668" y="1417320"/>
            <a:ext cx="3520440" cy="1371600"/>
          </a:xfrm>
          <a:prstGeom prst="roundRect">
            <a:avLst>
              <a:gd name="adj" fmla="val 6000"/>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5" name="Shape 11"/>
          <p:cNvSpPr/>
          <p:nvPr/>
        </p:nvSpPr>
        <p:spPr>
          <a:xfrm>
            <a:off x="8377276" y="1801368"/>
            <a:ext cx="603504" cy="603504"/>
          </a:xfrm>
          <a:prstGeom prst="ellipse">
            <a:avLst/>
          </a:prstGeom>
          <a:solidFill>
            <a:srgbClr val="EAF0FB"/>
          </a:solidFill>
          <a:ln/>
        </p:spPr>
      </p:sp>
      <p:pic>
        <p:nvPicPr>
          <p:cNvPr id="16" name="Image 2" descr="/home/claude/pptx_build/icons/filetext.png"/>
          <p:cNvPicPr>
            <a:picLocks noChangeAspect="1"/>
          </p:cNvPicPr>
          <p:nvPr/>
        </p:nvPicPr>
        <p:blipFill>
          <a:blip r:embed="rId5"/>
          <a:stretch>
            <a:fillRect/>
          </a:stretch>
        </p:blipFill>
        <p:spPr>
          <a:xfrm>
            <a:off x="8510046" y="1934139"/>
            <a:ext cx="337962" cy="337962"/>
          </a:xfrm>
          <a:prstGeom prst="rect">
            <a:avLst/>
          </a:prstGeom>
        </p:spPr>
      </p:pic>
      <p:sp>
        <p:nvSpPr>
          <p:cNvPr id="17" name="Text 12"/>
          <p:cNvSpPr txBox="1"/>
          <p:nvPr/>
        </p:nvSpPr>
        <p:spPr>
          <a:xfrm>
            <a:off x="9136228" y="1600200"/>
            <a:ext cx="2331720" cy="365760"/>
          </a:xfrm>
          <a:prstGeom prst="rect">
            <a:avLst/>
          </a:prstGeom>
          <a:noFill/>
          <a:ln/>
        </p:spPr>
        <p:txBody>
          <a:bodyPr wrap="square" lIns="0" tIns="0" rIns="0" bIns="0" rtlCol="0" anchor="t"/>
          <a:lstStyle/>
          <a:p>
            <a:pPr marL="0" indent="0">
              <a:buNone/>
            </a:pPr>
            <a:r>
              <a:rPr lang="en-US" sz="1350" b="1" dirty="0">
                <a:solidFill>
                  <a:srgbClr val="1F3A5F"/>
                </a:solidFill>
                <a:latin typeface="Cambria" pitchFamily="34" charset="0"/>
                <a:ea typeface="Cambria" pitchFamily="34" charset="-122"/>
                <a:cs typeface="Cambria" pitchFamily="34" charset="-120"/>
              </a:rPr>
              <a:t>README / Documentation</a:t>
            </a:r>
            <a:endParaRPr lang="en-US" sz="1350" dirty="0"/>
          </a:p>
        </p:txBody>
      </p:sp>
      <p:sp>
        <p:nvSpPr>
          <p:cNvPr id="18" name="Text 13"/>
          <p:cNvSpPr txBox="1"/>
          <p:nvPr/>
        </p:nvSpPr>
        <p:spPr>
          <a:xfrm>
            <a:off x="9136228" y="1965960"/>
            <a:ext cx="2331720" cy="731520"/>
          </a:xfrm>
          <a:prstGeom prst="rect">
            <a:avLst/>
          </a:prstGeom>
          <a:noFill/>
          <a:ln/>
        </p:spPr>
        <p:txBody>
          <a:bodyPr wrap="square" lIns="0" tIns="0" rIns="0" bIns="0" rtlCol="0" anchor="t"/>
          <a:lstStyle/>
          <a:p>
            <a:pPr marL="0" indent="0">
              <a:buNone/>
            </a:pPr>
            <a:r>
              <a:rPr lang="en-US" sz="1050" dirty="0">
                <a:solidFill>
                  <a:srgbClr val="667085"/>
                </a:solidFill>
                <a:latin typeface="Calibri" pitchFamily="34" charset="0"/>
                <a:ea typeface="Calibri" pitchFamily="34" charset="-122"/>
                <a:cs typeface="Calibri" pitchFamily="34" charset="-120"/>
              </a:rPr>
              <a:t>Code comments and per-task documentation</a:t>
            </a:r>
            <a:endParaRPr lang="en-US" sz="1050" dirty="0"/>
          </a:p>
        </p:txBody>
      </p:sp>
      <p:sp>
        <p:nvSpPr>
          <p:cNvPr id="19" name="Text 14"/>
          <p:cNvSpPr txBox="1"/>
          <p:nvPr/>
        </p:nvSpPr>
        <p:spPr>
          <a:xfrm>
            <a:off x="548640" y="3108960"/>
            <a:ext cx="11064240" cy="320040"/>
          </a:xfrm>
          <a:prstGeom prst="rect">
            <a:avLst/>
          </a:prstGeom>
          <a:noFill/>
          <a:ln/>
        </p:spPr>
        <p:txBody>
          <a:bodyPr wrap="square" lIns="0" tIns="0" rIns="0" bIns="0" rtlCol="0" anchor="ctr"/>
          <a:lstStyle/>
          <a:p>
            <a:pPr marL="0" indent="0">
              <a:buNone/>
            </a:pPr>
            <a:r>
              <a:rPr lang="en-US" sz="1400" b="1" dirty="0">
                <a:solidFill>
                  <a:srgbClr val="222B3A"/>
                </a:solidFill>
                <a:latin typeface="Calibri" pitchFamily="34" charset="0"/>
                <a:ea typeface="Calibri" pitchFamily="34" charset="-122"/>
                <a:cs typeface="Calibri" pitchFamily="34" charset="-120"/>
              </a:rPr>
              <a:t>Official Project Repositories (GitHub)</a:t>
            </a:r>
            <a:endParaRPr lang="en-US" sz="1400" dirty="0"/>
          </a:p>
        </p:txBody>
      </p:sp>
      <p:sp>
        <p:nvSpPr>
          <p:cNvPr id="20" name="Shape 15"/>
          <p:cNvSpPr/>
          <p:nvPr/>
        </p:nvSpPr>
        <p:spPr>
          <a:xfrm>
            <a:off x="548640" y="3456432"/>
            <a:ext cx="11064240" cy="502920"/>
          </a:xfrm>
          <a:prstGeom prst="roundRect">
            <a:avLst>
              <a:gd name="adj" fmla="val 16364"/>
            </a:avLst>
          </a:prstGeom>
          <a:solidFill>
            <a:srgbClr val="FFFFFF"/>
          </a:solidFill>
          <a:ln w="12700">
            <a:solidFill>
              <a:srgbClr val="DCE3EE"/>
            </a:solidFill>
            <a:prstDash val="solid"/>
          </a:ln>
        </p:spPr>
      </p:sp>
      <p:sp>
        <p:nvSpPr>
          <p:cNvPr id="21" name="Shape 16"/>
          <p:cNvSpPr/>
          <p:nvPr/>
        </p:nvSpPr>
        <p:spPr>
          <a:xfrm>
            <a:off x="685800" y="3538728"/>
            <a:ext cx="1051560" cy="338328"/>
          </a:xfrm>
          <a:prstGeom prst="roundRect">
            <a:avLst>
              <a:gd name="adj" fmla="val 16216"/>
            </a:avLst>
          </a:prstGeom>
          <a:solidFill>
            <a:srgbClr val="1F3A5F"/>
          </a:solidFill>
          <a:ln/>
        </p:spPr>
      </p:sp>
      <p:sp>
        <p:nvSpPr>
          <p:cNvPr id="22" name="Text 17"/>
          <p:cNvSpPr txBox="1"/>
          <p:nvPr/>
        </p:nvSpPr>
        <p:spPr>
          <a:xfrm>
            <a:off x="685800" y="3538728"/>
            <a:ext cx="105156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01</a:t>
            </a:r>
            <a:endParaRPr lang="en-US" sz="1100" dirty="0"/>
          </a:p>
        </p:txBody>
      </p:sp>
      <p:sp>
        <p:nvSpPr>
          <p:cNvPr id="23" name="Shape 18"/>
          <p:cNvSpPr/>
          <p:nvPr/>
        </p:nvSpPr>
        <p:spPr>
          <a:xfrm>
            <a:off x="2185416" y="3561588"/>
            <a:ext cx="292608" cy="292608"/>
          </a:xfrm>
          <a:prstGeom prst="ellipse">
            <a:avLst/>
          </a:prstGeom>
          <a:solidFill>
            <a:srgbClr val="EAF0FB"/>
          </a:solidFill>
          <a:ln/>
        </p:spPr>
      </p:sp>
      <p:pic>
        <p:nvPicPr>
          <p:cNvPr id="24" name="Image 3" descr="/home/claude/pptx_build/icons/github.png"/>
          <p:cNvPicPr>
            <a:picLocks noChangeAspect="1"/>
          </p:cNvPicPr>
          <p:nvPr/>
        </p:nvPicPr>
        <p:blipFill>
          <a:blip r:embed="rId6"/>
          <a:stretch>
            <a:fillRect/>
          </a:stretch>
        </p:blipFill>
        <p:spPr>
          <a:xfrm>
            <a:off x="2241012" y="3617184"/>
            <a:ext cx="181417" cy="181417"/>
          </a:xfrm>
          <a:prstGeom prst="rect">
            <a:avLst/>
          </a:prstGeom>
        </p:spPr>
      </p:pic>
      <p:sp>
        <p:nvSpPr>
          <p:cNvPr id="25" name="Text 19">
            <a:hlinkClick r:id="rId7"/>
          </p:cNvPr>
          <p:cNvSpPr txBox="1"/>
          <p:nvPr/>
        </p:nvSpPr>
        <p:spPr>
          <a:xfrm>
            <a:off x="2606040" y="3456432"/>
            <a:ext cx="2743200" cy="502920"/>
          </a:xfrm>
          <a:prstGeom prst="rect">
            <a:avLst/>
          </a:prstGeom>
          <a:noFill/>
          <a:ln/>
        </p:spPr>
        <p:txBody>
          <a:bodyPr wrap="square" lIns="0" tIns="0" rIns="0" bIns="0" rtlCol="0" anchor="ctr"/>
          <a:lstStyle/>
          <a:p>
            <a:pPr marL="0" indent="0">
              <a:buNone/>
            </a:pPr>
            <a:r>
              <a:rPr lang="en-US" sz="1250" b="1" u="sng" dirty="0">
                <a:solidFill>
                  <a:srgbClr val="222B3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xmlns="" val="tx"/>
                    </a:ext>
                  </a:extLst>
                </a:hlinkClick>
              </a:rPr>
              <a:t>PRODIGY_WD_01</a:t>
            </a:r>
            <a:endParaRPr lang="en-US" sz="1250" dirty="0"/>
          </a:p>
        </p:txBody>
      </p:sp>
      <p:sp>
        <p:nvSpPr>
          <p:cNvPr id="26" name="Text 20">
            <a:hlinkClick r:id="rId7"/>
          </p:cNvPr>
          <p:cNvSpPr txBox="1"/>
          <p:nvPr/>
        </p:nvSpPr>
        <p:spPr>
          <a:xfrm>
            <a:off x="5486400" y="3456432"/>
            <a:ext cx="5943600" cy="502920"/>
          </a:xfrm>
          <a:prstGeom prst="rect">
            <a:avLst/>
          </a:prstGeom>
          <a:noFill/>
          <a:ln/>
        </p:spPr>
        <p:txBody>
          <a:bodyPr wrap="square" lIns="0" tIns="0" rIns="0" bIns="0" rtlCol="0" anchor="ctr"/>
          <a:lstStyle/>
          <a:p>
            <a:pPr marL="0" indent="0">
              <a:buNone/>
            </a:pPr>
            <a:r>
              <a:rPr lang="en-US" sz="1100" u="sng" dirty="0">
                <a:solidFill>
                  <a:srgbClr val="3B6FD4"/>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xmlns="" val="tx"/>
                    </a:ext>
                  </a:extLst>
                </a:hlinkClick>
              </a:rPr>
              <a:t>https://github.com/Roshanisingh01/PRODIGY_WD_01</a:t>
            </a:r>
            <a:endParaRPr lang="en-US" sz="1100" dirty="0"/>
          </a:p>
        </p:txBody>
      </p:sp>
      <p:sp>
        <p:nvSpPr>
          <p:cNvPr id="27" name="Shape 21"/>
          <p:cNvSpPr/>
          <p:nvPr/>
        </p:nvSpPr>
        <p:spPr>
          <a:xfrm>
            <a:off x="548640" y="4027932"/>
            <a:ext cx="11064240" cy="502920"/>
          </a:xfrm>
          <a:prstGeom prst="roundRect">
            <a:avLst>
              <a:gd name="adj" fmla="val 16364"/>
            </a:avLst>
          </a:prstGeom>
          <a:solidFill>
            <a:srgbClr val="FFFFFF"/>
          </a:solidFill>
          <a:ln w="12700">
            <a:solidFill>
              <a:srgbClr val="DCE3EE"/>
            </a:solidFill>
            <a:prstDash val="solid"/>
          </a:ln>
        </p:spPr>
      </p:sp>
      <p:sp>
        <p:nvSpPr>
          <p:cNvPr id="28" name="Shape 22"/>
          <p:cNvSpPr/>
          <p:nvPr/>
        </p:nvSpPr>
        <p:spPr>
          <a:xfrm>
            <a:off x="685800" y="4110228"/>
            <a:ext cx="1051560" cy="338328"/>
          </a:xfrm>
          <a:prstGeom prst="roundRect">
            <a:avLst>
              <a:gd name="adj" fmla="val 16216"/>
            </a:avLst>
          </a:prstGeom>
          <a:solidFill>
            <a:srgbClr val="1F3A5F"/>
          </a:solidFill>
          <a:ln/>
        </p:spPr>
      </p:sp>
      <p:sp>
        <p:nvSpPr>
          <p:cNvPr id="29" name="Text 23"/>
          <p:cNvSpPr txBox="1"/>
          <p:nvPr/>
        </p:nvSpPr>
        <p:spPr>
          <a:xfrm>
            <a:off x="685800" y="4110228"/>
            <a:ext cx="105156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02</a:t>
            </a:r>
            <a:endParaRPr lang="en-US" sz="1100" dirty="0"/>
          </a:p>
        </p:txBody>
      </p:sp>
      <p:sp>
        <p:nvSpPr>
          <p:cNvPr id="30" name="Shape 24"/>
          <p:cNvSpPr/>
          <p:nvPr/>
        </p:nvSpPr>
        <p:spPr>
          <a:xfrm>
            <a:off x="2185416" y="4133088"/>
            <a:ext cx="292608" cy="292608"/>
          </a:xfrm>
          <a:prstGeom prst="ellipse">
            <a:avLst/>
          </a:prstGeom>
          <a:solidFill>
            <a:srgbClr val="EAF0FB"/>
          </a:solidFill>
          <a:ln/>
        </p:spPr>
      </p:sp>
      <p:pic>
        <p:nvPicPr>
          <p:cNvPr id="31" name="Image 4" descr="/home/claude/pptx_build/icons/github.png"/>
          <p:cNvPicPr>
            <a:picLocks noChangeAspect="1"/>
          </p:cNvPicPr>
          <p:nvPr/>
        </p:nvPicPr>
        <p:blipFill>
          <a:blip r:embed="rId6"/>
          <a:stretch>
            <a:fillRect/>
          </a:stretch>
        </p:blipFill>
        <p:spPr>
          <a:xfrm>
            <a:off x="2241012" y="4188684"/>
            <a:ext cx="181417" cy="181417"/>
          </a:xfrm>
          <a:prstGeom prst="rect">
            <a:avLst/>
          </a:prstGeom>
        </p:spPr>
      </p:pic>
      <p:sp>
        <p:nvSpPr>
          <p:cNvPr id="32" name="Text 25">
            <a:hlinkClick r:id="rId8"/>
          </p:cNvPr>
          <p:cNvSpPr txBox="1"/>
          <p:nvPr/>
        </p:nvSpPr>
        <p:spPr>
          <a:xfrm>
            <a:off x="2606040" y="4027932"/>
            <a:ext cx="2743200" cy="502920"/>
          </a:xfrm>
          <a:prstGeom prst="rect">
            <a:avLst/>
          </a:prstGeom>
          <a:noFill/>
          <a:ln/>
        </p:spPr>
        <p:txBody>
          <a:bodyPr wrap="square" lIns="0" tIns="0" rIns="0" bIns="0" rtlCol="0" anchor="ctr"/>
          <a:lstStyle/>
          <a:p>
            <a:pPr marL="0" indent="0">
              <a:buNone/>
            </a:pPr>
            <a:r>
              <a:rPr lang="en-US" sz="1250" b="1" u="sng" dirty="0">
                <a:solidFill>
                  <a:srgbClr val="222B3A"/>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xmlns="" val="tx"/>
                    </a:ext>
                  </a:extLst>
                </a:hlinkClick>
              </a:rPr>
              <a:t>PRODIGY_WD_02</a:t>
            </a:r>
            <a:endParaRPr lang="en-US" sz="1250" dirty="0"/>
          </a:p>
        </p:txBody>
      </p:sp>
      <p:sp>
        <p:nvSpPr>
          <p:cNvPr id="33" name="Text 26">
            <a:hlinkClick r:id="rId8"/>
          </p:cNvPr>
          <p:cNvSpPr txBox="1"/>
          <p:nvPr/>
        </p:nvSpPr>
        <p:spPr>
          <a:xfrm>
            <a:off x="5486400" y="4027932"/>
            <a:ext cx="5943600" cy="502920"/>
          </a:xfrm>
          <a:prstGeom prst="rect">
            <a:avLst/>
          </a:prstGeom>
          <a:noFill/>
          <a:ln/>
        </p:spPr>
        <p:txBody>
          <a:bodyPr wrap="square" lIns="0" tIns="0" rIns="0" bIns="0" rtlCol="0" anchor="ctr"/>
          <a:lstStyle/>
          <a:p>
            <a:pPr marL="0" indent="0">
              <a:buNone/>
            </a:pPr>
            <a:r>
              <a:rPr lang="en-US" sz="1100" u="sng" dirty="0">
                <a:solidFill>
                  <a:srgbClr val="3B6FD4"/>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xmlns="" val="tx"/>
                    </a:ext>
                  </a:extLst>
                </a:hlinkClick>
              </a:rPr>
              <a:t>https://github.com/Roshanisingh01/PRODIGY_WD_02</a:t>
            </a:r>
            <a:endParaRPr lang="en-US" sz="1100" dirty="0"/>
          </a:p>
        </p:txBody>
      </p:sp>
      <p:sp>
        <p:nvSpPr>
          <p:cNvPr id="34" name="Shape 27"/>
          <p:cNvSpPr/>
          <p:nvPr/>
        </p:nvSpPr>
        <p:spPr>
          <a:xfrm>
            <a:off x="548640" y="4599432"/>
            <a:ext cx="11064240" cy="502920"/>
          </a:xfrm>
          <a:prstGeom prst="roundRect">
            <a:avLst>
              <a:gd name="adj" fmla="val 16364"/>
            </a:avLst>
          </a:prstGeom>
          <a:solidFill>
            <a:srgbClr val="FFFFFF"/>
          </a:solidFill>
          <a:ln w="12700">
            <a:solidFill>
              <a:srgbClr val="DCE3EE"/>
            </a:solidFill>
            <a:prstDash val="solid"/>
          </a:ln>
        </p:spPr>
      </p:sp>
      <p:sp>
        <p:nvSpPr>
          <p:cNvPr id="35" name="Shape 28"/>
          <p:cNvSpPr/>
          <p:nvPr/>
        </p:nvSpPr>
        <p:spPr>
          <a:xfrm>
            <a:off x="685800" y="4681728"/>
            <a:ext cx="1051560" cy="338328"/>
          </a:xfrm>
          <a:prstGeom prst="roundRect">
            <a:avLst>
              <a:gd name="adj" fmla="val 16216"/>
            </a:avLst>
          </a:prstGeom>
          <a:solidFill>
            <a:srgbClr val="1F3A5F"/>
          </a:solidFill>
          <a:ln/>
        </p:spPr>
      </p:sp>
      <p:sp>
        <p:nvSpPr>
          <p:cNvPr id="36" name="Text 29"/>
          <p:cNvSpPr txBox="1"/>
          <p:nvPr/>
        </p:nvSpPr>
        <p:spPr>
          <a:xfrm>
            <a:off x="685800" y="4681728"/>
            <a:ext cx="105156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03</a:t>
            </a:r>
            <a:endParaRPr lang="en-US" sz="1100" dirty="0"/>
          </a:p>
        </p:txBody>
      </p:sp>
      <p:sp>
        <p:nvSpPr>
          <p:cNvPr id="37" name="Shape 30"/>
          <p:cNvSpPr/>
          <p:nvPr/>
        </p:nvSpPr>
        <p:spPr>
          <a:xfrm>
            <a:off x="2185416" y="4704588"/>
            <a:ext cx="292608" cy="292608"/>
          </a:xfrm>
          <a:prstGeom prst="ellipse">
            <a:avLst/>
          </a:prstGeom>
          <a:solidFill>
            <a:srgbClr val="EAF0FB"/>
          </a:solidFill>
          <a:ln/>
        </p:spPr>
      </p:sp>
      <p:pic>
        <p:nvPicPr>
          <p:cNvPr id="38" name="Image 5" descr="/home/claude/pptx_build/icons/github.png"/>
          <p:cNvPicPr>
            <a:picLocks noChangeAspect="1"/>
          </p:cNvPicPr>
          <p:nvPr/>
        </p:nvPicPr>
        <p:blipFill>
          <a:blip r:embed="rId6"/>
          <a:stretch>
            <a:fillRect/>
          </a:stretch>
        </p:blipFill>
        <p:spPr>
          <a:xfrm>
            <a:off x="2241012" y="4760184"/>
            <a:ext cx="181417" cy="181417"/>
          </a:xfrm>
          <a:prstGeom prst="rect">
            <a:avLst/>
          </a:prstGeom>
        </p:spPr>
      </p:pic>
      <p:sp>
        <p:nvSpPr>
          <p:cNvPr id="39" name="Text 31">
            <a:hlinkClick r:id="rId9"/>
          </p:cNvPr>
          <p:cNvSpPr txBox="1"/>
          <p:nvPr/>
        </p:nvSpPr>
        <p:spPr>
          <a:xfrm>
            <a:off x="2606040" y="4599432"/>
            <a:ext cx="2743200" cy="502920"/>
          </a:xfrm>
          <a:prstGeom prst="rect">
            <a:avLst/>
          </a:prstGeom>
          <a:noFill/>
          <a:ln/>
        </p:spPr>
        <p:txBody>
          <a:bodyPr wrap="square" lIns="0" tIns="0" rIns="0" bIns="0" rtlCol="0" anchor="ctr"/>
          <a:lstStyle/>
          <a:p>
            <a:pPr marL="0" indent="0">
              <a:buNone/>
            </a:pPr>
            <a:r>
              <a:rPr lang="en-US" sz="1250" b="1" u="sng" dirty="0">
                <a:solidFill>
                  <a:srgbClr val="222B3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xmlns="" val="tx"/>
                    </a:ext>
                  </a:extLst>
                </a:hlinkClick>
              </a:rPr>
              <a:t>PRODIGY_WD_03</a:t>
            </a:r>
            <a:endParaRPr lang="en-US" sz="1250" dirty="0"/>
          </a:p>
        </p:txBody>
      </p:sp>
      <p:sp>
        <p:nvSpPr>
          <p:cNvPr id="40" name="Text 32">
            <a:hlinkClick r:id="rId9"/>
          </p:cNvPr>
          <p:cNvSpPr txBox="1"/>
          <p:nvPr/>
        </p:nvSpPr>
        <p:spPr>
          <a:xfrm>
            <a:off x="5486400" y="4599432"/>
            <a:ext cx="5943600" cy="502920"/>
          </a:xfrm>
          <a:prstGeom prst="rect">
            <a:avLst/>
          </a:prstGeom>
          <a:noFill/>
          <a:ln/>
        </p:spPr>
        <p:txBody>
          <a:bodyPr wrap="square" lIns="0" tIns="0" rIns="0" bIns="0" rtlCol="0" anchor="ctr"/>
          <a:lstStyle/>
          <a:p>
            <a:pPr marL="0" indent="0">
              <a:buNone/>
            </a:pPr>
            <a:r>
              <a:rPr lang="en-US" sz="1100" u="sng" dirty="0">
                <a:solidFill>
                  <a:srgbClr val="3B6FD4"/>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xmlns="" val="tx"/>
                    </a:ext>
                  </a:extLst>
                </a:hlinkClick>
              </a:rPr>
              <a:t>https://github.com/Roshanisingh01/PRODIGY_WD_03</a:t>
            </a:r>
            <a:endParaRPr lang="en-US" sz="1100" dirty="0"/>
          </a:p>
        </p:txBody>
      </p:sp>
      <p:sp>
        <p:nvSpPr>
          <p:cNvPr id="41" name="Shape 33"/>
          <p:cNvSpPr/>
          <p:nvPr/>
        </p:nvSpPr>
        <p:spPr>
          <a:xfrm>
            <a:off x="548640" y="5170932"/>
            <a:ext cx="11064240" cy="502920"/>
          </a:xfrm>
          <a:prstGeom prst="roundRect">
            <a:avLst>
              <a:gd name="adj" fmla="val 16364"/>
            </a:avLst>
          </a:prstGeom>
          <a:solidFill>
            <a:srgbClr val="FFFFFF"/>
          </a:solidFill>
          <a:ln w="12700">
            <a:solidFill>
              <a:srgbClr val="DCE3EE"/>
            </a:solidFill>
            <a:prstDash val="solid"/>
          </a:ln>
        </p:spPr>
      </p:sp>
      <p:sp>
        <p:nvSpPr>
          <p:cNvPr id="42" name="Shape 34"/>
          <p:cNvSpPr/>
          <p:nvPr/>
        </p:nvSpPr>
        <p:spPr>
          <a:xfrm>
            <a:off x="685800" y="5253228"/>
            <a:ext cx="1051560" cy="338328"/>
          </a:xfrm>
          <a:prstGeom prst="roundRect">
            <a:avLst>
              <a:gd name="adj" fmla="val 16216"/>
            </a:avLst>
          </a:prstGeom>
          <a:solidFill>
            <a:srgbClr val="1F3A5F"/>
          </a:solidFill>
          <a:ln/>
        </p:spPr>
      </p:sp>
      <p:sp>
        <p:nvSpPr>
          <p:cNvPr id="43" name="Text 35"/>
          <p:cNvSpPr txBox="1"/>
          <p:nvPr/>
        </p:nvSpPr>
        <p:spPr>
          <a:xfrm>
            <a:off x="685800" y="5253228"/>
            <a:ext cx="105156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04</a:t>
            </a:r>
            <a:endParaRPr lang="en-US" sz="1100" dirty="0"/>
          </a:p>
        </p:txBody>
      </p:sp>
      <p:sp>
        <p:nvSpPr>
          <p:cNvPr id="44" name="Shape 36"/>
          <p:cNvSpPr/>
          <p:nvPr/>
        </p:nvSpPr>
        <p:spPr>
          <a:xfrm>
            <a:off x="2185416" y="5276088"/>
            <a:ext cx="292608" cy="292608"/>
          </a:xfrm>
          <a:prstGeom prst="ellipse">
            <a:avLst/>
          </a:prstGeom>
          <a:solidFill>
            <a:srgbClr val="EAF0FB"/>
          </a:solidFill>
          <a:ln/>
        </p:spPr>
      </p:sp>
      <p:pic>
        <p:nvPicPr>
          <p:cNvPr id="45" name="Image 6" descr="/home/claude/pptx_build/icons/github.png"/>
          <p:cNvPicPr>
            <a:picLocks noChangeAspect="1"/>
          </p:cNvPicPr>
          <p:nvPr/>
        </p:nvPicPr>
        <p:blipFill>
          <a:blip r:embed="rId6"/>
          <a:stretch>
            <a:fillRect/>
          </a:stretch>
        </p:blipFill>
        <p:spPr>
          <a:xfrm>
            <a:off x="2241012" y="5331684"/>
            <a:ext cx="181417" cy="181417"/>
          </a:xfrm>
          <a:prstGeom prst="rect">
            <a:avLst/>
          </a:prstGeom>
        </p:spPr>
      </p:pic>
      <p:sp>
        <p:nvSpPr>
          <p:cNvPr id="46" name="Text 37">
            <a:hlinkClick r:id="rId10"/>
          </p:cNvPr>
          <p:cNvSpPr txBox="1"/>
          <p:nvPr/>
        </p:nvSpPr>
        <p:spPr>
          <a:xfrm>
            <a:off x="2606040" y="5170932"/>
            <a:ext cx="2743200" cy="502920"/>
          </a:xfrm>
          <a:prstGeom prst="rect">
            <a:avLst/>
          </a:prstGeom>
          <a:noFill/>
          <a:ln/>
        </p:spPr>
        <p:txBody>
          <a:bodyPr wrap="square" lIns="0" tIns="0" rIns="0" bIns="0" rtlCol="0" anchor="ctr"/>
          <a:lstStyle/>
          <a:p>
            <a:pPr marL="0" indent="0">
              <a:buNone/>
            </a:pPr>
            <a:r>
              <a:rPr lang="en-US" sz="1250" b="1" u="sng" dirty="0">
                <a:solidFill>
                  <a:srgbClr val="222B3A"/>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xmlns="" val="tx"/>
                    </a:ext>
                  </a:extLst>
                </a:hlinkClick>
              </a:rPr>
              <a:t>PRODIGY-WD-4</a:t>
            </a:r>
            <a:endParaRPr lang="en-US" sz="1250" dirty="0"/>
          </a:p>
        </p:txBody>
      </p:sp>
      <p:sp>
        <p:nvSpPr>
          <p:cNvPr id="47" name="Text 38">
            <a:hlinkClick r:id="rId10"/>
          </p:cNvPr>
          <p:cNvSpPr txBox="1"/>
          <p:nvPr/>
        </p:nvSpPr>
        <p:spPr>
          <a:xfrm>
            <a:off x="5486400" y="5170932"/>
            <a:ext cx="5943600" cy="502920"/>
          </a:xfrm>
          <a:prstGeom prst="rect">
            <a:avLst/>
          </a:prstGeom>
          <a:noFill/>
          <a:ln/>
        </p:spPr>
        <p:txBody>
          <a:bodyPr wrap="square" lIns="0" tIns="0" rIns="0" bIns="0" rtlCol="0" anchor="ctr"/>
          <a:lstStyle/>
          <a:p>
            <a:pPr marL="0" indent="0">
              <a:buNone/>
            </a:pPr>
            <a:r>
              <a:rPr lang="en-US" sz="1100" u="sng" dirty="0">
                <a:solidFill>
                  <a:srgbClr val="3B6FD4"/>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xmlns="" val="tx"/>
                    </a:ext>
                  </a:extLst>
                </a:hlinkClick>
              </a:rPr>
              <a:t>https://github.com/Roshanisingh01/PRODIGY-WD-4</a:t>
            </a:r>
            <a:endParaRPr lang="en-US" sz="1100" dirty="0"/>
          </a:p>
        </p:txBody>
      </p:sp>
      <p:sp>
        <p:nvSpPr>
          <p:cNvPr id="48" name="Shape 39"/>
          <p:cNvSpPr/>
          <p:nvPr/>
        </p:nvSpPr>
        <p:spPr>
          <a:xfrm>
            <a:off x="548640" y="5742432"/>
            <a:ext cx="11064240" cy="502920"/>
          </a:xfrm>
          <a:prstGeom prst="roundRect">
            <a:avLst>
              <a:gd name="adj" fmla="val 16364"/>
            </a:avLst>
          </a:prstGeom>
          <a:solidFill>
            <a:srgbClr val="FFFFFF"/>
          </a:solidFill>
          <a:ln w="12700">
            <a:solidFill>
              <a:srgbClr val="DCE3EE"/>
            </a:solidFill>
            <a:prstDash val="solid"/>
          </a:ln>
        </p:spPr>
      </p:sp>
      <p:sp>
        <p:nvSpPr>
          <p:cNvPr id="49" name="Shape 40"/>
          <p:cNvSpPr/>
          <p:nvPr/>
        </p:nvSpPr>
        <p:spPr>
          <a:xfrm>
            <a:off x="685800" y="5824728"/>
            <a:ext cx="1051560" cy="338328"/>
          </a:xfrm>
          <a:prstGeom prst="roundRect">
            <a:avLst>
              <a:gd name="adj" fmla="val 16216"/>
            </a:avLst>
          </a:prstGeom>
          <a:solidFill>
            <a:srgbClr val="1F3A5F"/>
          </a:solidFill>
          <a:ln/>
        </p:spPr>
      </p:sp>
      <p:sp>
        <p:nvSpPr>
          <p:cNvPr id="50" name="Text 41"/>
          <p:cNvSpPr txBox="1"/>
          <p:nvPr/>
        </p:nvSpPr>
        <p:spPr>
          <a:xfrm>
            <a:off x="685800" y="5824728"/>
            <a:ext cx="105156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 05</a:t>
            </a:r>
            <a:endParaRPr lang="en-US" sz="1100" dirty="0"/>
          </a:p>
        </p:txBody>
      </p:sp>
      <p:sp>
        <p:nvSpPr>
          <p:cNvPr id="51" name="Shape 42"/>
          <p:cNvSpPr/>
          <p:nvPr/>
        </p:nvSpPr>
        <p:spPr>
          <a:xfrm>
            <a:off x="2185416" y="5847588"/>
            <a:ext cx="292608" cy="292608"/>
          </a:xfrm>
          <a:prstGeom prst="ellipse">
            <a:avLst/>
          </a:prstGeom>
          <a:solidFill>
            <a:srgbClr val="EAF0FB"/>
          </a:solidFill>
          <a:ln/>
        </p:spPr>
      </p:sp>
      <p:pic>
        <p:nvPicPr>
          <p:cNvPr id="52" name="Image 7" descr="/home/claude/pptx_build/icons/github.png"/>
          <p:cNvPicPr>
            <a:picLocks noChangeAspect="1"/>
          </p:cNvPicPr>
          <p:nvPr/>
        </p:nvPicPr>
        <p:blipFill>
          <a:blip r:embed="rId6"/>
          <a:stretch>
            <a:fillRect/>
          </a:stretch>
        </p:blipFill>
        <p:spPr>
          <a:xfrm>
            <a:off x="2241012" y="5903184"/>
            <a:ext cx="181417" cy="181417"/>
          </a:xfrm>
          <a:prstGeom prst="rect">
            <a:avLst/>
          </a:prstGeom>
        </p:spPr>
      </p:pic>
      <p:sp>
        <p:nvSpPr>
          <p:cNvPr id="53" name="Text 43">
            <a:hlinkClick r:id="rId11"/>
          </p:cNvPr>
          <p:cNvSpPr txBox="1"/>
          <p:nvPr/>
        </p:nvSpPr>
        <p:spPr>
          <a:xfrm>
            <a:off x="2606040" y="5742432"/>
            <a:ext cx="2743200" cy="502920"/>
          </a:xfrm>
          <a:prstGeom prst="rect">
            <a:avLst/>
          </a:prstGeom>
          <a:noFill/>
          <a:ln/>
        </p:spPr>
        <p:txBody>
          <a:bodyPr wrap="square" lIns="0" tIns="0" rIns="0" bIns="0" rtlCol="0" anchor="ctr"/>
          <a:lstStyle/>
          <a:p>
            <a:pPr marL="0" indent="0">
              <a:buNone/>
            </a:pPr>
            <a:r>
              <a:rPr lang="en-US" sz="1250" b="1" u="sng" dirty="0">
                <a:solidFill>
                  <a:srgbClr val="222B3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xmlns="" val="tx"/>
                    </a:ext>
                  </a:extLst>
                </a:hlinkClick>
              </a:rPr>
              <a:t>PRODIGY_WD_5</a:t>
            </a:r>
            <a:endParaRPr lang="en-US" sz="1250" dirty="0"/>
          </a:p>
        </p:txBody>
      </p:sp>
      <p:sp>
        <p:nvSpPr>
          <p:cNvPr id="54" name="Text 44">
            <a:hlinkClick r:id="rId11"/>
          </p:cNvPr>
          <p:cNvSpPr txBox="1"/>
          <p:nvPr/>
        </p:nvSpPr>
        <p:spPr>
          <a:xfrm>
            <a:off x="5486400" y="5742432"/>
            <a:ext cx="5943600" cy="502920"/>
          </a:xfrm>
          <a:prstGeom prst="rect">
            <a:avLst/>
          </a:prstGeom>
          <a:noFill/>
          <a:ln/>
        </p:spPr>
        <p:txBody>
          <a:bodyPr wrap="square" lIns="0" tIns="0" rIns="0" bIns="0" rtlCol="0" anchor="ctr"/>
          <a:lstStyle/>
          <a:p>
            <a:pPr marL="0" indent="0">
              <a:buNone/>
            </a:pPr>
            <a:r>
              <a:rPr lang="en-US" sz="1100" u="sng" dirty="0">
                <a:solidFill>
                  <a:srgbClr val="3B6FD4"/>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xmlns="" val="tx"/>
                    </a:ext>
                  </a:extLst>
                </a:hlinkClick>
              </a:rPr>
              <a:t>https://github.com/Roshanisingh01/PRODIGY_WD_5</a:t>
            </a:r>
            <a:endParaRPr lang="en-US" sz="1100" dirty="0"/>
          </a:p>
        </p:txBody>
      </p:sp>
      <p:sp>
        <p:nvSpPr>
          <p:cNvPr id="55" name="Text 45"/>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56" name="Text 46"/>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Key Outcomes &amp; Learning</a:t>
            </a:r>
            <a:endParaRPr lang="en-US" sz="3000" dirty="0"/>
          </a:p>
        </p:txBody>
      </p:sp>
      <p:sp>
        <p:nvSpPr>
          <p:cNvPr id="4" name="Shape 2"/>
          <p:cNvSpPr/>
          <p:nvPr/>
        </p:nvSpPr>
        <p:spPr>
          <a:xfrm>
            <a:off x="548640" y="14173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1634490" y="1719072"/>
            <a:ext cx="457200" cy="457200"/>
          </a:xfrm>
          <a:prstGeom prst="ellipse">
            <a:avLst/>
          </a:prstGeom>
          <a:solidFill>
            <a:srgbClr val="EAF0FB"/>
          </a:solidFill>
          <a:ln/>
        </p:spPr>
      </p:sp>
      <p:pic>
        <p:nvPicPr>
          <p:cNvPr id="6" name="Image 0" descr="/home/claude/pptx_build/icons/html5.png"/>
          <p:cNvPicPr>
            <a:picLocks noChangeAspect="1"/>
          </p:cNvPicPr>
          <p:nvPr/>
        </p:nvPicPr>
        <p:blipFill>
          <a:blip r:embed="rId3"/>
          <a:stretch>
            <a:fillRect/>
          </a:stretch>
        </p:blipFill>
        <p:spPr>
          <a:xfrm>
            <a:off x="1735074" y="1819656"/>
            <a:ext cx="256032" cy="256032"/>
          </a:xfrm>
          <a:prstGeom prst="rect">
            <a:avLst/>
          </a:prstGeom>
        </p:spPr>
      </p:pic>
      <p:sp>
        <p:nvSpPr>
          <p:cNvPr id="7" name="Text 4"/>
          <p:cNvSpPr txBox="1"/>
          <p:nvPr/>
        </p:nvSpPr>
        <p:spPr>
          <a:xfrm>
            <a:off x="640080" y="23317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HTML5 semantic development</a:t>
            </a:r>
            <a:endParaRPr lang="en-US" sz="1100" dirty="0"/>
          </a:p>
        </p:txBody>
      </p:sp>
      <p:sp>
        <p:nvSpPr>
          <p:cNvPr id="8" name="Shape 5"/>
          <p:cNvSpPr/>
          <p:nvPr/>
        </p:nvSpPr>
        <p:spPr>
          <a:xfrm>
            <a:off x="3360420" y="14173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9" name="Shape 6"/>
          <p:cNvSpPr/>
          <p:nvPr/>
        </p:nvSpPr>
        <p:spPr>
          <a:xfrm>
            <a:off x="4446270" y="1719072"/>
            <a:ext cx="457200" cy="457200"/>
          </a:xfrm>
          <a:prstGeom prst="ellipse">
            <a:avLst/>
          </a:prstGeom>
          <a:solidFill>
            <a:srgbClr val="EAF0FB"/>
          </a:solidFill>
          <a:ln/>
        </p:spPr>
      </p:sp>
      <p:pic>
        <p:nvPicPr>
          <p:cNvPr id="10" name="Image 1" descr="/home/claude/pptx_build/icons/css3.png"/>
          <p:cNvPicPr>
            <a:picLocks noChangeAspect="1"/>
          </p:cNvPicPr>
          <p:nvPr/>
        </p:nvPicPr>
        <p:blipFill>
          <a:blip r:embed="rId4"/>
          <a:stretch>
            <a:fillRect/>
          </a:stretch>
        </p:blipFill>
        <p:spPr>
          <a:xfrm>
            <a:off x="4546854" y="1819656"/>
            <a:ext cx="256032" cy="256032"/>
          </a:xfrm>
          <a:prstGeom prst="rect">
            <a:avLst/>
          </a:prstGeom>
        </p:spPr>
      </p:pic>
      <p:sp>
        <p:nvSpPr>
          <p:cNvPr id="11" name="Text 7"/>
          <p:cNvSpPr txBox="1"/>
          <p:nvPr/>
        </p:nvSpPr>
        <p:spPr>
          <a:xfrm>
            <a:off x="3451860" y="23317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CSS3 responsive design</a:t>
            </a:r>
            <a:endParaRPr lang="en-US" sz="1100" dirty="0"/>
          </a:p>
        </p:txBody>
      </p:sp>
      <p:sp>
        <p:nvSpPr>
          <p:cNvPr id="12" name="Shape 8"/>
          <p:cNvSpPr/>
          <p:nvPr/>
        </p:nvSpPr>
        <p:spPr>
          <a:xfrm>
            <a:off x="6172200" y="14173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3" name="Shape 9"/>
          <p:cNvSpPr/>
          <p:nvPr/>
        </p:nvSpPr>
        <p:spPr>
          <a:xfrm>
            <a:off x="7258050" y="1719072"/>
            <a:ext cx="457200" cy="457200"/>
          </a:xfrm>
          <a:prstGeom prst="ellipse">
            <a:avLst/>
          </a:prstGeom>
          <a:solidFill>
            <a:srgbClr val="EAF0FB"/>
          </a:solidFill>
          <a:ln/>
        </p:spPr>
      </p:sp>
      <p:pic>
        <p:nvPicPr>
          <p:cNvPr id="14" name="Image 2" descr="/home/claude/pptx_build/icons/js.png"/>
          <p:cNvPicPr>
            <a:picLocks noChangeAspect="1"/>
          </p:cNvPicPr>
          <p:nvPr/>
        </p:nvPicPr>
        <p:blipFill>
          <a:blip r:embed="rId5"/>
          <a:stretch>
            <a:fillRect/>
          </a:stretch>
        </p:blipFill>
        <p:spPr>
          <a:xfrm>
            <a:off x="7358634" y="1819656"/>
            <a:ext cx="256032" cy="256032"/>
          </a:xfrm>
          <a:prstGeom prst="rect">
            <a:avLst/>
          </a:prstGeom>
        </p:spPr>
      </p:pic>
      <p:sp>
        <p:nvSpPr>
          <p:cNvPr id="15" name="Text 10"/>
          <p:cNvSpPr txBox="1"/>
          <p:nvPr/>
        </p:nvSpPr>
        <p:spPr>
          <a:xfrm>
            <a:off x="6263640" y="23317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JavaScript programming</a:t>
            </a:r>
            <a:endParaRPr lang="en-US" sz="1100" dirty="0"/>
          </a:p>
        </p:txBody>
      </p:sp>
      <p:sp>
        <p:nvSpPr>
          <p:cNvPr id="16" name="Shape 11"/>
          <p:cNvSpPr/>
          <p:nvPr/>
        </p:nvSpPr>
        <p:spPr>
          <a:xfrm>
            <a:off x="8983980" y="14173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7" name="Shape 12"/>
          <p:cNvSpPr/>
          <p:nvPr/>
        </p:nvSpPr>
        <p:spPr>
          <a:xfrm>
            <a:off x="10069830" y="1719072"/>
            <a:ext cx="457200" cy="457200"/>
          </a:xfrm>
          <a:prstGeom prst="ellipse">
            <a:avLst/>
          </a:prstGeom>
          <a:solidFill>
            <a:srgbClr val="EAF0FB"/>
          </a:solidFill>
          <a:ln/>
        </p:spPr>
      </p:sp>
      <p:pic>
        <p:nvPicPr>
          <p:cNvPr id="18" name="Image 3" descr="/home/claude/pptx_build/icons/dom.png"/>
          <p:cNvPicPr>
            <a:picLocks noChangeAspect="1"/>
          </p:cNvPicPr>
          <p:nvPr/>
        </p:nvPicPr>
        <p:blipFill>
          <a:blip r:embed="rId6"/>
          <a:stretch>
            <a:fillRect/>
          </a:stretch>
        </p:blipFill>
        <p:spPr>
          <a:xfrm>
            <a:off x="10170414" y="1819656"/>
            <a:ext cx="256032" cy="256032"/>
          </a:xfrm>
          <a:prstGeom prst="rect">
            <a:avLst/>
          </a:prstGeom>
        </p:spPr>
      </p:pic>
      <p:sp>
        <p:nvSpPr>
          <p:cNvPr id="19" name="Text 13"/>
          <p:cNvSpPr txBox="1"/>
          <p:nvPr/>
        </p:nvSpPr>
        <p:spPr>
          <a:xfrm>
            <a:off x="9075420" y="23317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DOM manipulation</a:t>
            </a:r>
            <a:endParaRPr lang="en-US" sz="1100" dirty="0"/>
          </a:p>
        </p:txBody>
      </p:sp>
      <p:sp>
        <p:nvSpPr>
          <p:cNvPr id="20" name="Shape 14"/>
          <p:cNvSpPr/>
          <p:nvPr/>
        </p:nvSpPr>
        <p:spPr>
          <a:xfrm>
            <a:off x="548640" y="30175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1" name="Shape 15"/>
          <p:cNvSpPr/>
          <p:nvPr/>
        </p:nvSpPr>
        <p:spPr>
          <a:xfrm>
            <a:off x="1634490" y="3319272"/>
            <a:ext cx="457200" cy="457200"/>
          </a:xfrm>
          <a:prstGeom prst="ellipse">
            <a:avLst/>
          </a:prstGeom>
          <a:solidFill>
            <a:srgbClr val="EAF0FB"/>
          </a:solidFill>
          <a:ln/>
        </p:spPr>
      </p:sp>
      <p:pic>
        <p:nvPicPr>
          <p:cNvPr id="22" name="Image 4" descr="/home/claude/pptx_build/icons/cpu.png"/>
          <p:cNvPicPr>
            <a:picLocks noChangeAspect="1"/>
          </p:cNvPicPr>
          <p:nvPr/>
        </p:nvPicPr>
        <p:blipFill>
          <a:blip r:embed="rId7"/>
          <a:stretch>
            <a:fillRect/>
          </a:stretch>
        </p:blipFill>
        <p:spPr>
          <a:xfrm>
            <a:off x="1735074" y="3419856"/>
            <a:ext cx="256032" cy="256032"/>
          </a:xfrm>
          <a:prstGeom prst="rect">
            <a:avLst/>
          </a:prstGeom>
        </p:spPr>
      </p:pic>
      <p:sp>
        <p:nvSpPr>
          <p:cNvPr id="23" name="Text 16"/>
          <p:cNvSpPr txBox="1"/>
          <p:nvPr/>
        </p:nvSpPr>
        <p:spPr>
          <a:xfrm>
            <a:off x="640080" y="39319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Application state management</a:t>
            </a:r>
            <a:endParaRPr lang="en-US" sz="1100" dirty="0"/>
          </a:p>
        </p:txBody>
      </p:sp>
      <p:sp>
        <p:nvSpPr>
          <p:cNvPr id="24" name="Shape 17"/>
          <p:cNvSpPr/>
          <p:nvPr/>
        </p:nvSpPr>
        <p:spPr>
          <a:xfrm>
            <a:off x="3360420" y="30175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5" name="Shape 18"/>
          <p:cNvSpPr/>
          <p:nvPr/>
        </p:nvSpPr>
        <p:spPr>
          <a:xfrm>
            <a:off x="4446270" y="3319272"/>
            <a:ext cx="457200" cy="457200"/>
          </a:xfrm>
          <a:prstGeom prst="ellipse">
            <a:avLst/>
          </a:prstGeom>
          <a:solidFill>
            <a:srgbClr val="EAF0FB"/>
          </a:solidFill>
          <a:ln/>
        </p:spPr>
      </p:sp>
      <p:pic>
        <p:nvPicPr>
          <p:cNvPr id="26" name="Image 5" descr="/home/claude/pptx_build/icons/api.png"/>
          <p:cNvPicPr>
            <a:picLocks noChangeAspect="1"/>
          </p:cNvPicPr>
          <p:nvPr/>
        </p:nvPicPr>
        <p:blipFill>
          <a:blip r:embed="rId8"/>
          <a:stretch>
            <a:fillRect/>
          </a:stretch>
        </p:blipFill>
        <p:spPr>
          <a:xfrm>
            <a:off x="4546854" y="3419856"/>
            <a:ext cx="256032" cy="256032"/>
          </a:xfrm>
          <a:prstGeom prst="rect">
            <a:avLst/>
          </a:prstGeom>
        </p:spPr>
      </p:pic>
      <p:sp>
        <p:nvSpPr>
          <p:cNvPr id="27" name="Text 19"/>
          <p:cNvSpPr txBox="1"/>
          <p:nvPr/>
        </p:nvSpPr>
        <p:spPr>
          <a:xfrm>
            <a:off x="3451860" y="39319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Browser APIs &amp; API integration</a:t>
            </a:r>
            <a:endParaRPr lang="en-US" sz="1100" dirty="0"/>
          </a:p>
        </p:txBody>
      </p:sp>
      <p:sp>
        <p:nvSpPr>
          <p:cNvPr id="28" name="Shape 20"/>
          <p:cNvSpPr/>
          <p:nvPr/>
        </p:nvSpPr>
        <p:spPr>
          <a:xfrm>
            <a:off x="6172200" y="30175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9" name="Shape 21"/>
          <p:cNvSpPr/>
          <p:nvPr/>
        </p:nvSpPr>
        <p:spPr>
          <a:xfrm>
            <a:off x="7258050" y="3319272"/>
            <a:ext cx="457200" cy="457200"/>
          </a:xfrm>
          <a:prstGeom prst="ellipse">
            <a:avLst/>
          </a:prstGeom>
          <a:solidFill>
            <a:srgbClr val="EAF0FB"/>
          </a:solidFill>
          <a:ln/>
        </p:spPr>
      </p:sp>
      <p:pic>
        <p:nvPicPr>
          <p:cNvPr id="30" name="Image 6" descr="/home/claude/pptx_build/icons/accessibility.png"/>
          <p:cNvPicPr>
            <a:picLocks noChangeAspect="1"/>
          </p:cNvPicPr>
          <p:nvPr/>
        </p:nvPicPr>
        <p:blipFill>
          <a:blip r:embed="rId9"/>
          <a:stretch>
            <a:fillRect/>
          </a:stretch>
        </p:blipFill>
        <p:spPr>
          <a:xfrm>
            <a:off x="7358634" y="3419856"/>
            <a:ext cx="256032" cy="256032"/>
          </a:xfrm>
          <a:prstGeom prst="rect">
            <a:avLst/>
          </a:prstGeom>
        </p:spPr>
      </p:pic>
      <p:sp>
        <p:nvSpPr>
          <p:cNvPr id="31" name="Text 22"/>
          <p:cNvSpPr txBox="1"/>
          <p:nvPr/>
        </p:nvSpPr>
        <p:spPr>
          <a:xfrm>
            <a:off x="6263640" y="39319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Accessibility practices</a:t>
            </a:r>
            <a:endParaRPr lang="en-US" sz="1100" dirty="0"/>
          </a:p>
        </p:txBody>
      </p:sp>
      <p:sp>
        <p:nvSpPr>
          <p:cNvPr id="32" name="Shape 23"/>
          <p:cNvSpPr/>
          <p:nvPr/>
        </p:nvSpPr>
        <p:spPr>
          <a:xfrm>
            <a:off x="8983980" y="30175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3" name="Shape 24"/>
          <p:cNvSpPr/>
          <p:nvPr/>
        </p:nvSpPr>
        <p:spPr>
          <a:xfrm>
            <a:off x="10069830" y="3319272"/>
            <a:ext cx="457200" cy="457200"/>
          </a:xfrm>
          <a:prstGeom prst="ellipse">
            <a:avLst/>
          </a:prstGeom>
          <a:solidFill>
            <a:srgbClr val="EAF0FB"/>
          </a:solidFill>
          <a:ln/>
        </p:spPr>
      </p:sp>
      <p:pic>
        <p:nvPicPr>
          <p:cNvPr id="34" name="Image 7" descr="/home/claude/pptx_build/icons/responsive.png"/>
          <p:cNvPicPr>
            <a:picLocks noChangeAspect="1"/>
          </p:cNvPicPr>
          <p:nvPr/>
        </p:nvPicPr>
        <p:blipFill>
          <a:blip r:embed="rId10"/>
          <a:stretch>
            <a:fillRect/>
          </a:stretch>
        </p:blipFill>
        <p:spPr>
          <a:xfrm>
            <a:off x="10170414" y="3419856"/>
            <a:ext cx="256032" cy="256032"/>
          </a:xfrm>
          <a:prstGeom prst="rect">
            <a:avLst/>
          </a:prstGeom>
        </p:spPr>
      </p:pic>
      <p:sp>
        <p:nvSpPr>
          <p:cNvPr id="35" name="Text 25"/>
          <p:cNvSpPr txBox="1"/>
          <p:nvPr/>
        </p:nvSpPr>
        <p:spPr>
          <a:xfrm>
            <a:off x="9075420" y="39319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UI/UX implementation</a:t>
            </a:r>
            <a:endParaRPr lang="en-US" sz="1100" dirty="0"/>
          </a:p>
        </p:txBody>
      </p:sp>
      <p:sp>
        <p:nvSpPr>
          <p:cNvPr id="36" name="Shape 26"/>
          <p:cNvSpPr/>
          <p:nvPr/>
        </p:nvSpPr>
        <p:spPr>
          <a:xfrm>
            <a:off x="548640" y="46177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37" name="Shape 27"/>
          <p:cNvSpPr/>
          <p:nvPr/>
        </p:nvSpPr>
        <p:spPr>
          <a:xfrm>
            <a:off x="1634490" y="4919472"/>
            <a:ext cx="457200" cy="457200"/>
          </a:xfrm>
          <a:prstGeom prst="ellipse">
            <a:avLst/>
          </a:prstGeom>
          <a:solidFill>
            <a:srgbClr val="EAF0FB"/>
          </a:solidFill>
          <a:ln/>
        </p:spPr>
      </p:sp>
      <p:pic>
        <p:nvPicPr>
          <p:cNvPr id="38" name="Image 8" descr="/home/claude/pptx_build/icons/puzzle.png"/>
          <p:cNvPicPr>
            <a:picLocks noChangeAspect="1"/>
          </p:cNvPicPr>
          <p:nvPr/>
        </p:nvPicPr>
        <p:blipFill>
          <a:blip r:embed="rId11"/>
          <a:stretch>
            <a:fillRect/>
          </a:stretch>
        </p:blipFill>
        <p:spPr>
          <a:xfrm>
            <a:off x="1735074" y="5020056"/>
            <a:ext cx="256032" cy="256032"/>
          </a:xfrm>
          <a:prstGeom prst="rect">
            <a:avLst/>
          </a:prstGeom>
        </p:spPr>
      </p:pic>
      <p:sp>
        <p:nvSpPr>
          <p:cNvPr id="39" name="Text 28"/>
          <p:cNvSpPr txBox="1"/>
          <p:nvPr/>
        </p:nvSpPr>
        <p:spPr>
          <a:xfrm>
            <a:off x="640080" y="55321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Algorithmic problem solving</a:t>
            </a:r>
            <a:endParaRPr lang="en-US" sz="1100" dirty="0"/>
          </a:p>
        </p:txBody>
      </p:sp>
      <p:sp>
        <p:nvSpPr>
          <p:cNvPr id="40" name="Shape 29"/>
          <p:cNvSpPr/>
          <p:nvPr/>
        </p:nvSpPr>
        <p:spPr>
          <a:xfrm>
            <a:off x="3360420" y="46177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1" name="Shape 30"/>
          <p:cNvSpPr/>
          <p:nvPr/>
        </p:nvSpPr>
        <p:spPr>
          <a:xfrm>
            <a:off x="4446270" y="4919472"/>
            <a:ext cx="457200" cy="457200"/>
          </a:xfrm>
          <a:prstGeom prst="ellipse">
            <a:avLst/>
          </a:prstGeom>
          <a:solidFill>
            <a:srgbClr val="EAF0FB"/>
          </a:solidFill>
          <a:ln/>
        </p:spPr>
      </p:sp>
      <p:pic>
        <p:nvPicPr>
          <p:cNvPr id="42" name="Image 9" descr="/home/claude/pptx_build/icons/git.png"/>
          <p:cNvPicPr>
            <a:picLocks noChangeAspect="1"/>
          </p:cNvPicPr>
          <p:nvPr/>
        </p:nvPicPr>
        <p:blipFill>
          <a:blip r:embed="rId12"/>
          <a:stretch>
            <a:fillRect/>
          </a:stretch>
        </p:blipFill>
        <p:spPr>
          <a:xfrm>
            <a:off x="4546854" y="5020056"/>
            <a:ext cx="256032" cy="256032"/>
          </a:xfrm>
          <a:prstGeom prst="rect">
            <a:avLst/>
          </a:prstGeom>
        </p:spPr>
      </p:pic>
      <p:sp>
        <p:nvSpPr>
          <p:cNvPr id="43" name="Text 31"/>
          <p:cNvSpPr txBox="1"/>
          <p:nvPr/>
        </p:nvSpPr>
        <p:spPr>
          <a:xfrm>
            <a:off x="3451860" y="55321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Git / GitHub workflow</a:t>
            </a:r>
            <a:endParaRPr lang="en-US" sz="1100" dirty="0"/>
          </a:p>
        </p:txBody>
      </p:sp>
      <p:sp>
        <p:nvSpPr>
          <p:cNvPr id="44" name="Shape 32"/>
          <p:cNvSpPr/>
          <p:nvPr/>
        </p:nvSpPr>
        <p:spPr>
          <a:xfrm>
            <a:off x="6172200" y="46177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5" name="Shape 33"/>
          <p:cNvSpPr/>
          <p:nvPr/>
        </p:nvSpPr>
        <p:spPr>
          <a:xfrm>
            <a:off x="7258050" y="4919472"/>
            <a:ext cx="457200" cy="457200"/>
          </a:xfrm>
          <a:prstGeom prst="ellipse">
            <a:avLst/>
          </a:prstGeom>
          <a:solidFill>
            <a:srgbClr val="EAF0FB"/>
          </a:solidFill>
          <a:ln/>
        </p:spPr>
      </p:sp>
      <p:pic>
        <p:nvPicPr>
          <p:cNvPr id="46" name="Image 10" descr="/home/claude/pptx_build/icons/bug.png"/>
          <p:cNvPicPr>
            <a:picLocks noChangeAspect="1"/>
          </p:cNvPicPr>
          <p:nvPr/>
        </p:nvPicPr>
        <p:blipFill>
          <a:blip r:embed="rId13"/>
          <a:stretch>
            <a:fillRect/>
          </a:stretch>
        </p:blipFill>
        <p:spPr>
          <a:xfrm>
            <a:off x="7358634" y="5020056"/>
            <a:ext cx="256032" cy="256032"/>
          </a:xfrm>
          <a:prstGeom prst="rect">
            <a:avLst/>
          </a:prstGeom>
        </p:spPr>
      </p:pic>
      <p:sp>
        <p:nvSpPr>
          <p:cNvPr id="47" name="Text 34"/>
          <p:cNvSpPr txBox="1"/>
          <p:nvPr/>
        </p:nvSpPr>
        <p:spPr>
          <a:xfrm>
            <a:off x="6263640" y="55321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Testing and debugging</a:t>
            </a:r>
            <a:endParaRPr lang="en-US" sz="1100" dirty="0"/>
          </a:p>
        </p:txBody>
      </p:sp>
      <p:sp>
        <p:nvSpPr>
          <p:cNvPr id="48" name="Shape 35"/>
          <p:cNvSpPr/>
          <p:nvPr/>
        </p:nvSpPr>
        <p:spPr>
          <a:xfrm>
            <a:off x="8983980" y="4617720"/>
            <a:ext cx="2628900" cy="1417320"/>
          </a:xfrm>
          <a:prstGeom prst="roundRect">
            <a:avLst>
              <a:gd name="adj" fmla="val 5806"/>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49" name="Shape 36"/>
          <p:cNvSpPr/>
          <p:nvPr/>
        </p:nvSpPr>
        <p:spPr>
          <a:xfrm>
            <a:off x="10069830" y="4919472"/>
            <a:ext cx="457200" cy="457200"/>
          </a:xfrm>
          <a:prstGeom prst="ellipse">
            <a:avLst/>
          </a:prstGeom>
          <a:solidFill>
            <a:srgbClr val="EAF0FB"/>
          </a:solidFill>
          <a:ln/>
        </p:spPr>
      </p:sp>
      <p:pic>
        <p:nvPicPr>
          <p:cNvPr id="50" name="Image 11" descr="/home/claude/pptx_build/icons/filetext.png"/>
          <p:cNvPicPr>
            <a:picLocks noChangeAspect="1"/>
          </p:cNvPicPr>
          <p:nvPr/>
        </p:nvPicPr>
        <p:blipFill>
          <a:blip r:embed="rId14"/>
          <a:stretch>
            <a:fillRect/>
          </a:stretch>
        </p:blipFill>
        <p:spPr>
          <a:xfrm>
            <a:off x="10170414" y="5020056"/>
            <a:ext cx="256032" cy="256032"/>
          </a:xfrm>
          <a:prstGeom prst="rect">
            <a:avLst/>
          </a:prstGeom>
        </p:spPr>
      </p:pic>
      <p:sp>
        <p:nvSpPr>
          <p:cNvPr id="51" name="Text 37"/>
          <p:cNvSpPr txBox="1"/>
          <p:nvPr/>
        </p:nvSpPr>
        <p:spPr>
          <a:xfrm>
            <a:off x="9075420" y="5532120"/>
            <a:ext cx="2446020" cy="411480"/>
          </a:xfrm>
          <a:prstGeom prst="rect">
            <a:avLst/>
          </a:prstGeom>
          <a:noFill/>
          <a:ln/>
        </p:spPr>
        <p:txBody>
          <a:bodyPr wrap="square" lIns="0" tIns="0" rIns="0" bIns="0" rtlCol="0" anchor="t"/>
          <a:lstStyle/>
          <a:p>
            <a:pPr marL="0" indent="0" algn="ctr">
              <a:buNone/>
            </a:pPr>
            <a:r>
              <a:rPr lang="en-US" sz="1100" b="1" dirty="0">
                <a:solidFill>
                  <a:srgbClr val="222B3A"/>
                </a:solidFill>
                <a:latin typeface="Calibri" pitchFamily="34" charset="0"/>
                <a:ea typeface="Calibri" pitchFamily="34" charset="-122"/>
                <a:cs typeface="Calibri" pitchFamily="34" charset="-120"/>
              </a:rPr>
              <a:t>Technical documentation</a:t>
            </a:r>
            <a:endParaRPr lang="en-US" sz="1100" dirty="0"/>
          </a:p>
        </p:txBody>
      </p:sp>
      <p:sp>
        <p:nvSpPr>
          <p:cNvPr id="52" name="Text 38"/>
          <p:cNvSpPr txBox="1"/>
          <p:nvPr/>
        </p:nvSpPr>
        <p:spPr>
          <a:xfrm>
            <a:off x="548640" y="6144768"/>
            <a:ext cx="11064240" cy="292608"/>
          </a:xfrm>
          <a:prstGeom prst="rect">
            <a:avLst/>
          </a:prstGeom>
          <a:noFill/>
          <a:ln/>
        </p:spPr>
        <p:txBody>
          <a:bodyPr wrap="square" lIns="0" tIns="0" rIns="0" bIns="0" rtlCol="0" anchor="ctr"/>
          <a:lstStyle/>
          <a:p>
            <a:pPr marL="0" indent="0" algn="ctr">
              <a:buNone/>
            </a:pPr>
            <a:r>
              <a:rPr lang="en-US" sz="1050" i="1" dirty="0">
                <a:solidFill>
                  <a:srgbClr val="667085"/>
                </a:solidFill>
                <a:latin typeface="Calibri" pitchFamily="34" charset="0"/>
                <a:ea typeface="Calibri" pitchFamily="34" charset="-122"/>
                <a:cs typeface="Calibri" pitchFamily="34" charset="-120"/>
              </a:rPr>
              <a:t>These outcomes reflect skills and understanding gained — not claims of expert-level mastery or guaranteed job readiness.</a:t>
            </a:r>
            <a:endParaRPr lang="en-US" sz="1050" dirty="0"/>
          </a:p>
        </p:txBody>
      </p:sp>
      <p:sp>
        <p:nvSpPr>
          <p:cNvPr id="53" name="Text 39"/>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54" name="Text 40"/>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292608"/>
          </a:xfrm>
          <a:prstGeom prst="rect">
            <a:avLst/>
          </a:prstGeom>
          <a:noFill/>
          <a:ln/>
        </p:spPr>
        <p:txBody>
          <a:bodyPr wrap="square" lIns="0" tIns="0" rIns="0" bIns="0" rtlCol="0" anchor="ctr"/>
          <a:lstStyle/>
          <a:p>
            <a:pPr marL="0" indent="0" algn="l">
              <a:buNone/>
            </a:pPr>
            <a:r>
              <a:rPr lang="en-US" sz="1300" b="1" kern="0" spc="200" dirty="0">
                <a:solidFill>
                  <a:srgbClr val="8B1E3F"/>
                </a:solidFill>
                <a:latin typeface="Calibri" pitchFamily="34" charset="0"/>
                <a:ea typeface="Calibri" pitchFamily="34" charset="-122"/>
                <a:cs typeface="Calibri" pitchFamily="34" charset="-120"/>
              </a:rPr>
              <a:t>FUTURE SCOPE</a:t>
            </a:r>
            <a:endParaRPr lang="en-US" sz="1300" dirty="0"/>
          </a:p>
        </p:txBody>
      </p:sp>
      <p:sp>
        <p:nvSpPr>
          <p:cNvPr id="3" name="Text 1"/>
          <p:cNvSpPr txBox="1"/>
          <p:nvPr/>
        </p:nvSpPr>
        <p:spPr>
          <a:xfrm>
            <a:off x="548640" y="676656"/>
            <a:ext cx="11064240" cy="566928"/>
          </a:xfrm>
          <a:prstGeom prst="rect">
            <a:avLst/>
          </a:prstGeom>
          <a:noFill/>
          <a:ln/>
        </p:spPr>
        <p:txBody>
          <a:bodyPr wrap="square" lIns="0" tIns="0" rIns="0" bIns="0" rtlCol="0" anchor="ctr"/>
          <a:lstStyle/>
          <a:p>
            <a:pPr marL="0" indent="0" algn="l">
              <a:buNone/>
            </a:pPr>
            <a:r>
              <a:rPr lang="en-US" sz="3000" b="1" dirty="0">
                <a:solidFill>
                  <a:srgbClr val="1F3A5F"/>
                </a:solidFill>
                <a:latin typeface="Cambria" pitchFamily="34" charset="0"/>
                <a:ea typeface="Cambria" pitchFamily="34" charset="-122"/>
                <a:cs typeface="Cambria" pitchFamily="34" charset="-120"/>
              </a:rPr>
              <a:t>Possible Future Enhancements</a:t>
            </a:r>
            <a:endParaRPr lang="en-US" sz="3000" dirty="0"/>
          </a:p>
        </p:txBody>
      </p:sp>
      <p:sp>
        <p:nvSpPr>
          <p:cNvPr id="4" name="Shape 2"/>
          <p:cNvSpPr/>
          <p:nvPr/>
        </p:nvSpPr>
        <p:spPr>
          <a:xfrm>
            <a:off x="518008" y="1508760"/>
            <a:ext cx="2084832" cy="32461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5" name="Shape 3"/>
          <p:cNvSpPr/>
          <p:nvPr/>
        </p:nvSpPr>
        <p:spPr>
          <a:xfrm>
            <a:off x="1276960" y="1755648"/>
            <a:ext cx="566928" cy="566928"/>
          </a:xfrm>
          <a:prstGeom prst="ellipse">
            <a:avLst/>
          </a:prstGeom>
          <a:solidFill>
            <a:srgbClr val="EAF0FB"/>
          </a:solidFill>
          <a:ln/>
        </p:spPr>
      </p:sp>
      <p:pic>
        <p:nvPicPr>
          <p:cNvPr id="6" name="Image 0" descr="/home/claude/pptx_build/icons/responsive.png"/>
          <p:cNvPicPr>
            <a:picLocks noChangeAspect="1"/>
          </p:cNvPicPr>
          <p:nvPr/>
        </p:nvPicPr>
        <p:blipFill>
          <a:blip r:embed="rId3"/>
          <a:stretch>
            <a:fillRect/>
          </a:stretch>
        </p:blipFill>
        <p:spPr>
          <a:xfrm>
            <a:off x="1401684" y="1880372"/>
            <a:ext cx="317480" cy="317480"/>
          </a:xfrm>
          <a:prstGeom prst="rect">
            <a:avLst/>
          </a:prstGeom>
        </p:spPr>
      </p:pic>
      <p:sp>
        <p:nvSpPr>
          <p:cNvPr id="7" name="Text 4"/>
          <p:cNvSpPr txBox="1"/>
          <p:nvPr/>
        </p:nvSpPr>
        <p:spPr>
          <a:xfrm>
            <a:off x="609448" y="2468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Landing Page</a:t>
            </a:r>
            <a:endParaRPr lang="en-US" sz="1300" dirty="0"/>
          </a:p>
        </p:txBody>
      </p:sp>
      <p:sp>
        <p:nvSpPr>
          <p:cNvPr id="8" name="Text 5"/>
          <p:cNvSpPr txBox="1"/>
          <p:nvPr/>
        </p:nvSpPr>
        <p:spPr>
          <a:xfrm>
            <a:off x="682600" y="2926080"/>
            <a:ext cx="1755648" cy="1691640"/>
          </a:xfrm>
          <a:prstGeom prst="rect">
            <a:avLst/>
          </a:prstGeom>
          <a:noFill/>
          <a:ln/>
        </p:spPr>
        <p:txBody>
          <a:bodyPr wrap="square" lIns="0" tIns="0" rIns="0" bIns="0" rtlCol="0" anchor="t"/>
          <a:lstStyle/>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Backend-connected contact form</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CMS / content management</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Further accessibility refinements</a:t>
            </a:r>
            <a:endParaRPr lang="en-US" sz="1050" dirty="0"/>
          </a:p>
        </p:txBody>
      </p:sp>
      <p:sp>
        <p:nvSpPr>
          <p:cNvPr id="9" name="Shape 6"/>
          <p:cNvSpPr/>
          <p:nvPr/>
        </p:nvSpPr>
        <p:spPr>
          <a:xfrm>
            <a:off x="2785720" y="1508760"/>
            <a:ext cx="2084832" cy="32461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0" name="Shape 7"/>
          <p:cNvSpPr/>
          <p:nvPr/>
        </p:nvSpPr>
        <p:spPr>
          <a:xfrm>
            <a:off x="3544672" y="1755648"/>
            <a:ext cx="566928" cy="566928"/>
          </a:xfrm>
          <a:prstGeom prst="ellipse">
            <a:avLst/>
          </a:prstGeom>
          <a:solidFill>
            <a:srgbClr val="EAF0FB"/>
          </a:solidFill>
          <a:ln/>
        </p:spPr>
      </p:sp>
      <p:pic>
        <p:nvPicPr>
          <p:cNvPr id="11" name="Image 1" descr="/home/claude/pptx_build/icons/timer.png"/>
          <p:cNvPicPr>
            <a:picLocks noChangeAspect="1"/>
          </p:cNvPicPr>
          <p:nvPr/>
        </p:nvPicPr>
        <p:blipFill>
          <a:blip r:embed="rId4"/>
          <a:stretch>
            <a:fillRect/>
          </a:stretch>
        </p:blipFill>
        <p:spPr>
          <a:xfrm>
            <a:off x="3669396" y="1880372"/>
            <a:ext cx="317480" cy="317480"/>
          </a:xfrm>
          <a:prstGeom prst="rect">
            <a:avLst/>
          </a:prstGeom>
        </p:spPr>
      </p:pic>
      <p:sp>
        <p:nvSpPr>
          <p:cNvPr id="12" name="Text 8"/>
          <p:cNvSpPr txBox="1"/>
          <p:nvPr/>
        </p:nvSpPr>
        <p:spPr>
          <a:xfrm>
            <a:off x="2877160" y="2468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Stopwatch</a:t>
            </a:r>
            <a:endParaRPr lang="en-US" sz="1300" dirty="0"/>
          </a:p>
        </p:txBody>
      </p:sp>
      <p:sp>
        <p:nvSpPr>
          <p:cNvPr id="13" name="Text 9"/>
          <p:cNvSpPr txBox="1"/>
          <p:nvPr/>
        </p:nvSpPr>
        <p:spPr>
          <a:xfrm>
            <a:off x="2950312" y="2926080"/>
            <a:ext cx="1755648" cy="1691640"/>
          </a:xfrm>
          <a:prstGeom prst="rect">
            <a:avLst/>
          </a:prstGeom>
          <a:noFill/>
          <a:ln/>
        </p:spPr>
        <p:txBody>
          <a:bodyPr wrap="square" lIns="0" tIns="0" rIns="0" bIns="0" rtlCol="0" anchor="t"/>
          <a:lstStyle/>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Persistent session storage</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Exportable lap records</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Additional timing modes</a:t>
            </a:r>
            <a:endParaRPr lang="en-US" sz="1050" dirty="0"/>
          </a:p>
        </p:txBody>
      </p:sp>
      <p:sp>
        <p:nvSpPr>
          <p:cNvPr id="14" name="Shape 10"/>
          <p:cNvSpPr/>
          <p:nvPr/>
        </p:nvSpPr>
        <p:spPr>
          <a:xfrm>
            <a:off x="5053432" y="1508760"/>
            <a:ext cx="2084832" cy="32461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15" name="Shape 11"/>
          <p:cNvSpPr/>
          <p:nvPr/>
        </p:nvSpPr>
        <p:spPr>
          <a:xfrm>
            <a:off x="5812384" y="1755648"/>
            <a:ext cx="566928" cy="566928"/>
          </a:xfrm>
          <a:prstGeom prst="ellipse">
            <a:avLst/>
          </a:prstGeom>
          <a:solidFill>
            <a:srgbClr val="EAF0FB"/>
          </a:solidFill>
          <a:ln/>
        </p:spPr>
      </p:sp>
      <p:pic>
        <p:nvPicPr>
          <p:cNvPr id="16" name="Image 2" descr="/home/claude/pptx_build/icons/game.png"/>
          <p:cNvPicPr>
            <a:picLocks noChangeAspect="1"/>
          </p:cNvPicPr>
          <p:nvPr/>
        </p:nvPicPr>
        <p:blipFill>
          <a:blip r:embed="rId5"/>
          <a:stretch>
            <a:fillRect/>
          </a:stretch>
        </p:blipFill>
        <p:spPr>
          <a:xfrm>
            <a:off x="5937108" y="1880372"/>
            <a:ext cx="317480" cy="317480"/>
          </a:xfrm>
          <a:prstGeom prst="rect">
            <a:avLst/>
          </a:prstGeom>
        </p:spPr>
      </p:pic>
      <p:sp>
        <p:nvSpPr>
          <p:cNvPr id="17" name="Text 12"/>
          <p:cNvSpPr txBox="1"/>
          <p:nvPr/>
        </p:nvSpPr>
        <p:spPr>
          <a:xfrm>
            <a:off x="5144872" y="2468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Tic-Tac-Toe</a:t>
            </a:r>
            <a:endParaRPr lang="en-US" sz="1300" dirty="0"/>
          </a:p>
        </p:txBody>
      </p:sp>
      <p:sp>
        <p:nvSpPr>
          <p:cNvPr id="18" name="Text 13"/>
          <p:cNvSpPr txBox="1"/>
          <p:nvPr/>
        </p:nvSpPr>
        <p:spPr>
          <a:xfrm>
            <a:off x="5218024" y="2926080"/>
            <a:ext cx="1755648" cy="1691640"/>
          </a:xfrm>
          <a:prstGeom prst="rect">
            <a:avLst/>
          </a:prstGeom>
          <a:noFill/>
          <a:ln/>
        </p:spPr>
        <p:txBody>
          <a:bodyPr wrap="square" lIns="0" tIns="0" rIns="0" bIns="0" rtlCol="0" anchor="t"/>
          <a:lstStyle/>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Additional game modes</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Difficulty options</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Online multiplayer</a:t>
            </a:r>
            <a:endParaRPr lang="en-US" sz="1050" dirty="0"/>
          </a:p>
        </p:txBody>
      </p:sp>
      <p:sp>
        <p:nvSpPr>
          <p:cNvPr id="19" name="Shape 14"/>
          <p:cNvSpPr/>
          <p:nvPr/>
        </p:nvSpPr>
        <p:spPr>
          <a:xfrm>
            <a:off x="7321144" y="1508760"/>
            <a:ext cx="2084832" cy="32461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0" name="Shape 15"/>
          <p:cNvSpPr/>
          <p:nvPr/>
        </p:nvSpPr>
        <p:spPr>
          <a:xfrm>
            <a:off x="8080096" y="1755648"/>
            <a:ext cx="566928" cy="566928"/>
          </a:xfrm>
          <a:prstGeom prst="ellipse">
            <a:avLst/>
          </a:prstGeom>
          <a:solidFill>
            <a:srgbClr val="EAF0FB"/>
          </a:solidFill>
          <a:ln/>
        </p:spPr>
      </p:sp>
      <p:pic>
        <p:nvPicPr>
          <p:cNvPr id="21" name="Image 3" descr="/home/claude/pptx_build/icons/portfolio.png"/>
          <p:cNvPicPr>
            <a:picLocks noChangeAspect="1"/>
          </p:cNvPicPr>
          <p:nvPr/>
        </p:nvPicPr>
        <p:blipFill>
          <a:blip r:embed="rId6"/>
          <a:stretch>
            <a:fillRect/>
          </a:stretch>
        </p:blipFill>
        <p:spPr>
          <a:xfrm>
            <a:off x="8204820" y="1880372"/>
            <a:ext cx="317480" cy="317480"/>
          </a:xfrm>
          <a:prstGeom prst="rect">
            <a:avLst/>
          </a:prstGeom>
        </p:spPr>
      </p:pic>
      <p:sp>
        <p:nvSpPr>
          <p:cNvPr id="22" name="Text 16"/>
          <p:cNvSpPr txBox="1"/>
          <p:nvPr/>
        </p:nvSpPr>
        <p:spPr>
          <a:xfrm>
            <a:off x="7412584" y="2468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Portfolio</a:t>
            </a:r>
            <a:endParaRPr lang="en-US" sz="1300" dirty="0"/>
          </a:p>
        </p:txBody>
      </p:sp>
      <p:sp>
        <p:nvSpPr>
          <p:cNvPr id="23" name="Text 17"/>
          <p:cNvSpPr txBox="1"/>
          <p:nvPr/>
        </p:nvSpPr>
        <p:spPr>
          <a:xfrm>
            <a:off x="7485736" y="2926080"/>
            <a:ext cx="1755648" cy="1691640"/>
          </a:xfrm>
          <a:prstGeom prst="rect">
            <a:avLst/>
          </a:prstGeom>
          <a:noFill/>
          <a:ln/>
        </p:spPr>
        <p:txBody>
          <a:bodyPr wrap="square" lIns="0" tIns="0" rIns="0" bIns="0" rtlCol="0" anchor="t"/>
          <a:lstStyle/>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Backend-powered contact form</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Content management</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Additional integrations</a:t>
            </a:r>
            <a:endParaRPr lang="en-US" sz="1050" dirty="0"/>
          </a:p>
        </p:txBody>
      </p:sp>
      <p:sp>
        <p:nvSpPr>
          <p:cNvPr id="24" name="Shape 18"/>
          <p:cNvSpPr/>
          <p:nvPr/>
        </p:nvSpPr>
        <p:spPr>
          <a:xfrm>
            <a:off x="9588856" y="1508760"/>
            <a:ext cx="2084832" cy="3246120"/>
          </a:xfrm>
          <a:prstGeom prst="roundRect">
            <a:avLst>
              <a:gd name="adj" fmla="val 3947"/>
            </a:avLst>
          </a:prstGeom>
          <a:solidFill>
            <a:srgbClr val="FFFFFF"/>
          </a:solidFill>
          <a:ln w="12700">
            <a:solidFill>
              <a:srgbClr val="DCE3EE"/>
            </a:solidFill>
            <a:prstDash val="solid"/>
          </a:ln>
          <a:effectLst>
            <a:outerShdw blurRad="101600" dist="25400" dir="5400000" algn="bl" rotWithShape="0">
              <a:srgbClr val="9AA5B5">
                <a:alpha val="28000"/>
              </a:srgbClr>
            </a:outerShdw>
          </a:effectLst>
        </p:spPr>
      </p:sp>
      <p:sp>
        <p:nvSpPr>
          <p:cNvPr id="25" name="Shape 19"/>
          <p:cNvSpPr/>
          <p:nvPr/>
        </p:nvSpPr>
        <p:spPr>
          <a:xfrm>
            <a:off x="10347808" y="1755648"/>
            <a:ext cx="566928" cy="566928"/>
          </a:xfrm>
          <a:prstGeom prst="ellipse">
            <a:avLst/>
          </a:prstGeom>
          <a:solidFill>
            <a:srgbClr val="EAF0FB"/>
          </a:solidFill>
          <a:ln/>
        </p:spPr>
      </p:sp>
      <p:pic>
        <p:nvPicPr>
          <p:cNvPr id="26" name="Image 4" descr="/home/claude/pptx_build/icons/weather.png"/>
          <p:cNvPicPr>
            <a:picLocks noChangeAspect="1"/>
          </p:cNvPicPr>
          <p:nvPr/>
        </p:nvPicPr>
        <p:blipFill>
          <a:blip r:embed="rId7"/>
          <a:stretch>
            <a:fillRect/>
          </a:stretch>
        </p:blipFill>
        <p:spPr>
          <a:xfrm>
            <a:off x="10472532" y="1880372"/>
            <a:ext cx="317480" cy="317480"/>
          </a:xfrm>
          <a:prstGeom prst="rect">
            <a:avLst/>
          </a:prstGeom>
        </p:spPr>
      </p:pic>
      <p:sp>
        <p:nvSpPr>
          <p:cNvPr id="27" name="Text 20"/>
          <p:cNvSpPr txBox="1"/>
          <p:nvPr/>
        </p:nvSpPr>
        <p:spPr>
          <a:xfrm>
            <a:off x="9680296" y="2468880"/>
            <a:ext cx="1901952" cy="320040"/>
          </a:xfrm>
          <a:prstGeom prst="rect">
            <a:avLst/>
          </a:prstGeom>
          <a:noFill/>
          <a:ln/>
        </p:spPr>
        <p:txBody>
          <a:bodyPr wrap="square" lIns="0" tIns="0" rIns="0" bIns="0" rtlCol="0" anchor="ctr"/>
          <a:lstStyle/>
          <a:p>
            <a:pPr marL="0" indent="0" algn="ctr">
              <a:buNone/>
            </a:pPr>
            <a:r>
              <a:rPr lang="en-US" sz="1300" b="1" dirty="0">
                <a:solidFill>
                  <a:srgbClr val="1F3A5F"/>
                </a:solidFill>
                <a:latin typeface="Cambria" pitchFamily="34" charset="0"/>
                <a:ea typeface="Cambria" pitchFamily="34" charset="-122"/>
                <a:cs typeface="Cambria" pitchFamily="34" charset="-120"/>
              </a:rPr>
              <a:t>Weather App</a:t>
            </a:r>
            <a:endParaRPr lang="en-US" sz="1300" dirty="0"/>
          </a:p>
        </p:txBody>
      </p:sp>
      <p:sp>
        <p:nvSpPr>
          <p:cNvPr id="28" name="Text 21"/>
          <p:cNvSpPr txBox="1"/>
          <p:nvPr/>
        </p:nvSpPr>
        <p:spPr>
          <a:xfrm>
            <a:off x="9753448" y="2926080"/>
            <a:ext cx="1755648" cy="1691640"/>
          </a:xfrm>
          <a:prstGeom prst="rect">
            <a:avLst/>
          </a:prstGeom>
          <a:noFill/>
          <a:ln/>
        </p:spPr>
        <p:txBody>
          <a:bodyPr wrap="square" lIns="0" tIns="0" rIns="0" bIns="0" rtlCol="0" anchor="t"/>
          <a:lstStyle/>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Extended forecasts</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Weather history</a:t>
            </a:r>
            <a:endParaRPr lang="en-US" sz="1050" dirty="0"/>
          </a:p>
          <a:p>
            <a:pPr marL="0" indent="0">
              <a:lnSpc>
                <a:spcPct val="120000"/>
              </a:lnSpc>
              <a:buNone/>
            </a:pPr>
            <a:endParaRPr lang="en-US" sz="1050" dirty="0"/>
          </a:p>
          <a:p>
            <a:pPr marL="0" indent="0">
              <a:lnSpc>
                <a:spcPct val="120000"/>
              </a:lnSpc>
              <a:buNone/>
            </a:pPr>
            <a:r>
              <a:rPr lang="en-US" sz="1050" dirty="0">
                <a:solidFill>
                  <a:srgbClr val="222B3A"/>
                </a:solidFill>
                <a:latin typeface="Calibri" pitchFamily="34" charset="0"/>
                <a:ea typeface="Calibri" pitchFamily="34" charset="-122"/>
                <a:cs typeface="Calibri" pitchFamily="34" charset="-120"/>
              </a:rPr>
              <a:t>•  More location/search options</a:t>
            </a:r>
            <a:endParaRPr lang="en-US" sz="1050" dirty="0"/>
          </a:p>
        </p:txBody>
      </p:sp>
      <p:sp>
        <p:nvSpPr>
          <p:cNvPr id="29" name="Text 22"/>
          <p:cNvSpPr txBox="1"/>
          <p:nvPr/>
        </p:nvSpPr>
        <p:spPr>
          <a:xfrm>
            <a:off x="548640" y="5074920"/>
            <a:ext cx="11064240" cy="320040"/>
          </a:xfrm>
          <a:prstGeom prst="rect">
            <a:avLst/>
          </a:prstGeom>
          <a:noFill/>
          <a:ln/>
        </p:spPr>
        <p:txBody>
          <a:bodyPr wrap="square" lIns="0" tIns="0" rIns="0" bIns="0" rtlCol="0" anchor="ctr"/>
          <a:lstStyle/>
          <a:p>
            <a:pPr marL="0" indent="0" algn="ctr">
              <a:buNone/>
            </a:pPr>
            <a:r>
              <a:rPr lang="en-US" sz="1200" b="1" i="1" dirty="0">
                <a:solidFill>
                  <a:srgbClr val="8B1E3F"/>
                </a:solidFill>
                <a:latin typeface="Calibri" pitchFamily="34" charset="0"/>
                <a:ea typeface="Calibri" pitchFamily="34" charset="-122"/>
                <a:cs typeface="Calibri" pitchFamily="34" charset="-120"/>
              </a:rPr>
              <a:t>These are FUTURE POSSIBILITIES only — none of these enhancements have been implemented.</a:t>
            </a:r>
            <a:endParaRPr lang="en-US" sz="1200" dirty="0"/>
          </a:p>
        </p:txBody>
      </p:sp>
      <p:sp>
        <p:nvSpPr>
          <p:cNvPr id="30" name="Text 23"/>
          <p:cNvSpPr txBox="1"/>
          <p:nvPr/>
        </p:nvSpPr>
        <p:spPr>
          <a:xfrm>
            <a:off x="548640" y="5440680"/>
            <a:ext cx="11064240" cy="320040"/>
          </a:xfrm>
          <a:prstGeom prst="rect">
            <a:avLst/>
          </a:prstGeom>
          <a:noFill/>
          <a:ln/>
        </p:spPr>
        <p:txBody>
          <a:bodyPr wrap="square" lIns="0" tIns="0" rIns="0" bIns="0" rtlCol="0" anchor="ctr"/>
          <a:lstStyle/>
          <a:p>
            <a:pPr marL="0" indent="0" algn="ctr">
              <a:buNone/>
            </a:pPr>
            <a:r>
              <a:rPr lang="en-US" sz="1100" i="1" dirty="0">
                <a:solidFill>
                  <a:srgbClr val="667085"/>
                </a:solidFill>
                <a:latin typeface="Calibri" pitchFamily="34" charset="0"/>
                <a:ea typeface="Calibri" pitchFamily="34" charset="-122"/>
                <a:cs typeface="Calibri" pitchFamily="34" charset="-120"/>
              </a:rPr>
              <a:t>Every application remains a fully functional, self-contained client-side project as delivered during the internship.</a:t>
            </a:r>
            <a:endParaRPr lang="en-US" sz="1100" dirty="0"/>
          </a:p>
        </p:txBody>
      </p:sp>
      <p:sp>
        <p:nvSpPr>
          <p:cNvPr id="31" name="Text 24"/>
          <p:cNvSpPr txBox="1"/>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WEB DEVELOPMENT INTERNSHIP  |  PRODIGY INFOTECH</a:t>
            </a:r>
            <a:endParaRPr lang="en-US" sz="900" dirty="0"/>
          </a:p>
        </p:txBody>
      </p:sp>
      <p:sp>
        <p:nvSpPr>
          <p:cNvPr id="32" name="Text 25"/>
          <p:cNvSpPr txBox="1"/>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A45"/>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F3A5F">
              <a:alpha val="60000"/>
            </a:srgbClr>
          </a:solidFill>
          <a:ln/>
        </p:spPr>
      </p:sp>
      <p:sp>
        <p:nvSpPr>
          <p:cNvPr id="3" name="Shape 1"/>
          <p:cNvSpPr/>
          <p:nvPr/>
        </p:nvSpPr>
        <p:spPr>
          <a:xfrm>
            <a:off x="-2286000" y="4389120"/>
            <a:ext cx="4572000" cy="4572000"/>
          </a:xfrm>
          <a:prstGeom prst="ellipse">
            <a:avLst/>
          </a:prstGeom>
          <a:solidFill>
            <a:srgbClr val="8B1E3F">
              <a:alpha val="22000"/>
            </a:srgbClr>
          </a:solidFill>
          <a:ln/>
        </p:spPr>
      </p:sp>
      <p:sp>
        <p:nvSpPr>
          <p:cNvPr id="4" name="Text 2"/>
          <p:cNvSpPr txBox="1"/>
          <p:nvPr/>
        </p:nvSpPr>
        <p:spPr>
          <a:xfrm>
            <a:off x="0" y="502920"/>
            <a:ext cx="12191695" cy="320040"/>
          </a:xfrm>
          <a:prstGeom prst="rect">
            <a:avLst/>
          </a:prstGeom>
          <a:noFill/>
          <a:ln/>
        </p:spPr>
        <p:txBody>
          <a:bodyPr wrap="square" lIns="0" tIns="0" rIns="0" bIns="0" rtlCol="0" anchor="ctr"/>
          <a:lstStyle/>
          <a:p>
            <a:pPr marL="0" indent="0" algn="ctr">
              <a:buNone/>
            </a:pPr>
            <a:r>
              <a:rPr lang="en-US" sz="1400" b="1" kern="0" spc="300" dirty="0">
                <a:solidFill>
                  <a:srgbClr val="C9D3E3"/>
                </a:solidFill>
                <a:latin typeface="Calibri" pitchFamily="34" charset="0"/>
                <a:ea typeface="Calibri" pitchFamily="34" charset="-122"/>
                <a:cs typeface="Calibri" pitchFamily="34" charset="-120"/>
              </a:rPr>
              <a:t>CONCLUSION</a:t>
            </a:r>
            <a:endParaRPr lang="en-US" sz="1400" dirty="0"/>
          </a:p>
        </p:txBody>
      </p:sp>
      <p:sp>
        <p:nvSpPr>
          <p:cNvPr id="5" name="Shape 3"/>
          <p:cNvSpPr/>
          <p:nvPr/>
        </p:nvSpPr>
        <p:spPr>
          <a:xfrm>
            <a:off x="1981048" y="1143000"/>
            <a:ext cx="100584" cy="100584"/>
          </a:xfrm>
          <a:prstGeom prst="ellipse">
            <a:avLst/>
          </a:prstGeom>
          <a:solidFill>
            <a:srgbClr val="8B1E3F"/>
          </a:solidFill>
          <a:ln/>
        </p:spPr>
      </p:sp>
      <p:sp>
        <p:nvSpPr>
          <p:cNvPr id="6" name="Text 4"/>
          <p:cNvSpPr txBox="1"/>
          <p:nvPr/>
        </p:nvSpPr>
        <p:spPr>
          <a:xfrm>
            <a:off x="2255368" y="9966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Successfully completed the Web Development Internship at Prodigy Infotech</a:t>
            </a:r>
            <a:endParaRPr lang="en-US" sz="1400" dirty="0"/>
          </a:p>
        </p:txBody>
      </p:sp>
      <p:sp>
        <p:nvSpPr>
          <p:cNvPr id="7" name="Shape 5"/>
          <p:cNvSpPr/>
          <p:nvPr/>
        </p:nvSpPr>
        <p:spPr>
          <a:xfrm>
            <a:off x="1981048" y="1600200"/>
            <a:ext cx="100584" cy="100584"/>
          </a:xfrm>
          <a:prstGeom prst="ellipse">
            <a:avLst/>
          </a:prstGeom>
          <a:solidFill>
            <a:srgbClr val="8B1E3F"/>
          </a:solidFill>
          <a:ln/>
        </p:spPr>
      </p:sp>
      <p:sp>
        <p:nvSpPr>
          <p:cNvPr id="8" name="Text 6"/>
          <p:cNvSpPr txBox="1"/>
          <p:nvPr/>
        </p:nvSpPr>
        <p:spPr>
          <a:xfrm>
            <a:off x="2255368" y="14538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Developed five practical web applications</a:t>
            </a:r>
            <a:endParaRPr lang="en-US" sz="1400" dirty="0"/>
          </a:p>
        </p:txBody>
      </p:sp>
      <p:sp>
        <p:nvSpPr>
          <p:cNvPr id="9" name="Shape 7"/>
          <p:cNvSpPr/>
          <p:nvPr/>
        </p:nvSpPr>
        <p:spPr>
          <a:xfrm>
            <a:off x="1981048" y="2057400"/>
            <a:ext cx="100584" cy="100584"/>
          </a:xfrm>
          <a:prstGeom prst="ellipse">
            <a:avLst/>
          </a:prstGeom>
          <a:solidFill>
            <a:srgbClr val="8B1E3F"/>
          </a:solidFill>
          <a:ln/>
        </p:spPr>
      </p:sp>
      <p:sp>
        <p:nvSpPr>
          <p:cNvPr id="10" name="Text 8"/>
          <p:cNvSpPr txBox="1"/>
          <p:nvPr/>
        </p:nvSpPr>
        <p:spPr>
          <a:xfrm>
            <a:off x="2255368" y="19110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Applied HTML5, CSS3 and Vanilla JavaScript</a:t>
            </a:r>
            <a:endParaRPr lang="en-US" sz="1400" dirty="0"/>
          </a:p>
        </p:txBody>
      </p:sp>
      <p:sp>
        <p:nvSpPr>
          <p:cNvPr id="11" name="Shape 9"/>
          <p:cNvSpPr/>
          <p:nvPr/>
        </p:nvSpPr>
        <p:spPr>
          <a:xfrm>
            <a:off x="1981048" y="2514600"/>
            <a:ext cx="100584" cy="100584"/>
          </a:xfrm>
          <a:prstGeom prst="ellipse">
            <a:avLst/>
          </a:prstGeom>
          <a:solidFill>
            <a:srgbClr val="8B1E3F"/>
          </a:solidFill>
          <a:ln/>
        </p:spPr>
      </p:sp>
      <p:sp>
        <p:nvSpPr>
          <p:cNvPr id="12" name="Text 10"/>
          <p:cNvSpPr txBox="1"/>
          <p:nvPr/>
        </p:nvSpPr>
        <p:spPr>
          <a:xfrm>
            <a:off x="2255368" y="23682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Worked with browser APIs and external APIs</a:t>
            </a:r>
            <a:endParaRPr lang="en-US" sz="1400" dirty="0"/>
          </a:p>
        </p:txBody>
      </p:sp>
      <p:sp>
        <p:nvSpPr>
          <p:cNvPr id="13" name="Shape 11"/>
          <p:cNvSpPr/>
          <p:nvPr/>
        </p:nvSpPr>
        <p:spPr>
          <a:xfrm>
            <a:off x="1981048" y="2971800"/>
            <a:ext cx="100584" cy="100584"/>
          </a:xfrm>
          <a:prstGeom prst="ellipse">
            <a:avLst/>
          </a:prstGeom>
          <a:solidFill>
            <a:srgbClr val="8B1E3F"/>
          </a:solidFill>
          <a:ln/>
        </p:spPr>
      </p:sp>
      <p:sp>
        <p:nvSpPr>
          <p:cNvPr id="14" name="Text 12"/>
          <p:cNvSpPr txBox="1"/>
          <p:nvPr/>
        </p:nvSpPr>
        <p:spPr>
          <a:xfrm>
            <a:off x="2255368" y="28254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Practiced responsive design and accessibility</a:t>
            </a:r>
            <a:endParaRPr lang="en-US" sz="1400" dirty="0"/>
          </a:p>
        </p:txBody>
      </p:sp>
      <p:sp>
        <p:nvSpPr>
          <p:cNvPr id="15" name="Shape 13"/>
          <p:cNvSpPr/>
          <p:nvPr/>
        </p:nvSpPr>
        <p:spPr>
          <a:xfrm>
            <a:off x="1981048" y="3429000"/>
            <a:ext cx="100584" cy="100584"/>
          </a:xfrm>
          <a:prstGeom prst="ellipse">
            <a:avLst/>
          </a:prstGeom>
          <a:solidFill>
            <a:srgbClr val="8B1E3F"/>
          </a:solidFill>
          <a:ln/>
        </p:spPr>
      </p:sp>
      <p:sp>
        <p:nvSpPr>
          <p:cNvPr id="16" name="Text 14"/>
          <p:cNvSpPr txBox="1"/>
          <p:nvPr/>
        </p:nvSpPr>
        <p:spPr>
          <a:xfrm>
            <a:off x="2255368" y="32826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Improved debugging, testing and Git/GitHub workflow</a:t>
            </a:r>
            <a:endParaRPr lang="en-US" sz="1400" dirty="0"/>
          </a:p>
        </p:txBody>
      </p:sp>
      <p:sp>
        <p:nvSpPr>
          <p:cNvPr id="17" name="Shape 15"/>
          <p:cNvSpPr/>
          <p:nvPr/>
        </p:nvSpPr>
        <p:spPr>
          <a:xfrm>
            <a:off x="1981048" y="3886200"/>
            <a:ext cx="100584" cy="100584"/>
          </a:xfrm>
          <a:prstGeom prst="ellipse">
            <a:avLst/>
          </a:prstGeom>
          <a:solidFill>
            <a:srgbClr val="8B1E3F"/>
          </a:solidFill>
          <a:ln/>
        </p:spPr>
      </p:sp>
      <p:sp>
        <p:nvSpPr>
          <p:cNvPr id="18" name="Text 16"/>
          <p:cNvSpPr txBox="1"/>
          <p:nvPr/>
        </p:nvSpPr>
        <p:spPr>
          <a:xfrm>
            <a:off x="2255368" y="3739896"/>
            <a:ext cx="7955280" cy="384048"/>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Gained practical frontend development experience</a:t>
            </a:r>
            <a:endParaRPr lang="en-US" sz="1400" dirty="0"/>
          </a:p>
        </p:txBody>
      </p:sp>
      <p:sp>
        <p:nvSpPr>
          <p:cNvPr id="19" name="Shape 17"/>
          <p:cNvSpPr/>
          <p:nvPr/>
        </p:nvSpPr>
        <p:spPr>
          <a:xfrm>
            <a:off x="4724248" y="4389120"/>
            <a:ext cx="2743200" cy="0"/>
          </a:xfrm>
          <a:prstGeom prst="line">
            <a:avLst/>
          </a:prstGeom>
          <a:noFill/>
          <a:ln w="19050">
            <a:solidFill>
              <a:srgbClr val="3C4E6B"/>
            </a:solidFill>
            <a:prstDash val="solid"/>
          </a:ln>
        </p:spPr>
      </p:sp>
      <p:sp>
        <p:nvSpPr>
          <p:cNvPr id="20" name="Text 18"/>
          <p:cNvSpPr txBox="1"/>
          <p:nvPr/>
        </p:nvSpPr>
        <p:spPr>
          <a:xfrm>
            <a:off x="0" y="4617720"/>
            <a:ext cx="12191695" cy="68580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21" name="Text 19"/>
          <p:cNvSpPr txBox="1"/>
          <p:nvPr/>
        </p:nvSpPr>
        <p:spPr>
          <a:xfrm>
            <a:off x="0" y="5303520"/>
            <a:ext cx="12191695" cy="411480"/>
          </a:xfrm>
          <a:prstGeom prst="rect">
            <a:avLst/>
          </a:prstGeom>
          <a:noFill/>
          <a:ln/>
        </p:spPr>
        <p:txBody>
          <a:bodyPr wrap="square" lIns="0" tIns="0" rIns="0" bIns="0" rtlCol="0" anchor="ctr"/>
          <a:lstStyle/>
          <a:p>
            <a:pPr marL="0" indent="0" algn="ctr">
              <a:buNone/>
            </a:pPr>
            <a:r>
              <a:rPr lang="en-US" sz="1600" b="1" kern="0" spc="400" dirty="0">
                <a:solidFill>
                  <a:srgbClr val="C9D3E3"/>
                </a:solidFill>
                <a:latin typeface="Calibri" pitchFamily="34" charset="0"/>
                <a:ea typeface="Calibri" pitchFamily="34" charset="-122"/>
                <a:cs typeface="Calibri" pitchFamily="34" charset="-120"/>
              </a:rPr>
              <a:t>Q &amp; A</a:t>
            </a:r>
            <a:endParaRPr lang="en-US" sz="1600" dirty="0"/>
          </a:p>
        </p:txBody>
      </p:sp>
      <p:sp>
        <p:nvSpPr>
          <p:cNvPr id="22" name="Text 20"/>
          <p:cNvSpPr txBox="1"/>
          <p:nvPr/>
        </p:nvSpPr>
        <p:spPr>
          <a:xfrm>
            <a:off x="0" y="6400800"/>
            <a:ext cx="12191695" cy="274320"/>
          </a:xfrm>
          <a:prstGeom prst="rect">
            <a:avLst/>
          </a:prstGeom>
          <a:noFill/>
          <a:ln/>
        </p:spPr>
        <p:txBody>
          <a:bodyPr wrap="square" lIns="0" tIns="0" rIns="0" bIns="0" rtlCol="0" anchor="ctr"/>
          <a:lstStyle/>
          <a:p>
            <a:pPr marL="0" indent="0" algn="ctr">
              <a:buNone/>
            </a:pPr>
            <a:r>
              <a:rPr lang="en-US" sz="1050" dirty="0">
                <a:solidFill>
                  <a:srgbClr val="8494B0"/>
                </a:solidFill>
                <a:latin typeface="Calibri" pitchFamily="34" charset="0"/>
                <a:ea typeface="Calibri" pitchFamily="34" charset="-122"/>
                <a:cs typeface="Calibri" pitchFamily="34" charset="-120"/>
              </a:rPr>
              <a:t>Roshani Singh  •  2410030802  •  B.Tech CSE  •  IILM University, Greater Noida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1509</Words>
  <Application>Microsoft Office PowerPoint</Application>
  <PresentationFormat>Widescreen</PresentationFormat>
  <Paragraphs>358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Internship Presentation</dc:title>
  <dc:subject>PptxGenJS Presentation</dc:subject>
  <dc:creator>Roshani Singh</dc:creator>
  <cp:lastModifiedBy>Microsoft account</cp:lastModifiedBy>
  <cp:revision>2</cp:revision>
  <dcterms:created xsi:type="dcterms:W3CDTF">2026-09-07T19:19:41Z</dcterms:created>
  <dcterms:modified xsi:type="dcterms:W3CDTF">2026-09-07T19:29:34Z</dcterms:modified>
</cp:coreProperties>
</file>